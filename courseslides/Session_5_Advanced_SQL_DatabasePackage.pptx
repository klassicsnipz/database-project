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77" r:id="rId3"/>
    <p:sldId id="284" r:id="rId4"/>
    <p:sldId id="261" r:id="rId5"/>
    <p:sldId id="285" r:id="rId6"/>
    <p:sldId id="262" r:id="rId7"/>
    <p:sldId id="268" r:id="rId8"/>
    <p:sldId id="286" r:id="rId9"/>
    <p:sldId id="287" r:id="rId10"/>
    <p:sldId id="270" r:id="rId11"/>
    <p:sldId id="271" r:id="rId12"/>
    <p:sldId id="288" r:id="rId13"/>
    <p:sldId id="267" r:id="rId14"/>
    <p:sldId id="291" r:id="rId15"/>
    <p:sldId id="289" r:id="rId16"/>
    <p:sldId id="290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F245C4-1C2E-43C3-B119-EB7475241A41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2C401B-DF0A-4F59-852E-F26A39C446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970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2C401B-DF0A-4F59-852E-F26A39C4469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715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99" y="687479"/>
            <a:ext cx="5605629" cy="1540464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4000" b="1" dirty="0"/>
              <a:t>Session 5</a:t>
            </a:r>
            <a:r>
              <a:rPr lang="en-US" sz="4000" dirty="0"/>
              <a:t>: </a:t>
            </a:r>
            <a:br>
              <a:rPr lang="en-US" sz="3000" dirty="0"/>
            </a:br>
            <a:br>
              <a:rPr lang="en-US" sz="3000" dirty="0"/>
            </a:br>
            <a:r>
              <a:rPr lang="en-US" sz="3200" b="1" dirty="0"/>
              <a:t>Advanced Database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321" y="2227943"/>
            <a:ext cx="5033221" cy="378822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3000" b="1" dirty="0"/>
              <a:t>Agenda:</a:t>
            </a:r>
            <a:endParaRPr lang="en-US" sz="2100" b="1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Database Packages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Package Specification and Body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Advantages of Packages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Exception Handling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Types of Exceptions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Best Practices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Real-World Examples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rgbClr val="4E77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455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31" name="Picture 30" descr="Illuminated server room panel">
            <a:extLst>
              <a:ext uri="{FF2B5EF4-FFF2-40B4-BE49-F238E27FC236}">
                <a16:creationId xmlns:a16="http://schemas.microsoft.com/office/drawing/2014/main" id="{3F92AD72-A7DA-8806-A6FD-FDA71501ED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384" r="31115" b="-1"/>
          <a:stretch>
            <a:fillRect/>
          </a:stretch>
        </p:blipFill>
        <p:spPr>
          <a:xfrm>
            <a:off x="6815536" y="2865141"/>
            <a:ext cx="762312" cy="11434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3AF5B-EB68-35B9-2531-2664085C3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r>
              <a:rPr lang="en-US" sz="4000" b="1" dirty="0"/>
              <a:t>Recap – Session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68720-ECF1-05C4-6781-FBDB72289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2321" y="2227943"/>
            <a:ext cx="5033221" cy="2648857"/>
          </a:xfrm>
        </p:spPr>
        <p:txBody>
          <a:bodyPr anchor="ctr">
            <a:normAutofit/>
          </a:bodyPr>
          <a:lstStyle/>
          <a:p>
            <a:r>
              <a:rPr lang="en-US" sz="3000" b="1" dirty="0"/>
              <a:t>Merge Statement</a:t>
            </a:r>
          </a:p>
          <a:p>
            <a:r>
              <a:rPr lang="en-US" sz="3000" b="1" dirty="0"/>
              <a:t>Stored Procedure</a:t>
            </a:r>
          </a:p>
          <a:p>
            <a:r>
              <a:rPr lang="en-US" sz="3000" b="1" dirty="0"/>
              <a:t>Parameterized procedure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Table">
            <a:extLst>
              <a:ext uri="{FF2B5EF4-FFF2-40B4-BE49-F238E27FC236}">
                <a16:creationId xmlns:a16="http://schemas.microsoft.com/office/drawing/2014/main" id="{2531E74E-D404-32B3-6A7A-3A0545606A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604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73CADB-D842-015C-C3A7-F26342EAD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152" y="228600"/>
            <a:ext cx="7504545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447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50196"/>
            <a:ext cx="4566880" cy="162452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500" b="1" dirty="0"/>
              <a:t>Introduction to Database Packages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857" y="2324912"/>
            <a:ext cx="4463143" cy="4031438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2000" dirty="0"/>
              <a:t>A Package is a database object that groups related: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Procedures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Functions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Variables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Constants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Cursors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Exceptions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000" dirty="0"/>
              <a:t>into one logical unit.</a:t>
            </a:r>
          </a:p>
          <a:p>
            <a:pPr marL="0" indent="0">
              <a:lnSpc>
                <a:spcPct val="90000"/>
              </a:lnSpc>
              <a:buNone/>
            </a:pPr>
            <a:endParaRPr lang="en-US" sz="20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2000" dirty="0"/>
              <a:t>Think of a package as a </a:t>
            </a:r>
            <a:r>
              <a:rPr lang="en-US" sz="2000" b="1" dirty="0"/>
              <a:t>class in Object-Oriented Programming</a:t>
            </a:r>
            <a:r>
              <a:rPr lang="en-US" sz="2000" dirty="0"/>
              <a:t>.</a:t>
            </a:r>
          </a:p>
        </p:txBody>
      </p:sp>
      <p:pic>
        <p:nvPicPr>
          <p:cNvPr id="34" name="Picture 33" descr="Top view of cubes connected with black lines">
            <a:extLst>
              <a:ext uri="{FF2B5EF4-FFF2-40B4-BE49-F238E27FC236}">
                <a16:creationId xmlns:a16="http://schemas.microsoft.com/office/drawing/2014/main" id="{5830E4B0-61D5-BEA3-C704-BFBFB99FD1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933" r="20011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09BBC-A64D-8707-2953-3A178BEB1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4724F-BDA4-6003-3C30-213F5B9E8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0196"/>
            <a:ext cx="4566880" cy="162452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500" b="1" dirty="0"/>
              <a:t>Why we Required Packages: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D60A2-601B-F5F4-0E14-197FB7C2A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1763486"/>
            <a:ext cx="4321629" cy="4592864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2000" b="1" dirty="0"/>
              <a:t>Without Packages: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Too many standalone procedures.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Difficult maintenance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Code duplication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Security issues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000" b="1" dirty="0"/>
              <a:t>With Packages: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Better organization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Reusability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Better performance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Easier deployment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Encapsulation</a:t>
            </a:r>
          </a:p>
        </p:txBody>
      </p:sp>
      <p:pic>
        <p:nvPicPr>
          <p:cNvPr id="34" name="Picture 33" descr="Top view of cubes connected with black lines">
            <a:extLst>
              <a:ext uri="{FF2B5EF4-FFF2-40B4-BE49-F238E27FC236}">
                <a16:creationId xmlns:a16="http://schemas.microsoft.com/office/drawing/2014/main" id="{55EA9B08-535B-681B-FA2D-2A7AB6C6A3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933" r="20011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287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r>
              <a:rPr lang="en-US" sz="3850" b="1"/>
              <a:t>Components of a Package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321" y="1681653"/>
            <a:ext cx="5033221" cy="433451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100" dirty="0"/>
              <a:t>A package has </a:t>
            </a:r>
            <a:r>
              <a:rPr lang="en-US" sz="2100" b="1" dirty="0"/>
              <a:t>two parts</a:t>
            </a:r>
            <a:br>
              <a:rPr lang="en-US" sz="2100" b="1" dirty="0"/>
            </a:br>
            <a:br>
              <a:rPr lang="en-US" sz="2100" b="1" dirty="0"/>
            </a:br>
            <a:r>
              <a:rPr lang="en-US" sz="2100" b="1" dirty="0"/>
              <a:t>1.</a:t>
            </a:r>
            <a:r>
              <a:rPr lang="en-US" sz="2100" dirty="0"/>
              <a:t> </a:t>
            </a:r>
            <a:r>
              <a:rPr lang="en-US" sz="2100" b="1" dirty="0"/>
              <a:t>Package Specification</a:t>
            </a:r>
            <a:br>
              <a:rPr lang="en-US" sz="2100" dirty="0"/>
            </a:br>
            <a:r>
              <a:rPr lang="en-US" sz="2100" dirty="0"/>
              <a:t>	</a:t>
            </a:r>
            <a:r>
              <a:rPr lang="en-US" sz="2100" dirty="0">
                <a:sym typeface="Wingdings" panose="05000000000000000000" pitchFamily="2" charset="2"/>
              </a:rPr>
              <a:t></a:t>
            </a:r>
            <a:r>
              <a:rPr lang="en-US" sz="2100" dirty="0"/>
              <a:t>Interface of the package</a:t>
            </a:r>
            <a:br>
              <a:rPr lang="en-US" sz="2100" dirty="0"/>
            </a:br>
            <a:r>
              <a:rPr lang="en-US" sz="2100" dirty="0"/>
              <a:t>	</a:t>
            </a:r>
            <a:r>
              <a:rPr lang="en-US" sz="2100" dirty="0">
                <a:sym typeface="Wingdings" panose="05000000000000000000" pitchFamily="2" charset="2"/>
              </a:rPr>
              <a:t></a:t>
            </a:r>
            <a:r>
              <a:rPr lang="en-US" sz="2100" dirty="0"/>
              <a:t>Declares procedures and functions</a:t>
            </a:r>
            <a:br>
              <a:rPr lang="en-US" sz="2100" dirty="0"/>
            </a:br>
            <a:r>
              <a:rPr lang="en-US" sz="2100" b="1" dirty="0"/>
              <a:t>2. Package Body</a:t>
            </a:r>
            <a:br>
              <a:rPr lang="en-US" sz="2100" dirty="0"/>
            </a:br>
            <a:r>
              <a:rPr lang="en-US" sz="2100" dirty="0"/>
              <a:t>	</a:t>
            </a:r>
            <a:r>
              <a:rPr lang="en-US" sz="2100" dirty="0">
                <a:sym typeface="Wingdings" panose="05000000000000000000" pitchFamily="2" charset="2"/>
              </a:rPr>
              <a:t></a:t>
            </a:r>
            <a:r>
              <a:rPr lang="en-US" sz="2100" dirty="0"/>
              <a:t>Contains actual implementation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rgbClr val="4E61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08C5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21" name="Picture 20" descr="Blue scheduled pillbox">
            <a:extLst>
              <a:ext uri="{FF2B5EF4-FFF2-40B4-BE49-F238E27FC236}">
                <a16:creationId xmlns:a16="http://schemas.microsoft.com/office/drawing/2014/main" id="{8E4DAD8C-FEB1-B367-C299-879EEFD5C1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198" r="36924" b="-1"/>
          <a:stretch>
            <a:fillRect/>
          </a:stretch>
        </p:blipFill>
        <p:spPr>
          <a:xfrm>
            <a:off x="6863697" y="2865141"/>
            <a:ext cx="665989" cy="11434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A9DCC5F-FB82-CD91-23CC-763460D87007}"/>
              </a:ext>
            </a:extLst>
          </p:cNvPr>
          <p:cNvSpPr txBox="1"/>
          <p:nvPr/>
        </p:nvSpPr>
        <p:spPr>
          <a:xfrm>
            <a:off x="852321" y="500743"/>
            <a:ext cx="5033221" cy="55154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500" b="1" dirty="0"/>
              <a:t>Package Example: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sz="2500" b="1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b="1" dirty="0"/>
              <a:t>Package Specification:</a:t>
            </a:r>
            <a:br>
              <a:rPr lang="en-US" dirty="0"/>
            </a:br>
            <a:r>
              <a:rPr lang="en-US" dirty="0"/>
              <a:t>CREATE OR REPLACE PACKAGE </a:t>
            </a:r>
            <a:r>
              <a:rPr lang="en-US" dirty="0" err="1"/>
              <a:t>emp_package</a:t>
            </a:r>
            <a:r>
              <a:rPr lang="en-US" dirty="0"/>
              <a:t> AS</a:t>
            </a:r>
            <a:br>
              <a:rPr lang="en-US" dirty="0"/>
            </a:br>
            <a:r>
              <a:rPr lang="en-US" dirty="0"/>
              <a:t>      PROCEDURE </a:t>
            </a:r>
            <a:r>
              <a:rPr lang="en-US" dirty="0" err="1"/>
              <a:t>add_employee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      PROCEDURE </a:t>
            </a:r>
            <a:r>
              <a:rPr lang="en-US" dirty="0" err="1"/>
              <a:t>remove_employee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END </a:t>
            </a:r>
            <a:r>
              <a:rPr lang="en-US" dirty="0" err="1"/>
              <a:t>emp_package</a:t>
            </a:r>
            <a:r>
              <a:rPr lang="en-US" dirty="0"/>
              <a:t>;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b="1" dirty="0"/>
              <a:t>Package Body:</a:t>
            </a:r>
            <a:br>
              <a:rPr lang="en-US" dirty="0"/>
            </a:br>
            <a:r>
              <a:rPr lang="en-US" dirty="0"/>
              <a:t>CREATE OR REPLACE PACKAGE BODY </a:t>
            </a:r>
            <a:r>
              <a:rPr lang="en-US" dirty="0" err="1"/>
              <a:t>emp_package</a:t>
            </a:r>
            <a:r>
              <a:rPr lang="en-US" dirty="0"/>
              <a:t> AS</a:t>
            </a:r>
            <a:br>
              <a:rPr lang="en-US" dirty="0"/>
            </a:br>
            <a:r>
              <a:rPr lang="en-US" dirty="0"/>
              <a:t>PROCEDURE </a:t>
            </a:r>
            <a:r>
              <a:rPr lang="en-US" dirty="0" err="1"/>
              <a:t>add_employee</a:t>
            </a:r>
            <a:r>
              <a:rPr lang="en-US" dirty="0"/>
              <a:t> IS</a:t>
            </a:r>
            <a:br>
              <a:rPr lang="en-US" dirty="0"/>
            </a:br>
            <a:r>
              <a:rPr lang="en-US" dirty="0"/>
              <a:t>BEGIN</a:t>
            </a:r>
            <a:br>
              <a:rPr lang="en-US" dirty="0"/>
            </a:br>
            <a:r>
              <a:rPr lang="en-US" dirty="0"/>
              <a:t>NULL;</a:t>
            </a:r>
            <a:br>
              <a:rPr lang="en-US" dirty="0"/>
            </a:br>
            <a:r>
              <a:rPr lang="en-US" dirty="0"/>
              <a:t>END;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PROCEDURE </a:t>
            </a:r>
            <a:r>
              <a:rPr lang="en-US" dirty="0" err="1"/>
              <a:t>remove_employee</a:t>
            </a:r>
            <a:r>
              <a:rPr lang="en-US" dirty="0"/>
              <a:t> IS</a:t>
            </a:r>
            <a:br>
              <a:rPr lang="en-US" dirty="0"/>
            </a:br>
            <a:r>
              <a:rPr lang="en-US" dirty="0"/>
              <a:t>BEGIN</a:t>
            </a:r>
            <a:br>
              <a:rPr lang="en-US" dirty="0"/>
            </a:br>
            <a:r>
              <a:rPr lang="en-US" dirty="0"/>
              <a:t>NULL;</a:t>
            </a:r>
            <a:br>
              <a:rPr lang="en-US" dirty="0"/>
            </a:br>
            <a:r>
              <a:rPr lang="en-US" dirty="0"/>
              <a:t>END;</a:t>
            </a:r>
            <a:br>
              <a:rPr lang="en-US" dirty="0"/>
            </a:br>
            <a:r>
              <a:rPr lang="en-US" dirty="0"/>
              <a:t>END </a:t>
            </a:r>
            <a:r>
              <a:rPr lang="en-US" dirty="0" err="1"/>
              <a:t>emp_package</a:t>
            </a:r>
            <a:r>
              <a:rPr lang="en-US" dirty="0"/>
              <a:t>;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Database">
            <a:extLst>
              <a:ext uri="{FF2B5EF4-FFF2-40B4-BE49-F238E27FC236}">
                <a16:creationId xmlns:a16="http://schemas.microsoft.com/office/drawing/2014/main" id="{610B5D3A-3913-87B2-AB47-1691D9A575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370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8DDA986-B6EE-4642-AC60-0490373E6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B62878-12EF-4E97-A284-47BAFC30D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79188D-1ED5-4705-B8C7-5D6FB7670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635" y="685800"/>
            <a:ext cx="8100729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D28FF0-1AEC-174C-04E7-EA26DF05D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2040" y="1261137"/>
            <a:ext cx="6719920" cy="888360"/>
          </a:xfrm>
        </p:spPr>
        <p:txBody>
          <a:bodyPr anchor="b">
            <a:normAutofit/>
          </a:bodyPr>
          <a:lstStyle/>
          <a:p>
            <a:r>
              <a:rPr lang="en-US" sz="3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Advantages of 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E97F6-A278-A00E-1789-CC540413D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2040" y="2427383"/>
            <a:ext cx="6719919" cy="316948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</a:t>
            </a:r>
            <a:r>
              <a:rPr lang="en-US" sz="25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Advantage					Description</a:t>
            </a:r>
          </a:p>
          <a:p>
            <a:pPr marL="0" indent="0">
              <a:buNone/>
            </a:pPr>
            <a:br>
              <a:rPr lang="en-US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Modularity				Groups related logic</a:t>
            </a:r>
            <a:br>
              <a:rPr lang="en-US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Performance				Entire package loaded into memory</a:t>
            </a:r>
            <a:br>
              <a:rPr lang="en-US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Security					Grant execute on package</a:t>
            </a:r>
            <a:br>
              <a:rPr lang="en-US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Reusability				Shared procedures/functions</a:t>
            </a:r>
            <a:br>
              <a:rPr lang="en-US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Maintainability				Easy to manage code</a:t>
            </a:r>
          </a:p>
        </p:txBody>
      </p:sp>
    </p:spTree>
    <p:extLst>
      <p:ext uri="{BB962C8B-B14F-4D97-AF65-F5344CB8AC3E}">
        <p14:creationId xmlns:p14="http://schemas.microsoft.com/office/powerpoint/2010/main" val="2404394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2978B7-8009-8256-D3B0-D81C72E31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400" b="1" dirty="0"/>
              <a:t>What is Exception Handling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6F89AF16-6B5F-C888-D0D1-08FF32F38E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100"/>
              <a:t>An Exception is an error that occurs during program execution.</a:t>
            </a:r>
          </a:p>
          <a:p>
            <a:pPr marL="0" indent="0">
              <a:buNone/>
            </a:pPr>
            <a:r>
              <a:rPr lang="en-US" sz="2100"/>
              <a:t>Exception handling allows us to:</a:t>
            </a:r>
          </a:p>
          <a:p>
            <a:r>
              <a:rPr lang="en-US" sz="2100"/>
              <a:t>Detect errors </a:t>
            </a:r>
          </a:p>
          <a:p>
            <a:r>
              <a:rPr lang="en-US" sz="2100"/>
              <a:t>Handle errors gracefully </a:t>
            </a:r>
          </a:p>
          <a:p>
            <a:r>
              <a:rPr lang="en-US" sz="2100"/>
              <a:t>Prevent program failure </a:t>
            </a:r>
          </a:p>
          <a:p>
            <a:r>
              <a:rPr lang="en-US" sz="2100"/>
              <a:t>Log errors for troubleshooting</a:t>
            </a:r>
          </a:p>
          <a:p>
            <a:endParaRPr lang="en-US" sz="2100"/>
          </a:p>
        </p:txBody>
      </p:sp>
    </p:spTree>
    <p:extLst>
      <p:ext uri="{BB962C8B-B14F-4D97-AF65-F5344CB8AC3E}">
        <p14:creationId xmlns:p14="http://schemas.microsoft.com/office/powerpoint/2010/main" val="38817526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0D431-35C6-F6D0-FF05-C49E7A2A60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0699" y="687480"/>
            <a:ext cx="5605629" cy="99417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200" b="1" dirty="0"/>
              <a:t>Types of Exceptions</a:t>
            </a:r>
            <a:br>
              <a:rPr lang="en-US" sz="3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3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E87E4E-B7A2-5527-72CE-5413ED81A9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2321" y="1534887"/>
            <a:ext cx="5033221" cy="5007427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algn="l" defTabSz="914400">
              <a:lnSpc>
                <a:spcPct val="90000"/>
              </a:lnSpc>
            </a:pPr>
            <a:r>
              <a:rPr lang="en-US" sz="2400" b="1" dirty="0"/>
              <a:t>Predefined Exceptions</a:t>
            </a:r>
            <a:br>
              <a:rPr lang="en-US" sz="2400" dirty="0"/>
            </a:br>
            <a:r>
              <a:rPr lang="en-US" sz="2400" dirty="0"/>
              <a:t>Built-in exceptions in PL/SQL.</a:t>
            </a:r>
          </a:p>
          <a:p>
            <a:pPr algn="l" defTabSz="914400">
              <a:lnSpc>
                <a:spcPct val="90000"/>
              </a:lnSpc>
            </a:pPr>
            <a:r>
              <a:rPr lang="en-US" sz="2400" b="1" dirty="0"/>
              <a:t>Examples:</a:t>
            </a:r>
            <a:br>
              <a:rPr lang="en-US" sz="2400" dirty="0"/>
            </a:br>
            <a:r>
              <a:rPr lang="en-US" sz="2400" dirty="0"/>
              <a:t>	</a:t>
            </a:r>
            <a:r>
              <a:rPr lang="en-US" sz="2400" dirty="0">
                <a:sym typeface="Wingdings" panose="05000000000000000000" pitchFamily="2" charset="2"/>
              </a:rPr>
              <a:t> </a:t>
            </a:r>
            <a:r>
              <a:rPr lang="en-US" sz="2400" dirty="0"/>
              <a:t>NO_DATA_FOUND</a:t>
            </a:r>
            <a:br>
              <a:rPr lang="en-US" sz="2400" dirty="0"/>
            </a:br>
            <a:r>
              <a:rPr lang="en-US" sz="2400" dirty="0"/>
              <a:t>	</a:t>
            </a:r>
            <a:r>
              <a:rPr lang="en-US" sz="2400" dirty="0">
                <a:sym typeface="Wingdings" panose="05000000000000000000" pitchFamily="2" charset="2"/>
              </a:rPr>
              <a:t> </a:t>
            </a:r>
            <a:r>
              <a:rPr lang="en-US" sz="2400" dirty="0"/>
              <a:t>TOO_MANY_ROWS</a:t>
            </a:r>
            <a:br>
              <a:rPr lang="en-US" sz="2400" dirty="0"/>
            </a:br>
            <a:r>
              <a:rPr lang="en-US" sz="2400" dirty="0"/>
              <a:t>	</a:t>
            </a:r>
            <a:r>
              <a:rPr lang="en-US" sz="2400" dirty="0">
                <a:sym typeface="Wingdings" panose="05000000000000000000" pitchFamily="2" charset="2"/>
              </a:rPr>
              <a:t> </a:t>
            </a:r>
            <a:r>
              <a:rPr lang="en-US" sz="2400" dirty="0"/>
              <a:t>ZERO_DIVIDE</a:t>
            </a:r>
            <a:br>
              <a:rPr lang="en-US" sz="2400" dirty="0"/>
            </a:br>
            <a:r>
              <a:rPr lang="en-US" sz="2400" b="1" dirty="0"/>
              <a:t>Syntax: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BEGIN</a:t>
            </a:r>
            <a:br>
              <a:rPr lang="en-US" sz="2400" dirty="0"/>
            </a:br>
            <a:r>
              <a:rPr lang="en-US" sz="2400" dirty="0"/>
              <a:t>-- executable statements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EXCEPTION</a:t>
            </a:r>
            <a:br>
              <a:rPr lang="en-US" sz="2400" dirty="0"/>
            </a:br>
            <a:r>
              <a:rPr lang="en-US" sz="2400" dirty="0"/>
              <a:t>WHEN </a:t>
            </a:r>
            <a:r>
              <a:rPr lang="en-US" sz="2400" dirty="0" err="1"/>
              <a:t>exception_name</a:t>
            </a:r>
            <a:r>
              <a:rPr lang="en-US" sz="2400" dirty="0"/>
              <a:t> THEN</a:t>
            </a:r>
            <a:br>
              <a:rPr lang="en-US" sz="2400" dirty="0"/>
            </a:br>
            <a:r>
              <a:rPr lang="en-US" sz="2400" dirty="0"/>
              <a:t>-- error handling code</a:t>
            </a:r>
            <a:br>
              <a:rPr lang="en-US" sz="2400" dirty="0"/>
            </a:br>
            <a:r>
              <a:rPr lang="en-US" sz="2400" dirty="0"/>
              <a:t>END;</a:t>
            </a:r>
            <a:endParaRPr lang="en-US" sz="21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Database">
            <a:extLst>
              <a:ext uri="{FF2B5EF4-FFF2-40B4-BE49-F238E27FC236}">
                <a16:creationId xmlns:a16="http://schemas.microsoft.com/office/drawing/2014/main" id="{D19D5068-9559-3823-6A21-2A4E50CAF4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3383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66850-3B0F-2250-B7E2-AE066D1F9D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0699" y="687480"/>
            <a:ext cx="5605629" cy="99417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Exception Handling Example</a:t>
            </a:r>
            <a:br>
              <a:rPr lang="en-US" sz="3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3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990C74-86A2-C218-AB88-CB17C65445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9857" y="1524001"/>
            <a:ext cx="5804880" cy="44921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400" dirty="0"/>
              <a:t>BEGIN</a:t>
            </a:r>
            <a:br>
              <a:rPr lang="en-US" sz="2400" dirty="0"/>
            </a:br>
            <a:r>
              <a:rPr lang="en-US" sz="2400" dirty="0"/>
              <a:t>SELECT salary INTO </a:t>
            </a:r>
            <a:r>
              <a:rPr lang="en-US" sz="2400" dirty="0" err="1"/>
              <a:t>v_salary</a:t>
            </a:r>
            <a:br>
              <a:rPr lang="en-US" sz="2400" dirty="0"/>
            </a:br>
            <a:r>
              <a:rPr lang="en-US" sz="2400" dirty="0"/>
              <a:t>FROM employees</a:t>
            </a:r>
            <a:br>
              <a:rPr lang="en-US" sz="2400" dirty="0"/>
            </a:br>
            <a:r>
              <a:rPr lang="en-US" sz="2400" dirty="0"/>
              <a:t>WHERE </a:t>
            </a:r>
            <a:r>
              <a:rPr lang="en-US" sz="2400" dirty="0" err="1"/>
              <a:t>employee_id</a:t>
            </a:r>
            <a:r>
              <a:rPr lang="en-US" sz="2400" dirty="0"/>
              <a:t> = 100;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EXCEPTION</a:t>
            </a:r>
            <a:br>
              <a:rPr lang="en-US" sz="2400" dirty="0"/>
            </a:br>
            <a:r>
              <a:rPr lang="en-US" sz="2400" dirty="0"/>
              <a:t>WHEN NO_DATA_FOUND THEN</a:t>
            </a:r>
            <a:br>
              <a:rPr lang="en-US" sz="2400" dirty="0"/>
            </a:br>
            <a:r>
              <a:rPr lang="en-US" sz="2400" dirty="0"/>
              <a:t>DBMS_OUTPUT.PUT_LINE('Employee not found’);</a:t>
            </a:r>
            <a:br>
              <a:rPr lang="en-US" sz="2400" dirty="0"/>
            </a:br>
            <a:r>
              <a:rPr lang="en-US" sz="2400" dirty="0"/>
              <a:t>WHEN OTHERS THEN</a:t>
            </a:r>
            <a:br>
              <a:rPr lang="en-US" sz="2400" dirty="0"/>
            </a:br>
            <a:r>
              <a:rPr lang="en-US" sz="2400" dirty="0"/>
              <a:t>DBMS_OUTPUT.PUT_LINE(SQLERRM);</a:t>
            </a:r>
            <a:br>
              <a:rPr lang="en-US" sz="2400" dirty="0"/>
            </a:br>
            <a:r>
              <a:rPr lang="en-US" sz="2400" dirty="0"/>
              <a:t>END;</a:t>
            </a:r>
            <a:endParaRPr lang="en-US" sz="21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Venn Diagram">
            <a:extLst>
              <a:ext uri="{FF2B5EF4-FFF2-40B4-BE49-F238E27FC236}">
                <a16:creationId xmlns:a16="http://schemas.microsoft.com/office/drawing/2014/main" id="{EE045CFC-53D5-1FBE-07F4-F392668AF7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6367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8DDA986-B6EE-4642-AC60-0490373E6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B62878-12EF-4E97-A284-47BAFC30D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79188D-1ED5-4705-B8C7-5D6FB7670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635" y="685800"/>
            <a:ext cx="8100729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E65E5D-0A06-C6A5-1839-3D60D31B56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2040" y="1261137"/>
            <a:ext cx="6719920" cy="8883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000" b="1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rPr>
              <a:t>SQLCODE and SQLERRM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B7E3E8-B419-DB56-D54D-815507ACB7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2040" y="2427383"/>
            <a:ext cx="6719919" cy="316948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EXCEPTION</a:t>
            </a:r>
            <a:br>
              <a:rPr lang="en-US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WHEN OTHERS THEN</a:t>
            </a:r>
            <a:br>
              <a:rPr lang="en-US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DBMS_OUTPUT.PUT_LINE('Error Code: ' || SQLCODE);</a:t>
            </a:r>
            <a:br>
              <a:rPr lang="en-US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DBMS_OUTPUT.PUT_LINE('Error Message: ' || SQLERRM);</a:t>
            </a:r>
            <a:br>
              <a:rPr lang="en-US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br>
              <a:rPr lang="en-US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25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Function		Description</a:t>
            </a:r>
            <a:br>
              <a:rPr lang="en-US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SQLCODE		Returns Oracle error number</a:t>
            </a:r>
            <a:b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SQLERRM		Returns Oracle error message</a:t>
            </a:r>
          </a:p>
        </p:txBody>
      </p:sp>
    </p:spTree>
    <p:extLst>
      <p:ext uri="{BB962C8B-B14F-4D97-AF65-F5344CB8AC3E}">
        <p14:creationId xmlns:p14="http://schemas.microsoft.com/office/powerpoint/2010/main" val="204022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r>
              <a:rPr lang="en-US" sz="3850" b="1" dirty="0"/>
              <a:t>Session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321" y="2227943"/>
            <a:ext cx="5033221" cy="378822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3000" b="1" dirty="0"/>
              <a:t>Conclusion:</a:t>
            </a:r>
            <a:br>
              <a:rPr lang="en-US" sz="2100" b="1" dirty="0"/>
            </a:br>
            <a:endParaRPr lang="en-US" sz="2100" b="1" dirty="0"/>
          </a:p>
          <a:p>
            <a:r>
              <a:rPr lang="en-US" sz="2100" b="1" dirty="0"/>
              <a:t>Packages improve modularity and performance.</a:t>
            </a:r>
          </a:p>
          <a:p>
            <a:r>
              <a:rPr lang="en-US" sz="2100" b="1" dirty="0"/>
              <a:t>Exception handling manages runtime errors effectively.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6" name="Graphic 15" descr="Calculator">
            <a:extLst>
              <a:ext uri="{FF2B5EF4-FFF2-40B4-BE49-F238E27FC236}">
                <a16:creationId xmlns:a16="http://schemas.microsoft.com/office/drawing/2014/main" id="{B7A985C6-F3FF-3BF4-EAAF-6CC58794BE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BBEE96-D11D-99B1-285C-493F8DA16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 b="1"/>
              <a:t>QUIZ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4E279-29A9-24C1-C3A0-083D2AF3B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pPr marL="514350" indent="-514350">
              <a:lnSpc>
                <a:spcPct val="90000"/>
              </a:lnSpc>
              <a:buAutoNum type="arabicPeriod"/>
            </a:pPr>
            <a:r>
              <a:rPr lang="en-US" sz="1200"/>
              <a:t>A package contains 40 procedures that are called repeatedly by an application. How can packages improve performance?</a:t>
            </a:r>
            <a:br>
              <a:rPr lang="en-US" sz="1200"/>
            </a:br>
            <a:r>
              <a:rPr lang="en-US" sz="1200"/>
              <a:t>A. Package code is loaded once per session and reused. </a:t>
            </a:r>
            <a:br>
              <a:rPr lang="en-US" sz="1200"/>
            </a:br>
            <a:r>
              <a:rPr lang="en-US" sz="1200"/>
              <a:t>B. Packages automatically create indexes.</a:t>
            </a:r>
            <a:br>
              <a:rPr lang="en-US" sz="1200"/>
            </a:br>
            <a:r>
              <a:rPr lang="en-US" sz="1200"/>
              <a:t>C. Packages compress data.</a:t>
            </a:r>
            <a:br>
              <a:rPr lang="en-US" sz="1200"/>
            </a:br>
            <a:r>
              <a:rPr lang="en-US" sz="1200"/>
              <a:t>D. Packages eliminate SQL execution.</a:t>
            </a:r>
          </a:p>
          <a:p>
            <a:pPr marL="514350" indent="-514350">
              <a:lnSpc>
                <a:spcPct val="90000"/>
              </a:lnSpc>
              <a:buAutoNum type="arabicPeriod"/>
            </a:pPr>
            <a:r>
              <a:rPr lang="en-US" sz="1200"/>
              <a:t>A developer adds a new parameter to a procedure in the Package Specification. What will be impact?</a:t>
            </a:r>
            <a:br>
              <a:rPr lang="en-US" sz="1200"/>
            </a:br>
            <a:r>
              <a:rPr lang="en-US" sz="1200"/>
              <a:t>A. Nothing changes.</a:t>
            </a:r>
            <a:br>
              <a:rPr lang="en-US" sz="1200"/>
            </a:br>
            <a:r>
              <a:rPr lang="en-US" sz="1200"/>
              <a:t>B. All dependent objects become invalid and must be recompiled.</a:t>
            </a:r>
            <a:br>
              <a:rPr lang="en-US" sz="1200"/>
            </a:br>
            <a:r>
              <a:rPr lang="en-US" sz="1200"/>
              <a:t>C. Only the package body changes.</a:t>
            </a:r>
            <a:br>
              <a:rPr lang="en-US" sz="1200"/>
            </a:br>
            <a:r>
              <a:rPr lang="en-US" sz="1200"/>
              <a:t>D. Database restarts automatically.</a:t>
            </a:r>
          </a:p>
          <a:p>
            <a:pPr marL="514350" indent="-514350">
              <a:lnSpc>
                <a:spcPct val="90000"/>
              </a:lnSpc>
              <a:buAutoNum type="arabicPeriod"/>
            </a:pPr>
            <a:r>
              <a:rPr lang="en-US" sz="1200"/>
              <a:t>Scenario: SELECT salary INTO v_salary FROM employees WHERE department_id = 20; --Department 20 has 15 employees. </a:t>
            </a:r>
            <a:br>
              <a:rPr lang="en-US" sz="1200"/>
            </a:br>
            <a:r>
              <a:rPr lang="en-US" sz="1200"/>
              <a:t>Question - What exception occurs after executing this query.</a:t>
            </a:r>
            <a:br>
              <a:rPr lang="en-US" sz="1200"/>
            </a:br>
            <a:r>
              <a:rPr lang="en-US" sz="1200"/>
              <a:t>A. NO_DATA_FOUND</a:t>
            </a:r>
            <a:br>
              <a:rPr lang="en-US" sz="1200"/>
            </a:br>
            <a:r>
              <a:rPr lang="en-US" sz="1200"/>
              <a:t>B. VALUE_ERROR</a:t>
            </a:r>
            <a:br>
              <a:rPr lang="en-US" sz="1200"/>
            </a:br>
            <a:r>
              <a:rPr lang="en-US" sz="1200"/>
              <a:t>C. TOO_MANY_ROWS</a:t>
            </a:r>
            <a:br>
              <a:rPr lang="en-US" sz="1200"/>
            </a:br>
            <a:r>
              <a:rPr lang="en-US" sz="1200"/>
              <a:t>D. LOGIN_DENIED</a:t>
            </a:r>
          </a:p>
          <a:p>
            <a:pPr marL="514350" indent="-514350">
              <a:lnSpc>
                <a:spcPct val="90000"/>
              </a:lnSpc>
              <a:buAutoNum type="arabicPeriod"/>
            </a:pPr>
            <a:r>
              <a:rPr lang="en-US" sz="1200"/>
              <a:t>Scenario: A production ETL package fails every night. Developers only know "Procedure Failed.“</a:t>
            </a:r>
            <a:br>
              <a:rPr lang="en-US" sz="1200"/>
            </a:br>
            <a:r>
              <a:rPr lang="en-US" sz="1200"/>
              <a:t>Question: What is the best practice?</a:t>
            </a:r>
            <a:br>
              <a:rPr lang="en-US" sz="1200"/>
            </a:br>
            <a:r>
              <a:rPr lang="en-US" sz="1200"/>
              <a:t>A. Remove exception handling.</a:t>
            </a:r>
            <a:br>
              <a:rPr lang="en-US" sz="1200"/>
            </a:br>
            <a:r>
              <a:rPr lang="en-US" sz="1200"/>
              <a:t>B. Log SQLCODE, SQLERRM, procedure name, timestamp, and input parameters.</a:t>
            </a:r>
            <a:br>
              <a:rPr lang="en-US" sz="1200"/>
            </a:br>
            <a:r>
              <a:rPr lang="en-US" sz="1200"/>
              <a:t>C. Print only "Error.“</a:t>
            </a:r>
            <a:br>
              <a:rPr lang="en-US" sz="1200"/>
            </a:br>
            <a:r>
              <a:rPr lang="en-US" sz="1200"/>
              <a:t>D. Disable logging.</a:t>
            </a:r>
          </a:p>
        </p:txBody>
      </p:sp>
    </p:spTree>
    <p:extLst>
      <p:ext uri="{BB962C8B-B14F-4D97-AF65-F5344CB8AC3E}">
        <p14:creationId xmlns:p14="http://schemas.microsoft.com/office/powerpoint/2010/main" val="22281198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734E7B-0D7A-CDAC-4FC5-BEF167AD4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C3ADC-B1E9-6208-CBD6-C854EE37A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761998"/>
            <a:ext cx="4000500" cy="938786"/>
          </a:xfrm>
        </p:spPr>
        <p:txBody>
          <a:bodyPr anchor="ctr">
            <a:normAutofit/>
          </a:bodyPr>
          <a:lstStyle/>
          <a:p>
            <a:r>
              <a:rPr lang="en-US" sz="3500" b="1" dirty="0"/>
              <a:t>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0886C-B0D6-B877-8A3A-A3012D3AD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495" y="1700785"/>
            <a:ext cx="4000505" cy="4539296"/>
          </a:xfrm>
        </p:spPr>
        <p:txBody>
          <a:bodyPr anchor="ctr">
            <a:normAutofit/>
          </a:bodyPr>
          <a:lstStyle/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en-US" sz="1400" dirty="0"/>
              <a:t>Create a parameterized procedure named LOG_ERROR that stores error information into an error log table.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en-US" sz="1400" dirty="0"/>
              <a:t>Implement exception handling in each procedure. Whenever an unexpected exception occurs (WHEN OTHERS), capture the error details and insert them into the ERROR_LOG table by calling the LOG_ERROR procedure. The logged information should include the procedure name, error code (SQLCODE), and error message (SQLERRM).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en-US" sz="1400" dirty="0"/>
              <a:t>Create a package that contains all procedures implementing the Truncate and Insert (Full Load) logic.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en-US" sz="1400" dirty="0"/>
              <a:t>Create a separate package that contains all procedures implementing the Merge (Incremental Load) logic.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D05C9B4-B5C9-2D4D-23C9-CEE72646F9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86350" y="-1"/>
            <a:ext cx="4057650" cy="6858001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66700" dist="215900" dir="8580000" sx="90000" sy="90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Graphic 15" descr="Calculator">
            <a:extLst>
              <a:ext uri="{FF2B5EF4-FFF2-40B4-BE49-F238E27FC236}">
                <a16:creationId xmlns:a16="http://schemas.microsoft.com/office/drawing/2014/main" id="{D5DF3EC9-ED07-D105-3CE5-7244C5935D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05908" y="2018461"/>
            <a:ext cx="2818534" cy="2818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0377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A21671-66F2-17BB-0A90-A4024CA39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ight Triangle 29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E2D81F-B2AB-05F3-3DA9-1DAC2F9DA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20" y="962529"/>
            <a:ext cx="4444491" cy="25296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8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65BB1-1F05-B26D-8B43-71854D438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1350" y="3643368"/>
            <a:ext cx="4444491" cy="131265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4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Questions</a:t>
            </a:r>
          </a:p>
        </p:txBody>
      </p:sp>
      <p:pic>
        <p:nvPicPr>
          <p:cNvPr id="16" name="Graphic 15" descr="Calculator">
            <a:extLst>
              <a:ext uri="{FF2B5EF4-FFF2-40B4-BE49-F238E27FC236}">
                <a16:creationId xmlns:a16="http://schemas.microsoft.com/office/drawing/2014/main" id="{5C27B9FB-0DFD-2DC9-462F-5EE264F964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49721" y="2471017"/>
            <a:ext cx="1966329" cy="1966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8230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3410</TotalTime>
  <Words>883</Words>
  <Application>Microsoft Office PowerPoint</Application>
  <PresentationFormat>On-screen Show (4:3)</PresentationFormat>
  <Paragraphs>76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Arial</vt:lpstr>
      <vt:lpstr>Calibri</vt:lpstr>
      <vt:lpstr>Wingdings</vt:lpstr>
      <vt:lpstr>Office Theme</vt:lpstr>
      <vt:lpstr>Session 5:   Advanced Database Concepts</vt:lpstr>
      <vt:lpstr>Recap – Session 4</vt:lpstr>
      <vt:lpstr>PowerPoint Presentation</vt:lpstr>
      <vt:lpstr>Introduction to Database Packages</vt:lpstr>
      <vt:lpstr>Why we Required Packages:</vt:lpstr>
      <vt:lpstr>Components of a Package</vt:lpstr>
      <vt:lpstr>PowerPoint Presentation</vt:lpstr>
      <vt:lpstr>Advantages of Packages</vt:lpstr>
      <vt:lpstr>What is Exception Handling</vt:lpstr>
      <vt:lpstr>Types of Exceptions </vt:lpstr>
      <vt:lpstr>Exception Handling Example </vt:lpstr>
      <vt:lpstr>SQLCODE and SQLERRM</vt:lpstr>
      <vt:lpstr>Session Summary</vt:lpstr>
      <vt:lpstr>QUIZ</vt:lpstr>
      <vt:lpstr>Assignment</vt:lpstr>
      <vt:lpstr>Thanks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Abdul Ahad</cp:lastModifiedBy>
  <cp:revision>59</cp:revision>
  <dcterms:created xsi:type="dcterms:W3CDTF">2013-01-27T09:14:16Z</dcterms:created>
  <dcterms:modified xsi:type="dcterms:W3CDTF">2026-08-13T07:45:38Z</dcterms:modified>
  <cp:category/>
</cp:coreProperties>
</file>