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77" r:id="rId3"/>
    <p:sldId id="284" r:id="rId4"/>
    <p:sldId id="285" r:id="rId5"/>
    <p:sldId id="286" r:id="rId6"/>
    <p:sldId id="287" r:id="rId7"/>
    <p:sldId id="290" r:id="rId8"/>
    <p:sldId id="291" r:id="rId9"/>
    <p:sldId id="292" r:id="rId10"/>
    <p:sldId id="268" r:id="rId11"/>
    <p:sldId id="269" r:id="rId12"/>
    <p:sldId id="270" r:id="rId13"/>
    <p:sldId id="271" r:id="rId14"/>
    <p:sldId id="272" r:id="rId15"/>
    <p:sldId id="293" r:id="rId16"/>
    <p:sldId id="267" r:id="rId17"/>
    <p:sldId id="294" r:id="rId18"/>
    <p:sldId id="295" r:id="rId19"/>
    <p:sldId id="296" r:id="rId20"/>
    <p:sldId id="29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61161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97EF8-AEA3-DF48-307F-672ECAE1C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775" y="609600"/>
            <a:ext cx="5160770" cy="13228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Session 7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Performance Tuning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C4AD0-B1F5-E041-CC70-5EC945EF8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775" y="2194102"/>
            <a:ext cx="4930463" cy="3908585"/>
          </a:xfrm>
        </p:spPr>
        <p:txBody>
          <a:bodyPr vert="horz" lIns="91440" tIns="45720" rIns="91440" bIns="45720" rtlCol="0">
            <a:normAutofit/>
          </a:bodyPr>
          <a:lstStyle/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Introduction to Performance Tuning.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Common Performance Issues. 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SQL Query Tuning.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Execution Plans.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Indexing Strategies.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Type of Indexing.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Index best Practice.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Quiz</a:t>
            </a:r>
          </a:p>
          <a:p>
            <a:pPr marL="5143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Assignment</a:t>
            </a:r>
          </a:p>
        </p:txBody>
      </p:sp>
      <p:pic>
        <p:nvPicPr>
          <p:cNvPr id="7" name="Graphic 6" descr="Gauge">
            <a:extLst>
              <a:ext uri="{FF2B5EF4-FFF2-40B4-BE49-F238E27FC236}">
                <a16:creationId xmlns:a16="http://schemas.microsoft.com/office/drawing/2014/main" id="{CDD2FEB8-773C-502C-6B3D-6892F055D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6985" y="2353600"/>
            <a:ext cx="2180230" cy="218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9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AF5B-EB68-35B9-2531-2664085C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1260192"/>
          </a:xfrm>
        </p:spPr>
        <p:txBody>
          <a:bodyPr>
            <a:normAutofit/>
          </a:bodyPr>
          <a:lstStyle/>
          <a:p>
            <a:r>
              <a:rPr lang="en-US" sz="3850" b="1" dirty="0"/>
              <a:t>Recap – Session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8720-ECF1-05C4-6781-FBDB72289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83080"/>
            <a:ext cx="6446327" cy="42702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Analytical Function and their use cases.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>
                <a:sym typeface="Wingdings" panose="05000000000000000000" pitchFamily="2" charset="2"/>
              </a:rPr>
              <a:t> Till now we have completed below.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sym typeface="Wingdings" panose="05000000000000000000" pitchFamily="2" charset="2"/>
              </a:rPr>
              <a:t>Load Source Data into Stage Schema.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sym typeface="Wingdings" panose="05000000000000000000" pitchFamily="2" charset="2"/>
              </a:rPr>
              <a:t>Prepared Target Schema.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sym typeface="Wingdings" panose="05000000000000000000" pitchFamily="2" charset="2"/>
              </a:rPr>
              <a:t>Created Fact and Dim(As Star Schema).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Created Procedure which has truncate and insert logic.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Created Procedure which has merge logic.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Created Package contains Procedures.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Add control table in each Procedure to maintain each execution details.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2531E74E-D404-32B3-6A7A-3A0545606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0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3CADB-D842-015C-C3A7-F26342EA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52" y="448056"/>
            <a:ext cx="7504545" cy="555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4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1EDFE-2AFA-8101-F288-67CC942E0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" y="687480"/>
            <a:ext cx="6839711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Database Performance Tuning?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228F0-66FE-4C14-49F5-4EB7BCD5E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9" y="1764793"/>
            <a:ext cx="5364334" cy="30175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Database performance tuning is the process of: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Improving query response time.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Reducing CPU utilization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Reducing I/O operations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Improving ETL execution time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Optimizing resource utilization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CFD199FE-3347-687A-EC1E-F2CAAD9B1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5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03841-1F94-4035-2937-FF7A1299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3456-3815-6C58-C836-B83C1786E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Common Performance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22B95-55BC-FAC5-C309-4AF36FBA8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321" y="1883665"/>
            <a:ext cx="5033221" cy="41325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300" b="1" dirty="0">
                <a:solidFill>
                  <a:schemeClr val="tx1"/>
                </a:solidFill>
              </a:rPr>
              <a:t>Database Side: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Missing indexes.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Table scans.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Locking and blocking.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Poor SQL coding.</a:t>
            </a:r>
          </a:p>
          <a:p>
            <a:pPr algn="l" defTabSz="914400">
              <a:lnSpc>
                <a:spcPct val="90000"/>
              </a:lnSpc>
            </a:pPr>
            <a:r>
              <a:rPr lang="en-US" sz="2300" b="1" dirty="0">
                <a:solidFill>
                  <a:schemeClr val="tx1"/>
                </a:solidFill>
              </a:rPr>
              <a:t>ETL Side:</a:t>
            </a:r>
          </a:p>
          <a:p>
            <a:pPr marL="5715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Row-by-row processing.</a:t>
            </a:r>
          </a:p>
          <a:p>
            <a:pPr marL="5715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Frequent commits</a:t>
            </a:r>
          </a:p>
          <a:p>
            <a:pPr marL="5715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Large data movement</a:t>
            </a:r>
          </a:p>
          <a:p>
            <a:pPr marL="5715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Unnecessary transformations</a:t>
            </a:r>
          </a:p>
          <a:p>
            <a:pPr marL="2286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680929E9-B5A0-409B-7B6E-5E04C41B23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6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59DA5-D756-7AC1-1266-591705A9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800" b="1"/>
              <a:t>Important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B05B1-A706-B627-670A-0CFA4E1EB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669085"/>
            <a:ext cx="7050024" cy="3100780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/>
              <a:t>Metrics	</a:t>
            </a:r>
            <a:r>
              <a:rPr lang="en-US" sz="3000" dirty="0"/>
              <a:t>						</a:t>
            </a:r>
            <a:r>
              <a:rPr lang="en-US" sz="3000" b="1" dirty="0"/>
              <a:t>Descriptions</a:t>
            </a:r>
            <a:br>
              <a:rPr lang="en-US" sz="2100" b="1" dirty="0"/>
            </a:br>
            <a:br>
              <a:rPr lang="en-US" sz="2100" dirty="0"/>
            </a:br>
            <a:r>
              <a:rPr lang="en-US" sz="2100" dirty="0"/>
              <a:t>a. Response Time					Query Execution Time</a:t>
            </a:r>
          </a:p>
          <a:p>
            <a:pPr marL="0" indent="0">
              <a:buNone/>
            </a:pPr>
            <a:r>
              <a:rPr lang="en-US" sz="2100" dirty="0"/>
              <a:t>b. CPU Usage						Processor Consumption</a:t>
            </a:r>
          </a:p>
          <a:p>
            <a:pPr marL="0" indent="0">
              <a:buNone/>
            </a:pPr>
            <a:r>
              <a:rPr lang="en-US" sz="2100" dirty="0"/>
              <a:t>c. I/O Wait						Disk Access Time</a:t>
            </a:r>
          </a:p>
          <a:p>
            <a:pPr marL="0" indent="0">
              <a:buNone/>
            </a:pPr>
            <a:r>
              <a:rPr lang="en-US" sz="2100" dirty="0"/>
              <a:t>d. Memory Uses 					PGA/SGA utilization</a:t>
            </a:r>
          </a:p>
          <a:p>
            <a:pPr marL="0" indent="0">
              <a:buNone/>
            </a:pPr>
            <a:r>
              <a:rPr lang="en-US" sz="2100" dirty="0"/>
              <a:t>e. Throughput					Transaction per second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SGA – System Global Area</a:t>
            </a:r>
            <a:br>
              <a:rPr lang="en-US" sz="2100" dirty="0"/>
            </a:br>
            <a:r>
              <a:rPr lang="en-US" sz="2100" dirty="0"/>
              <a:t>PGA – Private Global Area</a:t>
            </a:r>
          </a:p>
        </p:txBody>
      </p:sp>
    </p:spTree>
    <p:extLst>
      <p:ext uri="{BB962C8B-B14F-4D97-AF65-F5344CB8AC3E}">
        <p14:creationId xmlns:p14="http://schemas.microsoft.com/office/powerpoint/2010/main" val="4148065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83224-6A0E-0CEB-0459-9353CEE6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US" sz="3600" b="1"/>
              <a:t>What is an Execution Plan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CE03B-8BA6-55B2-D384-AADE0B570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/>
              <a:t>An </a:t>
            </a:r>
            <a:r>
              <a:rPr lang="en-US" sz="1900" b="1"/>
              <a:t>Execution Plan</a:t>
            </a:r>
            <a:r>
              <a:rPr lang="en-US" sz="1900"/>
              <a:t> shows how the database optimizer executes a SQL statement.</a:t>
            </a:r>
          </a:p>
          <a:p>
            <a:pPr marL="0" indent="0">
              <a:buNone/>
            </a:pPr>
            <a:r>
              <a:rPr lang="en-US" sz="1900"/>
              <a:t>It answers question like: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900"/>
              <a:t>Which table is accessed first?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900"/>
              <a:t>Which indexes are used?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900"/>
              <a:t>Which join method is used?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900"/>
              <a:t>How much data is being processed?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900"/>
              <a:t>What is the estimated cost?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905225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6C352-D591-E44F-D28D-6636D5AA6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/>
              <a:t>Why is Execution Plan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FE520-0450-3D31-29D7-910813E13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100" b="1" dirty="0"/>
              <a:t>Suppose this query takes 30 minutes:</a:t>
            </a:r>
            <a:br>
              <a:rPr lang="en-US" sz="2100" dirty="0"/>
            </a:br>
            <a:r>
              <a:rPr lang="en-US" sz="2100" dirty="0"/>
              <a:t>SELECT *</a:t>
            </a:r>
            <a:br>
              <a:rPr lang="en-US" sz="2100" dirty="0"/>
            </a:br>
            <a:r>
              <a:rPr lang="en-US" sz="2100" dirty="0"/>
              <a:t>FROM </a:t>
            </a:r>
            <a:r>
              <a:rPr lang="en-US" sz="2100" dirty="0" err="1"/>
              <a:t>sales_transactions</a:t>
            </a:r>
            <a:br>
              <a:rPr lang="en-US" sz="2100" dirty="0"/>
            </a:br>
            <a:r>
              <a:rPr lang="en-US" sz="2100" dirty="0"/>
              <a:t>WHERE </a:t>
            </a:r>
            <a:r>
              <a:rPr lang="en-US" sz="2100" dirty="0" err="1"/>
              <a:t>customer_id</a:t>
            </a:r>
            <a:r>
              <a:rPr lang="en-US" sz="2100" dirty="0"/>
              <a:t> = 1001;</a:t>
            </a:r>
            <a:br>
              <a:rPr lang="en-US" sz="2100" dirty="0"/>
            </a:br>
            <a:r>
              <a:rPr lang="en-US" sz="2100" dirty="0"/>
              <a:t>The execution plan tells you:</a:t>
            </a:r>
            <a:br>
              <a:rPr lang="en-US" sz="2100" dirty="0"/>
            </a:br>
            <a:r>
              <a:rPr lang="en-US" sz="2100" dirty="0"/>
              <a:t>	</a:t>
            </a:r>
            <a:r>
              <a:rPr lang="en-US" sz="2100" dirty="0">
                <a:sym typeface="Wingdings" panose="05000000000000000000" pitchFamily="2" charset="2"/>
              </a:rPr>
              <a:t>	</a:t>
            </a:r>
            <a:r>
              <a:rPr lang="en-US" sz="2100" dirty="0"/>
              <a:t>Is it doing a Full Table Scan?</a:t>
            </a:r>
          </a:p>
          <a:p>
            <a:pPr marL="0" indent="0">
              <a:buNone/>
            </a:pPr>
            <a:r>
              <a:rPr lang="en-US" sz="2100" dirty="0"/>
              <a:t>	</a:t>
            </a:r>
            <a:r>
              <a:rPr lang="en-US" sz="2100" dirty="0">
                <a:sym typeface="Wingdings" panose="05000000000000000000" pitchFamily="2" charset="2"/>
              </a:rPr>
              <a:t>	</a:t>
            </a:r>
            <a:r>
              <a:rPr lang="en-US" sz="2100" dirty="0"/>
              <a:t>Is an Index being used?</a:t>
            </a:r>
            <a:br>
              <a:rPr lang="en-US" sz="2100" dirty="0"/>
            </a:br>
            <a:r>
              <a:rPr lang="en-US" sz="2100" dirty="0"/>
              <a:t>	</a:t>
            </a:r>
            <a:r>
              <a:rPr lang="en-US" sz="2100" dirty="0">
                <a:sym typeface="Wingdings" panose="05000000000000000000" pitchFamily="2" charset="2"/>
              </a:rPr>
              <a:t>	</a:t>
            </a:r>
            <a:r>
              <a:rPr lang="en-US" sz="2100" dirty="0"/>
              <a:t>Is statistics outdated?</a:t>
            </a:r>
          </a:p>
        </p:txBody>
      </p:sp>
    </p:spTree>
    <p:extLst>
      <p:ext uri="{BB962C8B-B14F-4D97-AF65-F5344CB8AC3E}">
        <p14:creationId xmlns:p14="http://schemas.microsoft.com/office/powerpoint/2010/main" val="2846682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AF00-73E9-89BF-095B-8BB5042E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to Get Execution Plan in Oracle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652EC-1CA2-E359-4224-1415D2392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EXPLAIN PLAN FOR</a:t>
            </a:r>
            <a:br>
              <a:rPr lang="en-US" dirty="0"/>
            </a:br>
            <a:r>
              <a:rPr lang="en-US" dirty="0"/>
              <a:t>SELECT *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sales_transactions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customer_id</a:t>
            </a:r>
            <a:r>
              <a:rPr lang="en-US" dirty="0"/>
              <a:t> = 1001;</a:t>
            </a:r>
          </a:p>
          <a:p>
            <a:pPr marL="0" indent="0">
              <a:buNone/>
            </a:pPr>
            <a:r>
              <a:rPr lang="en-US" dirty="0"/>
              <a:t>----------------------------------------------------------------------------</a:t>
            </a:r>
          </a:p>
          <a:p>
            <a:pPr marL="0" indent="0">
              <a:buNone/>
            </a:pPr>
            <a:r>
              <a:rPr lang="en-US" dirty="0"/>
              <a:t>| </a:t>
            </a:r>
            <a:r>
              <a:rPr lang="en-US" b="1" dirty="0"/>
              <a:t>Id</a:t>
            </a:r>
            <a:r>
              <a:rPr lang="en-US" dirty="0"/>
              <a:t> | 		</a:t>
            </a:r>
            <a:r>
              <a:rPr lang="en-US" b="1" dirty="0"/>
              <a:t>Operation </a:t>
            </a:r>
            <a:r>
              <a:rPr lang="en-US" dirty="0"/>
              <a:t>         		| </a:t>
            </a:r>
            <a:r>
              <a:rPr lang="en-US" b="1" dirty="0"/>
              <a:t>Name</a:t>
            </a:r>
            <a:r>
              <a:rPr lang="en-US" dirty="0"/>
              <a:t>                                |</a:t>
            </a:r>
          </a:p>
          <a:p>
            <a:pPr marL="0" indent="0">
              <a:buNone/>
            </a:pPr>
            <a:r>
              <a:rPr lang="en-US" dirty="0"/>
              <a:t>----------------------------------------------------------------------------</a:t>
            </a:r>
          </a:p>
          <a:p>
            <a:pPr marL="0" indent="0">
              <a:buNone/>
            </a:pPr>
            <a:r>
              <a:rPr lang="en-US" dirty="0"/>
              <a:t>|  0 | SELECT STATEMENT   	|                      			     |</a:t>
            </a:r>
          </a:p>
          <a:p>
            <a:pPr marL="0" indent="0">
              <a:buNone/>
            </a:pPr>
            <a:r>
              <a:rPr lang="en-US" dirty="0"/>
              <a:t>|  1 | TABLE ACCESS FULL  		| SALES_TRANSACTIONS   |</a:t>
            </a:r>
          </a:p>
          <a:p>
            <a:pPr marL="0" indent="0">
              <a:buNone/>
            </a:pPr>
            <a:r>
              <a:rPr lang="en-US" dirty="0"/>
              <a:t>----------------------------------------------------------------------------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86921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61161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DCC5F-FB82-CD91-23CC-763460D87007}"/>
              </a:ext>
            </a:extLst>
          </p:cNvPr>
          <p:cNvSpPr txBox="1"/>
          <p:nvPr/>
        </p:nvSpPr>
        <p:spPr>
          <a:xfrm>
            <a:off x="852775" y="794658"/>
            <a:ext cx="4930463" cy="5308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000" b="1" dirty="0"/>
              <a:t>What is an Index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An </a:t>
            </a:r>
            <a:r>
              <a:rPr lang="en-US" sz="1700" b="1" dirty="0"/>
              <a:t>Index</a:t>
            </a:r>
            <a:r>
              <a:rPr lang="en-US" sz="1700" dirty="0"/>
              <a:t> is a database object that improves the speed of data retrieval operations on a table.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It works like the </a:t>
            </a:r>
            <a:r>
              <a:rPr lang="en-US" sz="1700" b="1" dirty="0"/>
              <a:t>index of a book</a:t>
            </a:r>
            <a:r>
              <a:rPr lang="en-US" sz="1700" dirty="0"/>
              <a:t>, helping the database quickly locate rows without scanning the entire table.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b="1" dirty="0"/>
              <a:t>Benefits:</a:t>
            </a:r>
            <a:endParaRPr lang="en-US" sz="2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Faster query performance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Reduces full table scans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Helps in filtering and joining data efficiently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610B5D3A-3913-87B2-AB47-1691D9A575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6985" y="2353600"/>
            <a:ext cx="2180230" cy="218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70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179079-D3F4-A9B2-44AA-7A0AF658D214}"/>
              </a:ext>
            </a:extLst>
          </p:cNvPr>
          <p:cNvSpPr txBox="1"/>
          <p:nvPr/>
        </p:nvSpPr>
        <p:spPr>
          <a:xfrm>
            <a:off x="852321" y="359229"/>
            <a:ext cx="5033221" cy="5656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000" b="1" dirty="0"/>
              <a:t>Why Do We Need Indexes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Indexes are useful when queries frequently use certain columns.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500" b="1" dirty="0"/>
              <a:t>Common scenarios:</a:t>
            </a:r>
            <a:endParaRPr lang="en-US" sz="2500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Columns used in </a:t>
            </a:r>
            <a:r>
              <a:rPr lang="en-US" sz="1600" b="1" dirty="0"/>
              <a:t>WHERE conditions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Columns used in </a:t>
            </a:r>
            <a:r>
              <a:rPr lang="en-US" sz="1600" b="1" dirty="0"/>
              <a:t>JOIN operations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Columns used in </a:t>
            </a:r>
            <a:r>
              <a:rPr lang="en-US" sz="1600" b="1" dirty="0"/>
              <a:t>ORDER BY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Columns used in </a:t>
            </a:r>
            <a:r>
              <a:rPr lang="en-US" sz="1600" b="1" dirty="0"/>
              <a:t>GROUP BY</a:t>
            </a:r>
            <a:endParaRPr lang="en-US" sz="1600" dirty="0"/>
          </a:p>
          <a:p>
            <a:r>
              <a:rPr lang="en-US" sz="1600" dirty="0"/>
              <a:t>Without an index, the database performs a </a:t>
            </a:r>
            <a:r>
              <a:rPr lang="en-US" sz="1600" b="1" dirty="0"/>
              <a:t>Full Table Scan</a:t>
            </a:r>
            <a:r>
              <a:rPr lang="en-US" sz="1600" dirty="0"/>
              <a:t>, which is slower for large tables.</a:t>
            </a:r>
            <a:br>
              <a:rPr lang="en-US" sz="1600" dirty="0"/>
            </a:br>
            <a:br>
              <a:rPr lang="en-US" sz="1600" dirty="0"/>
            </a:br>
            <a:r>
              <a:rPr lang="en-US" sz="2500" b="1" dirty="0"/>
              <a:t>When to Use Index</a:t>
            </a:r>
          </a:p>
          <a:p>
            <a:r>
              <a:rPr lang="en-US" sz="1600" dirty="0"/>
              <a:t>Indexes should be used when: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Table contains </a:t>
            </a:r>
            <a:r>
              <a:rPr lang="en-US" sz="1600" b="1" dirty="0"/>
              <a:t>large amount of data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Columns are used in </a:t>
            </a:r>
            <a:r>
              <a:rPr lang="en-US" sz="1600" b="1" dirty="0"/>
              <a:t>JOIN conditions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Columns are used frequently in </a:t>
            </a:r>
            <a:r>
              <a:rPr lang="en-US" sz="1600" b="1" dirty="0"/>
              <a:t>WHERE clause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Queries require </a:t>
            </a:r>
            <a:r>
              <a:rPr lang="en-US" sz="1600" b="1" dirty="0"/>
              <a:t>fast search performance</a:t>
            </a: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07E5BC9C-0095-1C56-7BCC-C8470A690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93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D431-35C6-F6D0-FF05-C49E7A2A6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Types of Index in Oracle</a:t>
            </a:r>
            <a:b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87E4E-B7A2-5527-72CE-5413ED81A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321" y="1534887"/>
            <a:ext cx="5033221" cy="44812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Common index types:</a:t>
            </a:r>
          </a:p>
          <a:p>
            <a:pPr algn="l" defTabSz="914400">
              <a:lnSpc>
                <a:spcPct val="90000"/>
              </a:lnSpc>
            </a:pPr>
            <a:r>
              <a:rPr lang="en-US" sz="2100" b="1" dirty="0">
                <a:solidFill>
                  <a:schemeClr val="tx1"/>
                </a:solidFill>
              </a:rPr>
              <a:t>1. B-Tree Index</a:t>
            </a:r>
            <a:endParaRPr lang="en-US" sz="2100" dirty="0">
              <a:solidFill>
                <a:schemeClr val="tx1"/>
              </a:solidFill>
            </a:endParaRPr>
          </a:p>
          <a:p>
            <a:pPr marL="571500" lvl="1" indent="-342900" algn="l" defTabSz="9144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</a:rPr>
              <a:t>Most commonly used index</a:t>
            </a:r>
          </a:p>
          <a:p>
            <a:pPr marL="571500" lvl="1" indent="-342900" algn="l" defTabSz="9144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</a:rPr>
              <a:t>Best for columns with </a:t>
            </a:r>
            <a:r>
              <a:rPr lang="en-US" sz="2100" b="1" dirty="0">
                <a:solidFill>
                  <a:schemeClr val="tx1"/>
                </a:solidFill>
              </a:rPr>
              <a:t>high cardinality</a:t>
            </a:r>
            <a:r>
              <a:rPr lang="en-US" sz="2100" dirty="0">
                <a:solidFill>
                  <a:schemeClr val="tx1"/>
                </a:solidFill>
              </a:rPr>
              <a:t> (many unique values)</a:t>
            </a:r>
          </a:p>
          <a:p>
            <a:pPr marL="228600" lvl="1" algn="l" defTabSz="914400"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100" b="1" dirty="0">
                <a:solidFill>
                  <a:schemeClr val="tx1"/>
                </a:solidFill>
              </a:rPr>
              <a:t>2. Bitmap Index</a:t>
            </a:r>
            <a:endParaRPr lang="en-US" sz="2100" dirty="0">
              <a:solidFill>
                <a:schemeClr val="tx1"/>
              </a:solidFill>
            </a:endParaRPr>
          </a:p>
          <a:p>
            <a:pPr marL="571500" lvl="1" indent="-342900" algn="l" defTabSz="9144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</a:rPr>
              <a:t>Best for columns with </a:t>
            </a:r>
            <a:r>
              <a:rPr lang="en-US" sz="2100" b="1" dirty="0">
                <a:solidFill>
                  <a:schemeClr val="tx1"/>
                </a:solidFill>
              </a:rPr>
              <a:t>low cardinality</a:t>
            </a:r>
            <a:endParaRPr lang="en-US" sz="2100" dirty="0">
              <a:solidFill>
                <a:schemeClr val="tx1"/>
              </a:solidFill>
            </a:endParaRPr>
          </a:p>
          <a:p>
            <a:pPr marL="571500" lvl="1" indent="-342900" algn="l" defTabSz="9144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</a:rPr>
              <a:t>Common in </a:t>
            </a:r>
            <a:r>
              <a:rPr lang="en-US" sz="2100" b="1" dirty="0">
                <a:solidFill>
                  <a:schemeClr val="tx1"/>
                </a:solidFill>
              </a:rPr>
              <a:t>Data Warehouse and reporting systems</a:t>
            </a:r>
            <a:endParaRPr lang="en-US" sz="21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D19D5068-9559-3823-6A21-2A4E50CAF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38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66850-3B0F-2250-B7E2-AE066D1F9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B-Tree Index Example</a:t>
            </a:r>
            <a:b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90C74-86A2-C218-AB88-CB17C6544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857" y="1524001"/>
            <a:ext cx="5804880" cy="44921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B-Tree indexes are the </a:t>
            </a:r>
            <a:r>
              <a:rPr lang="en-US" sz="2100" b="1" dirty="0">
                <a:solidFill>
                  <a:schemeClr val="tx1"/>
                </a:solidFill>
              </a:rPr>
              <a:t>default index type in Oracle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</a:p>
          <a:p>
            <a:pPr algn="l" defTabSz="914400">
              <a:lnSpc>
                <a:spcPct val="90000"/>
              </a:lnSpc>
            </a:pPr>
            <a:endParaRPr lang="en-US" sz="2100" b="1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100" b="1" dirty="0">
                <a:solidFill>
                  <a:schemeClr val="tx1"/>
                </a:solidFill>
              </a:rPr>
              <a:t>Best used when:</a:t>
            </a:r>
            <a:endParaRPr lang="en-US" sz="2100" dirty="0">
              <a:solidFill>
                <a:schemeClr val="tx1"/>
              </a:solidFill>
            </a:endParaRPr>
          </a:p>
          <a:p>
            <a:pPr marL="342900" indent="-342900" algn="l" defTabSz="9144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</a:rPr>
              <a:t>Column has many unique values</a:t>
            </a:r>
          </a:p>
          <a:p>
            <a:pPr marL="342900" indent="-342900" algn="l" defTabSz="9144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</a:rPr>
              <a:t>Used frequently in search conditions</a:t>
            </a:r>
          </a:p>
          <a:p>
            <a:pPr algn="l" defTabSz="914400"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100" b="1" dirty="0">
                <a:solidFill>
                  <a:schemeClr val="tx1"/>
                </a:solidFill>
              </a:rPr>
              <a:t>Example:</a:t>
            </a:r>
          </a:p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CREATE INDEX </a:t>
            </a:r>
            <a:r>
              <a:rPr lang="en-US" sz="2100" dirty="0" err="1">
                <a:solidFill>
                  <a:schemeClr val="tx1"/>
                </a:solidFill>
              </a:rPr>
              <a:t>idx_emp_dept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ON emp(</a:t>
            </a:r>
            <a:r>
              <a:rPr lang="en-US" sz="2100" dirty="0" err="1">
                <a:solidFill>
                  <a:schemeClr val="tx1"/>
                </a:solidFill>
              </a:rPr>
              <a:t>dept_id</a:t>
            </a:r>
            <a:r>
              <a:rPr lang="en-US" sz="2100" dirty="0">
                <a:solidFill>
                  <a:schemeClr val="tx1"/>
                </a:solidFill>
              </a:rPr>
              <a:t>);</a:t>
            </a:r>
          </a:p>
          <a:p>
            <a:pPr algn="l" defTabSz="914400"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This helps queries filtering by </a:t>
            </a:r>
            <a:r>
              <a:rPr lang="en-US" sz="2100" b="1" dirty="0">
                <a:solidFill>
                  <a:schemeClr val="tx1"/>
                </a:solidFill>
              </a:rPr>
              <a:t>DEPT_ID</a:t>
            </a:r>
            <a:r>
              <a:rPr lang="en-US" sz="2100" dirty="0">
                <a:solidFill>
                  <a:schemeClr val="tx1"/>
                </a:solidFill>
              </a:rPr>
              <a:t> run faster.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Venn Diagram">
            <a:extLst>
              <a:ext uri="{FF2B5EF4-FFF2-40B4-BE49-F238E27FC236}">
                <a16:creationId xmlns:a16="http://schemas.microsoft.com/office/drawing/2014/main" id="{EE045CFC-53D5-1FBE-07F4-F392668AF7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36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36BA-A1D4-AC30-109F-3AE8B87F1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Bitmap Index Example</a:t>
            </a:r>
            <a:b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A7797-84C8-1630-6BC5-5EE235E7D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321" y="1681653"/>
            <a:ext cx="5033221" cy="433451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Bitmap indexes are efficient for </a:t>
            </a:r>
            <a:r>
              <a:rPr lang="en-US" sz="2100" b="1" dirty="0">
                <a:solidFill>
                  <a:schemeClr val="tx1"/>
                </a:solidFill>
              </a:rPr>
              <a:t>columns with few distinct values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</a:p>
          <a:p>
            <a:pPr algn="l" defTabSz="914400">
              <a:lnSpc>
                <a:spcPct val="90000"/>
              </a:lnSpc>
            </a:pPr>
            <a:endParaRPr lang="en-US" sz="2100" b="1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100" b="1" dirty="0">
                <a:solidFill>
                  <a:schemeClr val="tx1"/>
                </a:solidFill>
              </a:rPr>
              <a:t>Example columns:</a:t>
            </a:r>
            <a:endParaRPr lang="en-US" sz="21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Gender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Status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Yes/No fields</a:t>
            </a:r>
          </a:p>
          <a:p>
            <a:pPr algn="l" defTabSz="914400"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100" b="1" dirty="0">
                <a:solidFill>
                  <a:schemeClr val="tx1"/>
                </a:solidFill>
              </a:rPr>
              <a:t>Example:</a:t>
            </a:r>
          </a:p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CREATE BITMAP INDEX </a:t>
            </a:r>
            <a:r>
              <a:rPr lang="en-US" sz="2100" dirty="0" err="1">
                <a:solidFill>
                  <a:schemeClr val="tx1"/>
                </a:solidFill>
              </a:rPr>
              <a:t>idx_emp_gender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ON emp(gender);</a:t>
            </a:r>
          </a:p>
          <a:p>
            <a:pPr algn="l" defTabSz="914400"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Mostly used in </a:t>
            </a:r>
            <a:r>
              <a:rPr lang="en-US" sz="2100" b="1" dirty="0">
                <a:solidFill>
                  <a:schemeClr val="tx1"/>
                </a:solidFill>
              </a:rPr>
              <a:t>data warehouse environments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FDDDBEBE-8818-5666-C2CE-CA6C71232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82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23F6D-D6D1-4415-BFE8-F4643D5C1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C687FB-5EBD-0FC5-8CA3-CAA680AA5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1336390"/>
            <a:ext cx="4616991" cy="11829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Index Best Practices:</a:t>
            </a:r>
            <a:br>
              <a:rPr lang="en-US" sz="3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E3F36B89-5B07-C5C3-C11E-5D43D48B1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832" y="2281066"/>
            <a:ext cx="4642809" cy="38927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dirty="0">
                <a:solidFill>
                  <a:schemeClr val="tx1">
                    <a:alpha val="80000"/>
                  </a:schemeClr>
                </a:solidFill>
              </a:rPr>
              <a:t>Do:</a:t>
            </a:r>
            <a:br>
              <a:rPr lang="en-US" sz="17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✔ Index frequently searched columns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✔ Index foreign keys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✔ Monitor unused indexes</a:t>
            </a:r>
            <a:br>
              <a:rPr lang="en-US" sz="17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3000" b="1" dirty="0">
                <a:solidFill>
                  <a:schemeClr val="tx1">
                    <a:alpha val="80000"/>
                  </a:schemeClr>
                </a:solidFill>
              </a:rPr>
              <a:t>Avoid:</a:t>
            </a:r>
            <a:br>
              <a:rPr lang="en-US" sz="17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❌ Too many indexes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❌ Indexing every column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❌ Indexing low-value columns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9F578284-6E55-3FDB-788A-C7E501416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9489" y="2424435"/>
            <a:ext cx="2661303" cy="2661303"/>
          </a:xfrm>
          <a:prstGeom prst="rect">
            <a:avLst/>
          </a:prstGeom>
        </p:spPr>
      </p:pic>
      <p:sp>
        <p:nvSpPr>
          <p:cNvPr id="16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899284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2189928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89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Session Summary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0" y="591344"/>
            <a:ext cx="5543343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b="1" dirty="0"/>
              <a:t>In this session we learned:</a:t>
            </a:r>
          </a:p>
          <a:p>
            <a:r>
              <a:rPr lang="en-US" dirty="0"/>
              <a:t>Performance Tunning basics</a:t>
            </a:r>
            <a:endParaRPr dirty="0"/>
          </a:p>
          <a:p>
            <a:r>
              <a:rPr dirty="0"/>
              <a:t>Index types (B-Tree &amp; Bitmap)</a:t>
            </a:r>
          </a:p>
          <a:p>
            <a:r>
              <a:rPr dirty="0"/>
              <a:t>Query optimization tips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E3A82-D847-FDF0-3476-C5B107F2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2830285" cy="1012372"/>
          </a:xfrm>
        </p:spPr>
        <p:txBody>
          <a:bodyPr>
            <a:normAutofit/>
          </a:bodyPr>
          <a:lstStyle/>
          <a:p>
            <a:r>
              <a:rPr lang="en-US" b="1" dirty="0"/>
              <a:t>QUIZ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rrows going up">
            <a:extLst>
              <a:ext uri="{FF2B5EF4-FFF2-40B4-BE49-F238E27FC236}">
                <a16:creationId xmlns:a16="http://schemas.microsoft.com/office/drawing/2014/main" id="{97BE1852-38F2-E804-C474-EFF0CA1DAE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10"/>
          <a:stretch>
            <a:fillRect/>
          </a:stretch>
        </p:blipFill>
        <p:spPr>
          <a:xfrm>
            <a:off x="1" y="2000490"/>
            <a:ext cx="2677885" cy="268727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B3E5-3F86-B6A4-13E3-3EE184E4A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7886" y="164792"/>
            <a:ext cx="6466113" cy="669320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1. Which situation is most likely to benefit from creating an index on a column?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A. The column contains the same value in nearly every row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B. The column is frequently used in WHERE predicates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C. The table contains only a few rows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D. The column is updated by every transaction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2. Given an index on CUSTOMER_ID, which query is generally most index-friendly when searching for one specific customer?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A. WHERE CUSTOMER_ID + 0 = 10525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B. WHERE CUSTOMER_ID = 10525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C. WHERE UPPER(CUSTOMER_ID) = '10525'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D. WHERE SUBSTR(CUSTOMER_ID,1,3) = '105’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3. A composite index is created on (COUNTRY_CODE, CUSTOMER_ID). Which predicate can directly use the leading portion of this index most effectively?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A. WHERE UPPER(COUNTRY_CODE) = 'OM'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B. WHERE CUSTOMER_ID = 1001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C. WHERE COUNTRY_CODE = 'OM'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D. WHERE CUSTOMER_ID + 1 = 1002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4. Why can creating too many indexes on a heavily updated table reduce overall performance?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A. Indexes prevent SELECT statements from running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B. DML operations must maintain the indexes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C. Indexes automatically partition every table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   D. Indexes remove table statistics</a:t>
            </a:r>
          </a:p>
          <a:p>
            <a:pPr marL="0" indent="0">
              <a:lnSpc>
                <a:spcPct val="90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48174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C1F39-0C5C-EEB0-13F2-D8E109D44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169821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 dirty="0">
                <a:solidFill>
                  <a:srgbClr val="FFFFFF"/>
                </a:solidFill>
              </a:rPr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6092F-11E6-D755-147D-94BE58875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107" y="100584"/>
            <a:ext cx="6042893" cy="6638544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5. In an Oracle execution plan, which access method generally indicates that Oracle is using an index to locate rows?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A. HASH JOIN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B. TABLE ACCESS FULL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C. SORT ORDER BY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D. INDEX RANGE SCAN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6. Why are optimizer statistics important for SQL performance?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A. They guarantee the fastest execution plan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B. They automatically rewrite every SQL query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C. They help the optimizer estimate row counts and choose execution plans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D. They replace all database indexes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7. A query becomes slow after a major data change even though the SQL and indexes have not changed. Which investigation is most appropriate first?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A. Immediately add five new indexes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B. Increase the SQL text length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C. Remove all WHERE conditions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D. Check execution plan and optimizer statistics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8. Which is the best general principle when deciding whether to create an index?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A. Create indexes based on workload, selectivity, and measured query performance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B. Index only columns with numeric data types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C. Create indexes without checking execution plans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D. Create an index on every column</a:t>
            </a:r>
          </a:p>
          <a:p>
            <a:pPr marL="0" indent="0">
              <a:lnSpc>
                <a:spcPct val="90000"/>
              </a:lnSpc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53594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79E44-2329-8452-AE09-51D9AA79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rgbClr val="FFFFFF"/>
                </a:solidFill>
              </a:rPr>
              <a:t>Assignment 1 — Identify the Performance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B27A0-4CB5-A1C7-661E-68F070010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1700" b="1"/>
              <a:t>Scenario:</a:t>
            </a:r>
            <a:br>
              <a:rPr lang="en-US" sz="1700"/>
            </a:br>
            <a:r>
              <a:rPr lang="en-US" sz="1700"/>
              <a:t>A query against a table containing </a:t>
            </a:r>
            <a:r>
              <a:rPr lang="en-US" sz="1700" b="1"/>
              <a:t>10 million rows</a:t>
            </a:r>
            <a:r>
              <a:rPr lang="en-US" sz="1700"/>
              <a:t> takes 45 seconds:</a:t>
            </a:r>
            <a:br>
              <a:rPr lang="en-US" sz="1700"/>
            </a:br>
            <a:br>
              <a:rPr lang="en-US" sz="1700"/>
            </a:br>
            <a:r>
              <a:rPr lang="en-US" sz="1700">
                <a:highlight>
                  <a:srgbClr val="C0C0C0"/>
                </a:highlight>
              </a:rPr>
              <a:t>SELECT customer_id, customer_name, status FROM customers WHERE customer_id = 10525;</a:t>
            </a:r>
            <a:br>
              <a:rPr lang="en-US" sz="1700">
                <a:highlight>
                  <a:srgbClr val="C0C0C0"/>
                </a:highlight>
              </a:rPr>
            </a:br>
            <a:br>
              <a:rPr lang="en-US" sz="1700">
                <a:highlight>
                  <a:srgbClr val="C0C0C0"/>
                </a:highlight>
              </a:rPr>
            </a:br>
            <a:r>
              <a:rPr lang="en-US" sz="1700" b="1"/>
              <a:t>Tasks:</a:t>
            </a:r>
          </a:p>
          <a:p>
            <a:pPr marL="514350" lvl="0" indent="-514350">
              <a:lnSpc>
                <a:spcPct val="90000"/>
              </a:lnSpc>
              <a:buAutoNum type="arabicPeriod"/>
            </a:pPr>
            <a:r>
              <a:rPr lang="en-US" sz="1700"/>
              <a:t>Identify why the query might be slow. </a:t>
            </a:r>
          </a:p>
          <a:p>
            <a:pPr marL="514350" lvl="0" indent="-514350">
              <a:lnSpc>
                <a:spcPct val="90000"/>
              </a:lnSpc>
              <a:buAutoNum type="arabicPeriod"/>
            </a:pPr>
            <a:r>
              <a:rPr lang="en-US" sz="1700"/>
              <a:t>Check whether an index exists on customer_id. </a:t>
            </a:r>
          </a:p>
          <a:p>
            <a:pPr marL="514350" lvl="0" indent="-514350">
              <a:lnSpc>
                <a:spcPct val="90000"/>
              </a:lnSpc>
              <a:buAutoNum type="arabicPeriod"/>
            </a:pPr>
            <a:r>
              <a:rPr lang="en-US" sz="1700"/>
              <a:t>Generate the execution plan. </a:t>
            </a:r>
          </a:p>
          <a:p>
            <a:pPr marL="514350" lvl="0" indent="-514350">
              <a:lnSpc>
                <a:spcPct val="90000"/>
              </a:lnSpc>
              <a:buAutoNum type="arabicPeriod"/>
            </a:pPr>
            <a:r>
              <a:rPr lang="en-US" sz="1700"/>
              <a:t>Compare the execution plan before and after creating an index. </a:t>
            </a:r>
          </a:p>
          <a:p>
            <a:pPr marL="514350" lvl="0" indent="-514350">
              <a:lnSpc>
                <a:spcPct val="90000"/>
              </a:lnSpc>
              <a:buAutoNum type="arabicPeriod"/>
            </a:pPr>
            <a:r>
              <a:rPr lang="en-US" sz="1700"/>
              <a:t>Explain the performance improvement.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700">
                <a:highlight>
                  <a:srgbClr val="C0C0C0"/>
                </a:highlight>
              </a:rPr>
            </a:br>
            <a:endParaRPr lang="en-US" sz="170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54903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4BC4D-8722-CB57-CE8B-BD8074FA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93338"/>
            <a:ext cx="6858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F9EF4-1EF7-1C5A-4AE6-88630830E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5514052"/>
            <a:ext cx="6858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9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12768</TotalTime>
  <Words>1375</Words>
  <Application>Microsoft Office PowerPoint</Application>
  <PresentationFormat>On-screen Show (4:3)</PresentationFormat>
  <Paragraphs>186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Wingdings</vt:lpstr>
      <vt:lpstr>Office Theme</vt:lpstr>
      <vt:lpstr>Session 7: Performance Tuning</vt:lpstr>
      <vt:lpstr>Recap – Session 6</vt:lpstr>
      <vt:lpstr>PowerPoint Presentation</vt:lpstr>
      <vt:lpstr>What is Database Performance Tuning?</vt:lpstr>
      <vt:lpstr>Common Performance Issues</vt:lpstr>
      <vt:lpstr>Important Metrics</vt:lpstr>
      <vt:lpstr>What is an Execution Plan</vt:lpstr>
      <vt:lpstr>Why is Execution Plan Important?</vt:lpstr>
      <vt:lpstr>How to Get Execution Plan in Oracle</vt:lpstr>
      <vt:lpstr>PowerPoint Presentation</vt:lpstr>
      <vt:lpstr>PowerPoint Presentation</vt:lpstr>
      <vt:lpstr>Types of Index in Oracle </vt:lpstr>
      <vt:lpstr>B-Tree Index Example </vt:lpstr>
      <vt:lpstr>Bitmap Index Example </vt:lpstr>
      <vt:lpstr>Index Best Practices: </vt:lpstr>
      <vt:lpstr>Session Summary</vt:lpstr>
      <vt:lpstr>QUIZ</vt:lpstr>
      <vt:lpstr>QUIZ</vt:lpstr>
      <vt:lpstr>Assignment 1 — Identify the Performance Problem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Ahad</cp:lastModifiedBy>
  <cp:revision>82</cp:revision>
  <dcterms:created xsi:type="dcterms:W3CDTF">2013-01-27T09:14:16Z</dcterms:created>
  <dcterms:modified xsi:type="dcterms:W3CDTF">2026-08-26T11:00:30Z</dcterms:modified>
  <cp:category/>
</cp:coreProperties>
</file>