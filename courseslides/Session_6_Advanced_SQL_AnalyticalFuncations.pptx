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7" r:id="rId3"/>
    <p:sldId id="284" r:id="rId4"/>
    <p:sldId id="257" r:id="rId5"/>
    <p:sldId id="258" r:id="rId6"/>
    <p:sldId id="259" r:id="rId7"/>
    <p:sldId id="272" r:id="rId8"/>
    <p:sldId id="273" r:id="rId9"/>
    <p:sldId id="274" r:id="rId10"/>
    <p:sldId id="285" r:id="rId11"/>
    <p:sldId id="286" r:id="rId12"/>
    <p:sldId id="287" r:id="rId13"/>
    <p:sldId id="267" r:id="rId14"/>
    <p:sldId id="290" r:id="rId15"/>
    <p:sldId id="288" r:id="rId16"/>
    <p:sldId id="28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245C4-1C2E-43C3-B119-EB7475241A41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401B-DF0A-4F59-852E-F26A39C4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C401B-DF0A-4F59-852E-F26A39C446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1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300" b="1" dirty="0"/>
              <a:t>Session 6</a:t>
            </a:r>
            <a:r>
              <a:rPr lang="en-US" sz="3300" dirty="0"/>
              <a:t>: </a:t>
            </a:r>
            <a:br>
              <a:rPr lang="en-US" sz="2100" dirty="0"/>
            </a:br>
            <a:br>
              <a:rPr lang="en-US" sz="2100" dirty="0"/>
            </a:br>
            <a:r>
              <a:rPr lang="en-US" sz="2800" b="1" dirty="0"/>
              <a:t>Advanced Database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1681653"/>
            <a:ext cx="5893710" cy="4334518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/>
              <a:t>Agenda</a:t>
            </a:r>
            <a:r>
              <a:rPr lang="en-US" sz="1500" b="1" dirty="0"/>
              <a:t>: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Introduction to Analytical Functions.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Why Analytical Functions? 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Analytical Function Syntax.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Ranking Functions. 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Aggregate Analytical Functions.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Lead and Lag Functions.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First and Last Functions.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Real-World Use Cases.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Performance Considerations.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Assignment.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Q&amp;A</a:t>
            </a:r>
            <a:endParaRPr lang="en-US" sz="25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rgbClr val="4E7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55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1" name="Picture 30" descr="Illuminated server room panel">
            <a:extLst>
              <a:ext uri="{FF2B5EF4-FFF2-40B4-BE49-F238E27FC236}">
                <a16:creationId xmlns:a16="http://schemas.microsoft.com/office/drawing/2014/main" id="{3F92AD72-A7DA-8806-A6FD-FDA71501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84" r="31115" b="-1"/>
          <a:stretch>
            <a:fillRect/>
          </a:stretch>
        </p:blipFill>
        <p:spPr>
          <a:xfrm>
            <a:off x="6815536" y="2865141"/>
            <a:ext cx="762312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AF5B-EB68-35B9-2531-2664085C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Recap – Session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8720-ECF1-05C4-6781-FBDB7228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343"/>
            <a:ext cx="6624963" cy="45248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Database Packages.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Exception Handling.</a:t>
            </a:r>
            <a:br>
              <a:rPr lang="en-US" sz="2200" dirty="0"/>
            </a:br>
            <a:r>
              <a:rPr lang="en-US" sz="2200" dirty="0">
                <a:sym typeface="Wingdings" panose="05000000000000000000" pitchFamily="2" charset="2"/>
              </a:rPr>
              <a:t> Till now we have completed below.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Load Source Data into Stage Schema.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Prepared Target Schema.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Created Fact and Dim(As Star Schema).</a:t>
            </a:r>
          </a:p>
          <a:p>
            <a:pPr lvl="2">
              <a:lnSpc>
                <a:spcPct val="90000"/>
              </a:lnSpc>
            </a:pPr>
            <a:r>
              <a:rPr lang="en-US" sz="2200" dirty="0"/>
              <a:t>Created Procedure which has truncate and insert logic.</a:t>
            </a:r>
          </a:p>
          <a:p>
            <a:pPr lvl="2">
              <a:lnSpc>
                <a:spcPct val="90000"/>
              </a:lnSpc>
            </a:pPr>
            <a:r>
              <a:rPr lang="en-US" sz="2200" dirty="0"/>
              <a:t>Created Procedure which has merge logic.</a:t>
            </a:r>
          </a:p>
          <a:p>
            <a:pPr lvl="2">
              <a:lnSpc>
                <a:spcPct val="90000"/>
              </a:lnSpc>
            </a:pPr>
            <a:r>
              <a:rPr lang="en-US" sz="2200" dirty="0"/>
              <a:t>Created Package contains Procedures.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2531E74E-D404-32B3-6A7A-3A0545606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762001"/>
            <a:ext cx="4279389" cy="1708242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200" b="1" dirty="0"/>
              <a:t>Introduction to Analytical Functions:</a:t>
            </a:r>
            <a:br>
              <a:rPr lang="en-US" sz="1900" b="1" dirty="0"/>
            </a:br>
            <a:br>
              <a:rPr lang="en-US" sz="1900" dirty="0"/>
            </a:br>
            <a:r>
              <a:rPr lang="en-US" sz="1900" dirty="0"/>
              <a:t>Analytical Functions (Window Functions) allow you to perform calculations across a set of rows related to the current row.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Key Points:</a:t>
            </a:r>
            <a:br>
              <a:rPr lang="en-US" sz="1700" b="1" dirty="0"/>
            </a:br>
            <a:br>
              <a:rPr lang="en-US" sz="1700" dirty="0"/>
            </a:br>
            <a:r>
              <a:rPr lang="en-US" sz="1700" dirty="0"/>
              <a:t>1. Used for advanced data analysis</a:t>
            </a:r>
            <a:br>
              <a:rPr lang="en-US" sz="1700" dirty="0"/>
            </a:br>
            <a:r>
              <a:rPr lang="en-US" sz="1700" dirty="0"/>
              <a:t>2. Do not collapse rows like GROUP BY</a:t>
            </a:r>
            <a:br>
              <a:rPr lang="en-US" sz="1700" dirty="0"/>
            </a:br>
            <a:r>
              <a:rPr lang="en-US" sz="1700" dirty="0"/>
              <a:t>3. Work with </a:t>
            </a:r>
            <a:r>
              <a:rPr lang="en-US" sz="1700" b="1" dirty="0"/>
              <a:t>OVER() clause</a:t>
            </a:r>
            <a:br>
              <a:rPr lang="en-US" sz="1700" b="1" dirty="0"/>
            </a:br>
            <a:r>
              <a:rPr lang="en-US" sz="1700" dirty="0"/>
              <a:t>4. Often used in reporting and data analytics</a:t>
            </a:r>
            <a:br>
              <a:rPr lang="en-US" sz="1700" dirty="0"/>
            </a:b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Common Uses: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a. Ranking</a:t>
            </a:r>
            <a:br>
              <a:rPr lang="en-US" sz="1700" dirty="0"/>
            </a:br>
            <a:r>
              <a:rPr lang="en-US" sz="1700" dirty="0"/>
              <a:t>b. Running totals</a:t>
            </a:r>
            <a:br>
              <a:rPr lang="en-US" sz="1700" dirty="0"/>
            </a:br>
            <a:r>
              <a:rPr lang="en-US" sz="1700" dirty="0"/>
              <a:t>c. Moving averages</a:t>
            </a:r>
          </a:p>
          <a:p>
            <a:pPr marL="0" indent="0">
              <a:buNone/>
            </a:pPr>
            <a:r>
              <a:rPr lang="en-US" sz="1700" dirty="0"/>
              <a:t> </a:t>
            </a:r>
          </a:p>
        </p:txBody>
      </p:sp>
      <p:pic>
        <p:nvPicPr>
          <p:cNvPr id="18" name="Picture 17" descr="Financial graphs on a dark display">
            <a:extLst>
              <a:ext uri="{FF2B5EF4-FFF2-40B4-BE49-F238E27FC236}">
                <a16:creationId xmlns:a16="http://schemas.microsoft.com/office/drawing/2014/main" id="{02D6739B-2008-2E9F-655A-F65978AB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94" r="34704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000" b="1" dirty="0"/>
              <a:t>Syntax of Analytical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543" y="1513115"/>
            <a:ext cx="5705024" cy="45030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Components</a:t>
            </a:r>
            <a:endParaRPr lang="en-US" sz="2400" dirty="0"/>
          </a:p>
          <a:p>
            <a:pPr marL="0" indent="0">
              <a:buNone/>
            </a:pPr>
            <a:r>
              <a:rPr lang="en-US" sz="2000" b="1" dirty="0"/>
              <a:t>FUNCTION_NAME</a:t>
            </a:r>
            <a:r>
              <a:rPr lang="en-US" sz="2000" dirty="0"/>
              <a:t> </a:t>
            </a:r>
            <a:r>
              <a:rPr lang="en-US" sz="2400" dirty="0"/>
              <a:t>– Analytical function used</a:t>
            </a:r>
          </a:p>
          <a:p>
            <a:pPr marL="0" indent="0">
              <a:buNone/>
            </a:pPr>
            <a:r>
              <a:rPr lang="en-US" sz="2000" b="1" dirty="0"/>
              <a:t>PARTITION BY</a:t>
            </a:r>
            <a:r>
              <a:rPr lang="en-US" sz="2000" dirty="0"/>
              <a:t> </a:t>
            </a:r>
            <a:r>
              <a:rPr lang="en-US" sz="2400" dirty="0"/>
              <a:t>– Divides result set into groups</a:t>
            </a:r>
          </a:p>
          <a:p>
            <a:pPr marL="0" indent="0">
              <a:buNone/>
            </a:pPr>
            <a:r>
              <a:rPr lang="en-US" sz="2000" b="1" dirty="0"/>
              <a:t>ORDER BY</a:t>
            </a:r>
            <a:r>
              <a:rPr lang="en-US" sz="2000" dirty="0"/>
              <a:t> </a:t>
            </a:r>
            <a:r>
              <a:rPr lang="en-US" sz="2400" dirty="0"/>
              <a:t>– Defines row order in partition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Syntax:</a:t>
            </a:r>
            <a:br>
              <a:rPr lang="en-US" sz="2400" dirty="0"/>
            </a:br>
            <a:r>
              <a:rPr lang="en-US" sz="2400" dirty="0"/>
              <a:t>FUNCTION_NAME(column)</a:t>
            </a:r>
            <a:br>
              <a:rPr lang="en-US" sz="2400" dirty="0"/>
            </a:br>
            <a:r>
              <a:rPr lang="en-US" sz="2400" dirty="0"/>
              <a:t>OVER (</a:t>
            </a:r>
            <a:br>
              <a:rPr lang="en-US" sz="2400" dirty="0"/>
            </a:br>
            <a:r>
              <a:rPr lang="en-US" sz="2400" dirty="0"/>
              <a:t>PARTITION BY column</a:t>
            </a:r>
            <a:br>
              <a:rPr lang="en-US" sz="2400" dirty="0"/>
            </a:br>
            <a:r>
              <a:rPr lang="en-US" sz="2400" dirty="0"/>
              <a:t>ORDER BY column</a:t>
            </a:r>
            <a:br>
              <a:rPr lang="en-US" sz="2400" dirty="0"/>
            </a:br>
            <a:r>
              <a:rPr lang="en-US" sz="2400" dirty="0"/>
              <a:t>)</a:t>
            </a:r>
            <a:endParaRPr lang="en-US" sz="2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2FA11371-147A-F3EE-9C19-0F4B42663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23247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23247"/>
            <a:ext cx="9144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1049953"/>
            <a:ext cx="6955884" cy="99654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defTabSz="914400"/>
            <a:r>
              <a:rPr lang="en-US" b="1" kern="1200" dirty="0">
                <a:latin typeface="+mj-lt"/>
                <a:ea typeface="+mj-ea"/>
                <a:cs typeface="+mj-cs"/>
              </a:rPr>
              <a:t>Common Analytical Functions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0345" y="7212507"/>
            <a:ext cx="5873655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1E140C1C-FC2F-6FED-6B79-BA5B8B1B7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50" b="19957"/>
          <a:stretch>
            <a:fillRect/>
          </a:stretch>
        </p:blipFill>
        <p:spPr>
          <a:xfrm>
            <a:off x="20" y="10"/>
            <a:ext cx="9143980" cy="1023247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08D3D3-D7C7-9C73-5C9C-8AD504142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994372"/>
              </p:ext>
            </p:extLst>
          </p:nvPr>
        </p:nvGraphicFramePr>
        <p:xfrm>
          <a:off x="788193" y="2429483"/>
          <a:ext cx="7358064" cy="34034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04256">
                  <a:extLst>
                    <a:ext uri="{9D8B030D-6E8A-4147-A177-3AD203B41FA5}">
                      <a16:colId xmlns:a16="http://schemas.microsoft.com/office/drawing/2014/main" val="1760541507"/>
                    </a:ext>
                  </a:extLst>
                </a:gridCol>
                <a:gridCol w="4253808">
                  <a:extLst>
                    <a:ext uri="{9D8B030D-6E8A-4147-A177-3AD203B41FA5}">
                      <a16:colId xmlns:a16="http://schemas.microsoft.com/office/drawing/2014/main" val="2447193619"/>
                    </a:ext>
                  </a:extLst>
                </a:gridCol>
              </a:tblGrid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Function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031688"/>
                  </a:ext>
                </a:extLst>
              </a:tr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ROW_NUMBER()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Assigns unique number to each row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166630"/>
                  </a:ext>
                </a:extLst>
              </a:tr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RANK()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Assigns rank with gaps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45838"/>
                  </a:ext>
                </a:extLst>
              </a:tr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DENSE_RANK()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Assigns rank without gaps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473009"/>
                  </a:ext>
                </a:extLst>
              </a:tr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LEAD()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Access next row value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095272"/>
                  </a:ext>
                </a:extLst>
              </a:tr>
              <a:tr h="56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LAG()</a:t>
                      </a:r>
                    </a:p>
                  </a:txBody>
                  <a:tcPr marL="236322" marR="141793" marT="141793" marB="14179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Access previous row value</a:t>
                      </a:r>
                    </a:p>
                  </a:txBody>
                  <a:tcPr marL="236322" marR="141793" marT="141793" marB="14179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7333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D019AE-DD84-5295-3DF3-D3515FB92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84" y="248038"/>
            <a:ext cx="5297791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5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Sample Table: EMPLOYEES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5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EBBF4E-8067-5B7F-1345-C1CAA291B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858217"/>
              </p:ext>
            </p:extLst>
          </p:nvPr>
        </p:nvGraphicFramePr>
        <p:xfrm>
          <a:off x="324168" y="1574312"/>
          <a:ext cx="8495664" cy="414721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1672057">
                  <a:extLst>
                    <a:ext uri="{9D8B030D-6E8A-4147-A177-3AD203B41FA5}">
                      <a16:colId xmlns:a16="http://schemas.microsoft.com/office/drawing/2014/main" val="4193121280"/>
                    </a:ext>
                  </a:extLst>
                </a:gridCol>
                <a:gridCol w="2306964">
                  <a:extLst>
                    <a:ext uri="{9D8B030D-6E8A-4147-A177-3AD203B41FA5}">
                      <a16:colId xmlns:a16="http://schemas.microsoft.com/office/drawing/2014/main" val="1684077231"/>
                    </a:ext>
                  </a:extLst>
                </a:gridCol>
                <a:gridCol w="2721701">
                  <a:extLst>
                    <a:ext uri="{9D8B030D-6E8A-4147-A177-3AD203B41FA5}">
                      <a16:colId xmlns:a16="http://schemas.microsoft.com/office/drawing/2014/main" val="1232394097"/>
                    </a:ext>
                  </a:extLst>
                </a:gridCol>
                <a:gridCol w="1794942">
                  <a:extLst>
                    <a:ext uri="{9D8B030D-6E8A-4147-A177-3AD203B41FA5}">
                      <a16:colId xmlns:a16="http://schemas.microsoft.com/office/drawing/2014/main" val="3980057362"/>
                    </a:ext>
                  </a:extLst>
                </a:gridCol>
              </a:tblGrid>
              <a:tr h="673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>
                          <a:solidFill>
                            <a:schemeClr val="tx1"/>
                          </a:solidFill>
                        </a:rPr>
                        <a:t>EMP_ID</a:t>
                      </a:r>
                    </a:p>
                  </a:txBody>
                  <a:tcPr marL="103223" marR="147462" marT="29492" marB="22119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>
                          <a:solidFill>
                            <a:schemeClr val="tx1"/>
                          </a:solidFill>
                        </a:rPr>
                        <a:t>EMP_NAME</a:t>
                      </a:r>
                    </a:p>
                  </a:txBody>
                  <a:tcPr marL="103223" marR="147462" marT="29492" marB="22119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</a:txBody>
                  <a:tcPr marL="103223" marR="147462" marT="29492" marB="22119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>
                          <a:solidFill>
                            <a:schemeClr val="tx1"/>
                          </a:solidFill>
                        </a:rPr>
                        <a:t>SALARY</a:t>
                      </a:r>
                    </a:p>
                  </a:txBody>
                  <a:tcPr marL="103223" marR="147462" marT="29492" marB="22119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885855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Amit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50000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13516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Neha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60000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82531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60000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6515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Priya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45000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485928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Karan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70000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63035"/>
                  </a:ext>
                </a:extLst>
              </a:tr>
              <a:tr h="5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marL="103223" marR="147462" marT="29492" marB="22119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Simran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65000</a:t>
                      </a:r>
                    </a:p>
                  </a:txBody>
                  <a:tcPr marL="103223" marR="147462" marT="29492" marB="221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919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77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8E56E1-AF9B-EA44-A439-3B148EDE6CCF}"/>
              </a:ext>
            </a:extLst>
          </p:cNvPr>
          <p:cNvSpPr txBox="1"/>
          <p:nvPr/>
        </p:nvSpPr>
        <p:spPr>
          <a:xfrm>
            <a:off x="130629" y="1898468"/>
            <a:ext cx="8595360" cy="3997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</a:rPr>
              <a:t>SELECT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 err="1">
                <a:solidFill>
                  <a:schemeClr val="tx2"/>
                </a:solidFill>
              </a:rPr>
              <a:t>emp_id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 err="1">
                <a:solidFill>
                  <a:schemeClr val="tx2"/>
                </a:solidFill>
              </a:rPr>
              <a:t>emp_name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department,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salary,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ROW_NUMBER() OVER (PARTITION BY department ORDER BY salary DESC) AS </a:t>
            </a:r>
            <a:r>
              <a:rPr lang="en-US" sz="1700" b="1" dirty="0" err="1">
                <a:solidFill>
                  <a:schemeClr val="tx2"/>
                </a:solidFill>
              </a:rPr>
              <a:t>row_num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RANK() OVER (PARTITION BY department ORDER BY salary DESC) AS </a:t>
            </a:r>
            <a:r>
              <a:rPr lang="en-US" sz="1700" b="1" dirty="0" err="1">
                <a:solidFill>
                  <a:schemeClr val="tx2"/>
                </a:solidFill>
              </a:rPr>
              <a:t>rank_num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DENSE_RANK() OVER (PARTITION BY department ORDER BY salary DESC) AS </a:t>
            </a:r>
            <a:r>
              <a:rPr lang="en-US" sz="1700" b="1" dirty="0" err="1">
                <a:solidFill>
                  <a:schemeClr val="tx2"/>
                </a:solidFill>
              </a:rPr>
              <a:t>dense_rank_num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LAG(salary,1) OVER (PARTITION BY department ORDER BY salary DESC) AS </a:t>
            </a:r>
            <a:r>
              <a:rPr lang="en-US" sz="1700" b="1" dirty="0" err="1">
                <a:solidFill>
                  <a:schemeClr val="tx2"/>
                </a:solidFill>
              </a:rPr>
              <a:t>previous_salary</a:t>
            </a:r>
            <a:r>
              <a:rPr lang="en-US" sz="1700" b="1" dirty="0">
                <a:solidFill>
                  <a:schemeClr val="tx2"/>
                </a:solidFill>
              </a:rPr>
              <a:t>,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LEAD(salary,1) OVER (PARTITION BY department ORDER BY salary DESC) AS </a:t>
            </a:r>
            <a:r>
              <a:rPr lang="en-US" sz="1700" b="1" dirty="0" err="1">
                <a:solidFill>
                  <a:schemeClr val="tx2"/>
                </a:solidFill>
              </a:rPr>
              <a:t>next_salary</a:t>
            </a:r>
            <a:br>
              <a:rPr lang="en-US" sz="1700" b="1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FROM employees;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9070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5B56527-DACA-8204-14F1-3A8CB55F0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84" y="248038"/>
            <a:ext cx="5297791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5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Output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500" b="0" i="0" u="none" strike="noStrike" kern="1200" cap="none" normalizeH="0" baseline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67F934-7E58-A3DD-4B9E-7A2A6624C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29619"/>
              </p:ext>
            </p:extLst>
          </p:nvPr>
        </p:nvGraphicFramePr>
        <p:xfrm>
          <a:off x="324168" y="1724297"/>
          <a:ext cx="8495665" cy="35996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53733">
                  <a:extLst>
                    <a:ext uri="{9D8B030D-6E8A-4147-A177-3AD203B41FA5}">
                      <a16:colId xmlns:a16="http://schemas.microsoft.com/office/drawing/2014/main" val="2153137567"/>
                    </a:ext>
                  </a:extLst>
                </a:gridCol>
                <a:gridCol w="1045544">
                  <a:extLst>
                    <a:ext uri="{9D8B030D-6E8A-4147-A177-3AD203B41FA5}">
                      <a16:colId xmlns:a16="http://schemas.microsoft.com/office/drawing/2014/main" val="1311391307"/>
                    </a:ext>
                  </a:extLst>
                </a:gridCol>
                <a:gridCol w="677034">
                  <a:extLst>
                    <a:ext uri="{9D8B030D-6E8A-4147-A177-3AD203B41FA5}">
                      <a16:colId xmlns:a16="http://schemas.microsoft.com/office/drawing/2014/main" val="4071543422"/>
                    </a:ext>
                  </a:extLst>
                </a:gridCol>
                <a:gridCol w="731486">
                  <a:extLst>
                    <a:ext uri="{9D8B030D-6E8A-4147-A177-3AD203B41FA5}">
                      <a16:colId xmlns:a16="http://schemas.microsoft.com/office/drawing/2014/main" val="730101557"/>
                    </a:ext>
                  </a:extLst>
                </a:gridCol>
                <a:gridCol w="1010715">
                  <a:extLst>
                    <a:ext uri="{9D8B030D-6E8A-4147-A177-3AD203B41FA5}">
                      <a16:colId xmlns:a16="http://schemas.microsoft.com/office/drawing/2014/main" val="2559396623"/>
                    </a:ext>
                  </a:extLst>
                </a:gridCol>
                <a:gridCol w="695634">
                  <a:extLst>
                    <a:ext uri="{9D8B030D-6E8A-4147-A177-3AD203B41FA5}">
                      <a16:colId xmlns:a16="http://schemas.microsoft.com/office/drawing/2014/main" val="153580488"/>
                    </a:ext>
                  </a:extLst>
                </a:gridCol>
                <a:gridCol w="1139705">
                  <a:extLst>
                    <a:ext uri="{9D8B030D-6E8A-4147-A177-3AD203B41FA5}">
                      <a16:colId xmlns:a16="http://schemas.microsoft.com/office/drawing/2014/main" val="1530136676"/>
                    </a:ext>
                  </a:extLst>
                </a:gridCol>
                <a:gridCol w="1168582">
                  <a:extLst>
                    <a:ext uri="{9D8B030D-6E8A-4147-A177-3AD203B41FA5}">
                      <a16:colId xmlns:a16="http://schemas.microsoft.com/office/drawing/2014/main" val="125175179"/>
                    </a:ext>
                  </a:extLst>
                </a:gridCol>
                <a:gridCol w="1173232">
                  <a:extLst>
                    <a:ext uri="{9D8B030D-6E8A-4147-A177-3AD203B41FA5}">
                      <a16:colId xmlns:a16="http://schemas.microsoft.com/office/drawing/2014/main" val="877275340"/>
                    </a:ext>
                  </a:extLst>
                </a:gridCol>
              </a:tblGrid>
              <a:tr h="78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EMP_ID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EMP_NAME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DEPT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SALARY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ROW_NUM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RANK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DENSE_RANK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PREV_SALARY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NEXT_SALARY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1008630412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Neha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HR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NULL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60000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1273052576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Raj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HR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50000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753374154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Amit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HR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NULL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2997054485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105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Karan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IT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NULL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65000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67017039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106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Simran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IT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65000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70000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45000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2646535240"/>
                  </a:ext>
                </a:extLst>
              </a:tr>
              <a:tr h="46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104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Priya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IT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45000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65000</a:t>
                      </a:r>
                    </a:p>
                  </a:txBody>
                  <a:tcPr marL="66959" marR="66959" marT="33480" marB="33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NULL</a:t>
                      </a:r>
                    </a:p>
                  </a:txBody>
                  <a:tcPr marL="66959" marR="66959" marT="33480" marB="33480" anchor="ctr"/>
                </a:tc>
                <a:extLst>
                  <a:ext uri="{0D108BD9-81ED-4DB2-BD59-A6C34878D82A}">
                    <a16:rowId xmlns:a16="http://schemas.microsoft.com/office/drawing/2014/main" val="193651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47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7B152C-53E1-D552-5EE0-BD180AD87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3 Employees per Department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32F27-4725-C900-2557-7DC64A60B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2977247"/>
            <a:ext cx="7696190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SELECT * FROM (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SELECT </a:t>
            </a:r>
            <a:r>
              <a:rPr lang="en-US" sz="2100" dirty="0" err="1">
                <a:solidFill>
                  <a:schemeClr val="tx1"/>
                </a:solidFill>
              </a:rPr>
              <a:t>emp_name,dept,salary</a:t>
            </a:r>
            <a:r>
              <a:rPr lang="en-US" sz="2100" dirty="0">
                <a:solidFill>
                  <a:schemeClr val="tx1"/>
                </a:solidFill>
              </a:rPr>
              <a:t>,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ROW_NUMBER()OVER(PARTITION BY dept ORDER BY salary DESC) </a:t>
            </a:r>
            <a:r>
              <a:rPr lang="en-US" sz="2100" dirty="0" err="1">
                <a:solidFill>
                  <a:schemeClr val="tx1"/>
                </a:solidFill>
              </a:rPr>
              <a:t>rn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FROM employees)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WHERE </a:t>
            </a:r>
            <a:r>
              <a:rPr lang="en-US" sz="2100" dirty="0" err="1">
                <a:solidFill>
                  <a:schemeClr val="tx1"/>
                </a:solidFill>
              </a:rPr>
              <a:t>rn</a:t>
            </a:r>
            <a:r>
              <a:rPr lang="en-US" sz="2100" dirty="0">
                <a:solidFill>
                  <a:schemeClr val="tx1"/>
                </a:solidFill>
              </a:rPr>
              <a:t> &gt;= 3;</a:t>
            </a:r>
          </a:p>
        </p:txBody>
      </p:sp>
    </p:spTree>
    <p:extLst>
      <p:ext uri="{BB962C8B-B14F-4D97-AF65-F5344CB8AC3E}">
        <p14:creationId xmlns:p14="http://schemas.microsoft.com/office/powerpoint/2010/main" val="221312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0428-3CAA-0654-AE81-0F338A7D4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5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Real-World Use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C1083-47B4-7C39-BAC2-B3F6503FD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Banking</a:t>
            </a:r>
          </a:p>
          <a:p>
            <a:pPr marL="1371600" lvl="2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Transaction analysis </a:t>
            </a:r>
          </a:p>
          <a:p>
            <a:pPr marL="1371600" lvl="2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Running balances</a:t>
            </a:r>
          </a:p>
          <a:p>
            <a:pPr marL="457200" lvl="2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Retail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Top customers 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Sales trends</a:t>
            </a:r>
          </a:p>
          <a:p>
            <a:pPr marL="457200" lvl="2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HR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Salary ranking 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Department comparisons</a:t>
            </a:r>
          </a:p>
          <a:p>
            <a:pPr marL="457200" lvl="2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Data Warehousing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KPI calculations </a:t>
            </a:r>
          </a:p>
          <a:p>
            <a:pPr marL="1371600" lvl="4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Trend analysis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orld">
            <a:extLst>
              <a:ext uri="{FF2B5EF4-FFF2-40B4-BE49-F238E27FC236}">
                <a16:creationId xmlns:a16="http://schemas.microsoft.com/office/drawing/2014/main" id="{FD039896-1DC0-50A7-6322-FA9DBE339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7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9A2C-8651-78CF-B1C7-52CD73E90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687480"/>
            <a:ext cx="7189434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Considerations &amp;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6EBCA-E252-F702-DD9D-98DABD05E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" y="1847089"/>
            <a:ext cx="5971031" cy="30998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indexes on partition and order columns.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Avoid unnecessary sorting.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Partition large tables properly.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Filter data before applying analytic functions.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meaningful aliases.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 window frames carefully.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Prefer analytic functions over self-joins.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23C0BEF5-B43A-FB55-F904-FE9C7A597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9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 dirty="0"/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1938529"/>
            <a:ext cx="5033221" cy="27157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Analytic functions helps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Simplify SQL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Improve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Create advanced reports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Perform trend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Eliminate complex self-joins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Calculator">
            <a:extLst>
              <a:ext uri="{FF2B5EF4-FFF2-40B4-BE49-F238E27FC236}">
                <a16:creationId xmlns:a16="http://schemas.microsoft.com/office/drawing/2014/main" id="{B7A985C6-F3FF-3BF4-EAAF-6CC58794B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37649-B677-D34F-5A33-63866C31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1"/>
            <a:ext cx="4000647" cy="783770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5040-A38B-1227-3F2E-AE8332D7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31372"/>
            <a:ext cx="5143346" cy="560870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1. Which analytical function is used to assign a unique sequential number to each row?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A. RANK()</a:t>
            </a:r>
            <a:br>
              <a:rPr lang="en-US" sz="1300" dirty="0"/>
            </a:br>
            <a:r>
              <a:rPr lang="en-US" sz="1300" dirty="0"/>
              <a:t>B. DENSE_RANK()</a:t>
            </a:r>
            <a:br>
              <a:rPr lang="en-US" sz="1300" dirty="0"/>
            </a:br>
            <a:r>
              <a:rPr lang="en-US" sz="1300" dirty="0"/>
              <a:t>C. ROW_NUMBER()</a:t>
            </a:r>
            <a:br>
              <a:rPr lang="en-US" sz="1300" dirty="0"/>
            </a:br>
            <a:r>
              <a:rPr lang="en-US" sz="1300" dirty="0"/>
              <a:t>D. NTILE()</a:t>
            </a: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2.</a:t>
            </a:r>
            <a:r>
              <a:rPr lang="en-US" sz="1300" b="1" dirty="0"/>
              <a:t>What is the difference between RANK() and DENSE_RANK()?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A. There is no difference.</a:t>
            </a:r>
            <a:br>
              <a:rPr lang="en-US" sz="1300" dirty="0"/>
            </a:br>
            <a:r>
              <a:rPr lang="en-US" sz="1300" dirty="0"/>
              <a:t>B. RANK() skips ranking numbers after a tie, while DENSE_RANK() does not.</a:t>
            </a:r>
            <a:br>
              <a:rPr lang="en-US" sz="1300" dirty="0"/>
            </a:br>
            <a:r>
              <a:rPr lang="en-US" sz="1300" dirty="0"/>
              <a:t>C. DENSE_RANK() skips ranking numbers after a tie, while RANK() does not.</a:t>
            </a:r>
            <a:br>
              <a:rPr lang="en-US" sz="1300" dirty="0"/>
            </a:br>
            <a:r>
              <a:rPr lang="en-US" sz="1300" dirty="0"/>
              <a:t>D. RANK() only works with numbers.</a:t>
            </a: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3. Which analytical function returns the previous row's value within the same result set?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A. LEAD()</a:t>
            </a:r>
            <a:br>
              <a:rPr lang="en-US" sz="1300" dirty="0"/>
            </a:br>
            <a:r>
              <a:rPr lang="en-US" sz="1300" dirty="0"/>
              <a:t>B. LAG()</a:t>
            </a:r>
            <a:br>
              <a:rPr lang="en-US" sz="1300" dirty="0"/>
            </a:br>
            <a:r>
              <a:rPr lang="en-US" sz="1300" dirty="0"/>
              <a:t>C. FIRST_VALUE()</a:t>
            </a:r>
            <a:br>
              <a:rPr lang="en-US" sz="1300" dirty="0"/>
            </a:br>
            <a:r>
              <a:rPr lang="en-US" sz="1300" dirty="0"/>
              <a:t>D. LAST_VALUE()</a:t>
            </a: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4. </a:t>
            </a:r>
            <a:r>
              <a:rPr lang="en-US" sz="1300" b="1" dirty="0"/>
              <a:t>Which clause is mandatory when using an analytical function?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A. GROUP BY</a:t>
            </a:r>
            <a:br>
              <a:rPr lang="en-US" sz="1300" dirty="0"/>
            </a:br>
            <a:r>
              <a:rPr lang="en-US" sz="1300" dirty="0"/>
              <a:t>B. HAVING</a:t>
            </a:r>
            <a:br>
              <a:rPr lang="en-US" sz="1300" dirty="0"/>
            </a:br>
            <a:r>
              <a:rPr lang="en-US" sz="1300" dirty="0"/>
              <a:t>C. OVER()</a:t>
            </a:r>
            <a:br>
              <a:rPr lang="en-US" sz="1300" dirty="0"/>
            </a:br>
            <a:r>
              <a:rPr lang="en-US" sz="1300" dirty="0"/>
              <a:t>D. DISTINCT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</p:txBody>
      </p:sp>
      <p:pic>
        <p:nvPicPr>
          <p:cNvPr id="5" name="Picture 4" descr="Classroom sticker progress chart">
            <a:extLst>
              <a:ext uri="{FF2B5EF4-FFF2-40B4-BE49-F238E27FC236}">
                <a16:creationId xmlns:a16="http://schemas.microsoft.com/office/drawing/2014/main" id="{548C61E3-1AB4-0881-656F-45EB6BEAA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78" r="4739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0266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5F84-DA5E-D475-9193-AA10F7BFA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5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EA96F-0C17-C3B3-7CF5-EBDB3D9A6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17" y="1563625"/>
            <a:ext cx="5300326" cy="38404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Design an Execution Control &amp; Audit Logging table that captures detailed statistics for every procedure execution. Each time the procedure is run, the table should automatically store a new record with date and name of the procedure. 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 total sales per country using analytic function (not GROUP BY).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Rank countries based on total sales.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 the highest sale transaction in each country.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Identify top 2 customers per country.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Calculate total sales per product.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 most sold product in each country.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encil">
            <a:extLst>
              <a:ext uri="{FF2B5EF4-FFF2-40B4-BE49-F238E27FC236}">
                <a16:creationId xmlns:a16="http://schemas.microsoft.com/office/drawing/2014/main" id="{DBA5DFFC-E2E0-76A8-6E10-5A8F1B9EC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7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9E9E5-3722-5B4D-E879-2349F167B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825" y="735283"/>
            <a:ext cx="3733800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4500" b="1" dirty="0"/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83767-421A-2668-0C66-10BE11CB9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4078423"/>
            <a:ext cx="3733800" cy="205865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Questions !!!!!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6DC1F79-B7EE-60AF-2CF6-65CCA48F2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EE451F9-83CC-4E39-84D3-0E06B15DB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45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4969</TotalTime>
  <Words>938</Words>
  <Application>Microsoft Office PowerPoint</Application>
  <PresentationFormat>On-screen Show (4:3)</PresentationFormat>
  <Paragraphs>194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Session 6:   Advanced Database Concepts</vt:lpstr>
      <vt:lpstr>Recap – Session 5</vt:lpstr>
      <vt:lpstr>PowerPoint Presentation</vt:lpstr>
      <vt:lpstr>Introduction to Analytical Functions:  Analytical Functions (Window Functions) allow you to perform calculations across a set of rows related to the current row.</vt:lpstr>
      <vt:lpstr>Syntax of Analytical Functions</vt:lpstr>
      <vt:lpstr>Common Analytical Functions</vt:lpstr>
      <vt:lpstr>PowerPoint Presentation</vt:lpstr>
      <vt:lpstr>PowerPoint Presentation</vt:lpstr>
      <vt:lpstr>PowerPoint Presentation</vt:lpstr>
      <vt:lpstr>Top 3 Employees per Department</vt:lpstr>
      <vt:lpstr>Real-World Use Cases</vt:lpstr>
      <vt:lpstr>Performance Considerations &amp; Best Practices</vt:lpstr>
      <vt:lpstr>Session Summary</vt:lpstr>
      <vt:lpstr>QUIZ</vt:lpstr>
      <vt:lpstr>Assignment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Abdullah Al Riyami</dc:creator>
  <cp:keywords/>
  <dc:description>generated using python-pptx</dc:description>
  <cp:lastModifiedBy>Abdullah Al Riyami</cp:lastModifiedBy>
  <cp:revision>75</cp:revision>
  <dcterms:created xsi:type="dcterms:W3CDTF">2013-01-27T09:14:16Z</dcterms:created>
  <dcterms:modified xsi:type="dcterms:W3CDTF">2026-08-23T07:08:25Z</dcterms:modified>
  <cp:category/>
</cp:coreProperties>
</file>