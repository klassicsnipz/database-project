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7" r:id="rId4"/>
    <p:sldId id="281" r:id="rId5"/>
    <p:sldId id="278" r:id="rId6"/>
    <p:sldId id="258" r:id="rId7"/>
    <p:sldId id="259" r:id="rId8"/>
    <p:sldId id="260" r:id="rId9"/>
    <p:sldId id="261" r:id="rId10"/>
    <p:sldId id="262" r:id="rId11"/>
    <p:sldId id="282" r:id="rId12"/>
    <p:sldId id="283" r:id="rId13"/>
    <p:sldId id="269" r:id="rId14"/>
    <p:sldId id="271" r:id="rId15"/>
    <p:sldId id="272" r:id="rId16"/>
    <p:sldId id="273" r:id="rId17"/>
    <p:sldId id="274" r:id="rId18"/>
    <p:sldId id="263" r:id="rId19"/>
    <p:sldId id="275" r:id="rId20"/>
    <p:sldId id="280" r:id="rId21"/>
    <p:sldId id="276" r:id="rId22"/>
    <p:sldId id="279" r:id="rId23"/>
    <p:sldId id="268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A328FCA-B93E-4D5C-8DF7-4BC89D77F9A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207EDDA-69E3-40F1-9D47-2BD5620689FA}">
      <dgm:prSet/>
      <dgm:spPr/>
      <dgm:t>
        <a:bodyPr/>
        <a:lstStyle/>
        <a:p>
          <a:r>
            <a:rPr lang="en-US" dirty="0"/>
            <a:t>Primary Key (PK)</a:t>
          </a:r>
        </a:p>
      </dgm:t>
    </dgm:pt>
    <dgm:pt modelId="{89A56F29-C5F6-431C-B1C7-7D23E0822DAF}" type="parTrans" cxnId="{ACE68B40-A29A-4375-BC36-62DFE95BD5F1}">
      <dgm:prSet/>
      <dgm:spPr/>
      <dgm:t>
        <a:bodyPr/>
        <a:lstStyle/>
        <a:p>
          <a:endParaRPr lang="en-US"/>
        </a:p>
      </dgm:t>
    </dgm:pt>
    <dgm:pt modelId="{E00744F1-E52C-457B-B97D-75F9C04672D3}" type="sibTrans" cxnId="{ACE68B40-A29A-4375-BC36-62DFE95BD5F1}">
      <dgm:prSet/>
      <dgm:spPr/>
      <dgm:t>
        <a:bodyPr/>
        <a:lstStyle/>
        <a:p>
          <a:endParaRPr lang="en-US"/>
        </a:p>
      </dgm:t>
    </dgm:pt>
    <dgm:pt modelId="{A9E9495B-D886-44A4-AC22-5B5A37480162}">
      <dgm:prSet/>
      <dgm:spPr/>
      <dgm:t>
        <a:bodyPr/>
        <a:lstStyle/>
        <a:p>
          <a:r>
            <a:rPr lang="en-US"/>
            <a:t>Foreign Key (FK)</a:t>
          </a:r>
        </a:p>
      </dgm:t>
    </dgm:pt>
    <dgm:pt modelId="{E5B2844A-84D4-4F6C-BA32-9FF8558EB7FA}" type="parTrans" cxnId="{E97D8C1F-208B-4359-8CCC-09C57411AD4A}">
      <dgm:prSet/>
      <dgm:spPr/>
      <dgm:t>
        <a:bodyPr/>
        <a:lstStyle/>
        <a:p>
          <a:endParaRPr lang="en-US"/>
        </a:p>
      </dgm:t>
    </dgm:pt>
    <dgm:pt modelId="{E34CB21D-9C0C-4F94-B8DA-19430B3EDE5E}" type="sibTrans" cxnId="{E97D8C1F-208B-4359-8CCC-09C57411AD4A}">
      <dgm:prSet/>
      <dgm:spPr/>
      <dgm:t>
        <a:bodyPr/>
        <a:lstStyle/>
        <a:p>
          <a:endParaRPr lang="en-US"/>
        </a:p>
      </dgm:t>
    </dgm:pt>
    <dgm:pt modelId="{F7546028-D9D2-400D-A9FD-C0A734A97DF8}">
      <dgm:prSet/>
      <dgm:spPr/>
      <dgm:t>
        <a:bodyPr/>
        <a:lstStyle/>
        <a:p>
          <a:r>
            <a:rPr lang="en-US"/>
            <a:t>Composite Key</a:t>
          </a:r>
        </a:p>
      </dgm:t>
    </dgm:pt>
    <dgm:pt modelId="{9CE98DFF-4F91-4F57-BF26-89E6A1286771}" type="parTrans" cxnId="{29E9EBFE-C309-45AE-8F7C-8C3F6CAA8FF0}">
      <dgm:prSet/>
      <dgm:spPr/>
      <dgm:t>
        <a:bodyPr/>
        <a:lstStyle/>
        <a:p>
          <a:endParaRPr lang="en-US"/>
        </a:p>
      </dgm:t>
    </dgm:pt>
    <dgm:pt modelId="{D9AB23C9-5589-4044-8EE1-5F11DFE94886}" type="sibTrans" cxnId="{29E9EBFE-C309-45AE-8F7C-8C3F6CAA8FF0}">
      <dgm:prSet/>
      <dgm:spPr/>
      <dgm:t>
        <a:bodyPr/>
        <a:lstStyle/>
        <a:p>
          <a:endParaRPr lang="en-US"/>
        </a:p>
      </dgm:t>
    </dgm:pt>
    <dgm:pt modelId="{02BB7AFC-D55B-4EED-AA4A-24E315643B79}">
      <dgm:prSet/>
      <dgm:spPr/>
      <dgm:t>
        <a:bodyPr/>
        <a:lstStyle/>
        <a:p>
          <a:r>
            <a:rPr lang="en-US"/>
            <a:t>Surrogate Key</a:t>
          </a:r>
        </a:p>
      </dgm:t>
    </dgm:pt>
    <dgm:pt modelId="{E5414A98-1956-4732-8291-3F2461B06CBA}" type="parTrans" cxnId="{140B2A58-126E-4B42-9C0D-29AB4641B080}">
      <dgm:prSet/>
      <dgm:spPr/>
      <dgm:t>
        <a:bodyPr/>
        <a:lstStyle/>
        <a:p>
          <a:endParaRPr lang="en-US"/>
        </a:p>
      </dgm:t>
    </dgm:pt>
    <dgm:pt modelId="{4A07B2C9-AEA6-486B-BDF2-F7D69D70BB4B}" type="sibTrans" cxnId="{140B2A58-126E-4B42-9C0D-29AB4641B080}">
      <dgm:prSet/>
      <dgm:spPr/>
      <dgm:t>
        <a:bodyPr/>
        <a:lstStyle/>
        <a:p>
          <a:endParaRPr lang="en-US"/>
        </a:p>
      </dgm:t>
    </dgm:pt>
    <dgm:pt modelId="{EE2BD5EA-1C30-49FA-971A-80941D7C3D94}" type="pres">
      <dgm:prSet presAssocID="{BA328FCA-B93E-4D5C-8DF7-4BC89D77F9AD}" presName="linear" presStyleCnt="0">
        <dgm:presLayoutVars>
          <dgm:animLvl val="lvl"/>
          <dgm:resizeHandles val="exact"/>
        </dgm:presLayoutVars>
      </dgm:prSet>
      <dgm:spPr/>
    </dgm:pt>
    <dgm:pt modelId="{FDC4C7B5-8515-42A0-BAC9-C7647527158B}" type="pres">
      <dgm:prSet presAssocID="{9207EDDA-69E3-40F1-9D47-2BD5620689F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ABDF1C7-0404-4697-BEB0-82CBF0759C02}" type="pres">
      <dgm:prSet presAssocID="{E00744F1-E52C-457B-B97D-75F9C04672D3}" presName="spacer" presStyleCnt="0"/>
      <dgm:spPr/>
    </dgm:pt>
    <dgm:pt modelId="{263A7BD0-038E-4E7D-9760-C30FC96CB2FF}" type="pres">
      <dgm:prSet presAssocID="{A9E9495B-D886-44A4-AC22-5B5A3748016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9B74823-9A70-4114-AE67-370B944CB34F}" type="pres">
      <dgm:prSet presAssocID="{E34CB21D-9C0C-4F94-B8DA-19430B3EDE5E}" presName="spacer" presStyleCnt="0"/>
      <dgm:spPr/>
    </dgm:pt>
    <dgm:pt modelId="{9658AD77-BA0E-45F3-BD90-8F9D33D1DA1C}" type="pres">
      <dgm:prSet presAssocID="{F7546028-D9D2-400D-A9FD-C0A734A97DF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DC5EDF1-C99B-48D2-8EE6-EC3F612D88B7}" type="pres">
      <dgm:prSet presAssocID="{D9AB23C9-5589-4044-8EE1-5F11DFE94886}" presName="spacer" presStyleCnt="0"/>
      <dgm:spPr/>
    </dgm:pt>
    <dgm:pt modelId="{9776EE11-5291-472F-806C-C97A87F97E93}" type="pres">
      <dgm:prSet presAssocID="{02BB7AFC-D55B-4EED-AA4A-24E315643B7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42FD21C-51A9-4632-BA93-39121F5459C4}" type="presOf" srcId="{02BB7AFC-D55B-4EED-AA4A-24E315643B79}" destId="{9776EE11-5291-472F-806C-C97A87F97E93}" srcOrd="0" destOrd="0" presId="urn:microsoft.com/office/officeart/2005/8/layout/vList2"/>
    <dgm:cxn modelId="{E97D8C1F-208B-4359-8CCC-09C57411AD4A}" srcId="{BA328FCA-B93E-4D5C-8DF7-4BC89D77F9AD}" destId="{A9E9495B-D886-44A4-AC22-5B5A37480162}" srcOrd="1" destOrd="0" parTransId="{E5B2844A-84D4-4F6C-BA32-9FF8558EB7FA}" sibTransId="{E34CB21D-9C0C-4F94-B8DA-19430B3EDE5E}"/>
    <dgm:cxn modelId="{ACE68B40-A29A-4375-BC36-62DFE95BD5F1}" srcId="{BA328FCA-B93E-4D5C-8DF7-4BC89D77F9AD}" destId="{9207EDDA-69E3-40F1-9D47-2BD5620689FA}" srcOrd="0" destOrd="0" parTransId="{89A56F29-C5F6-431C-B1C7-7D23E0822DAF}" sibTransId="{E00744F1-E52C-457B-B97D-75F9C04672D3}"/>
    <dgm:cxn modelId="{0BBFB24F-43D4-4BB0-8DA8-BE389255B3C0}" type="presOf" srcId="{A9E9495B-D886-44A4-AC22-5B5A37480162}" destId="{263A7BD0-038E-4E7D-9760-C30FC96CB2FF}" srcOrd="0" destOrd="0" presId="urn:microsoft.com/office/officeart/2005/8/layout/vList2"/>
    <dgm:cxn modelId="{140B2A58-126E-4B42-9C0D-29AB4641B080}" srcId="{BA328FCA-B93E-4D5C-8DF7-4BC89D77F9AD}" destId="{02BB7AFC-D55B-4EED-AA4A-24E315643B79}" srcOrd="3" destOrd="0" parTransId="{E5414A98-1956-4732-8291-3F2461B06CBA}" sibTransId="{4A07B2C9-AEA6-486B-BDF2-F7D69D70BB4B}"/>
    <dgm:cxn modelId="{C3E9D1CB-9B64-4139-AE39-9F364312F083}" type="presOf" srcId="{BA328FCA-B93E-4D5C-8DF7-4BC89D77F9AD}" destId="{EE2BD5EA-1C30-49FA-971A-80941D7C3D94}" srcOrd="0" destOrd="0" presId="urn:microsoft.com/office/officeart/2005/8/layout/vList2"/>
    <dgm:cxn modelId="{E921A8CD-3318-488E-8FB6-843212C50675}" type="presOf" srcId="{9207EDDA-69E3-40F1-9D47-2BD5620689FA}" destId="{FDC4C7B5-8515-42A0-BAC9-C7647527158B}" srcOrd="0" destOrd="0" presId="urn:microsoft.com/office/officeart/2005/8/layout/vList2"/>
    <dgm:cxn modelId="{7267AEEB-E439-4252-907E-7423428E0A41}" type="presOf" srcId="{F7546028-D9D2-400D-A9FD-C0A734A97DF8}" destId="{9658AD77-BA0E-45F3-BD90-8F9D33D1DA1C}" srcOrd="0" destOrd="0" presId="urn:microsoft.com/office/officeart/2005/8/layout/vList2"/>
    <dgm:cxn modelId="{29E9EBFE-C309-45AE-8F7C-8C3F6CAA8FF0}" srcId="{BA328FCA-B93E-4D5C-8DF7-4BC89D77F9AD}" destId="{F7546028-D9D2-400D-A9FD-C0A734A97DF8}" srcOrd="2" destOrd="0" parTransId="{9CE98DFF-4F91-4F57-BF26-89E6A1286771}" sibTransId="{D9AB23C9-5589-4044-8EE1-5F11DFE94886}"/>
    <dgm:cxn modelId="{2E2BA801-4D06-443A-9BFD-305D1F88437D}" type="presParOf" srcId="{EE2BD5EA-1C30-49FA-971A-80941D7C3D94}" destId="{FDC4C7B5-8515-42A0-BAC9-C7647527158B}" srcOrd="0" destOrd="0" presId="urn:microsoft.com/office/officeart/2005/8/layout/vList2"/>
    <dgm:cxn modelId="{87E6D2FE-99D3-4782-9451-2A7DD4DB5C88}" type="presParOf" srcId="{EE2BD5EA-1C30-49FA-971A-80941D7C3D94}" destId="{AABDF1C7-0404-4697-BEB0-82CBF0759C02}" srcOrd="1" destOrd="0" presId="urn:microsoft.com/office/officeart/2005/8/layout/vList2"/>
    <dgm:cxn modelId="{0507A620-BC53-49AB-A12D-D0A159BE416B}" type="presParOf" srcId="{EE2BD5EA-1C30-49FA-971A-80941D7C3D94}" destId="{263A7BD0-038E-4E7D-9760-C30FC96CB2FF}" srcOrd="2" destOrd="0" presId="urn:microsoft.com/office/officeart/2005/8/layout/vList2"/>
    <dgm:cxn modelId="{53633C79-0C1D-427B-82C6-BF64EE17F288}" type="presParOf" srcId="{EE2BD5EA-1C30-49FA-971A-80941D7C3D94}" destId="{A9B74823-9A70-4114-AE67-370B944CB34F}" srcOrd="3" destOrd="0" presId="urn:microsoft.com/office/officeart/2005/8/layout/vList2"/>
    <dgm:cxn modelId="{F774F51B-09F0-42AA-B016-F33F87E109FC}" type="presParOf" srcId="{EE2BD5EA-1C30-49FA-971A-80941D7C3D94}" destId="{9658AD77-BA0E-45F3-BD90-8F9D33D1DA1C}" srcOrd="4" destOrd="0" presId="urn:microsoft.com/office/officeart/2005/8/layout/vList2"/>
    <dgm:cxn modelId="{0382E490-DF10-4CA1-B69F-BC01B596554C}" type="presParOf" srcId="{EE2BD5EA-1C30-49FA-971A-80941D7C3D94}" destId="{ADC5EDF1-C99B-48D2-8EE6-EC3F612D88B7}" srcOrd="5" destOrd="0" presId="urn:microsoft.com/office/officeart/2005/8/layout/vList2"/>
    <dgm:cxn modelId="{5C4E5C27-466E-431F-BFB0-979627ECEDDB}" type="presParOf" srcId="{EE2BD5EA-1C30-49FA-971A-80941D7C3D94}" destId="{9776EE11-5291-472F-806C-C97A87F97E9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C4C7B5-8515-42A0-BAC9-C7647527158B}">
      <dsp:nvSpPr>
        <dsp:cNvPr id="0" name=""/>
        <dsp:cNvSpPr/>
      </dsp:nvSpPr>
      <dsp:spPr>
        <a:xfrm>
          <a:off x="0" y="891247"/>
          <a:ext cx="3621129" cy="88744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Primary Key (PK)</a:t>
          </a:r>
        </a:p>
      </dsp:txBody>
      <dsp:txXfrm>
        <a:off x="43321" y="934568"/>
        <a:ext cx="3534487" cy="800803"/>
      </dsp:txXfrm>
    </dsp:sp>
    <dsp:sp modelId="{263A7BD0-038E-4E7D-9760-C30FC96CB2FF}">
      <dsp:nvSpPr>
        <dsp:cNvPr id="0" name=""/>
        <dsp:cNvSpPr/>
      </dsp:nvSpPr>
      <dsp:spPr>
        <a:xfrm>
          <a:off x="0" y="1885252"/>
          <a:ext cx="3621129" cy="887445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Foreign Key (FK)</a:t>
          </a:r>
        </a:p>
      </dsp:txBody>
      <dsp:txXfrm>
        <a:off x="43321" y="1928573"/>
        <a:ext cx="3534487" cy="800803"/>
      </dsp:txXfrm>
    </dsp:sp>
    <dsp:sp modelId="{9658AD77-BA0E-45F3-BD90-8F9D33D1DA1C}">
      <dsp:nvSpPr>
        <dsp:cNvPr id="0" name=""/>
        <dsp:cNvSpPr/>
      </dsp:nvSpPr>
      <dsp:spPr>
        <a:xfrm>
          <a:off x="0" y="2879257"/>
          <a:ext cx="3621129" cy="887445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Composite Key</a:t>
          </a:r>
        </a:p>
      </dsp:txBody>
      <dsp:txXfrm>
        <a:off x="43321" y="2922578"/>
        <a:ext cx="3534487" cy="800803"/>
      </dsp:txXfrm>
    </dsp:sp>
    <dsp:sp modelId="{9776EE11-5291-472F-806C-C97A87F97E93}">
      <dsp:nvSpPr>
        <dsp:cNvPr id="0" name=""/>
        <dsp:cNvSpPr/>
      </dsp:nvSpPr>
      <dsp:spPr>
        <a:xfrm>
          <a:off x="0" y="3873262"/>
          <a:ext cx="3621129" cy="887445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Surrogate Key</a:t>
          </a:r>
        </a:p>
      </dsp:txBody>
      <dsp:txXfrm>
        <a:off x="43321" y="3916583"/>
        <a:ext cx="3534487" cy="8008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8" name="Rectangle 5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86118" y="735106"/>
            <a:ext cx="7540322" cy="1855694"/>
          </a:xfrm>
        </p:spPr>
        <p:txBody>
          <a:bodyPr anchor="b">
            <a:normAutofit fontScale="90000"/>
          </a:bodyPr>
          <a:lstStyle/>
          <a:p>
            <a:pPr algn="l"/>
            <a:r>
              <a:rPr lang="en-US" sz="4200" b="1" dirty="0">
                <a:solidFill>
                  <a:srgbClr val="FFFFFF"/>
                </a:solidFill>
              </a:rPr>
              <a:t>Session 2: Database Integrity Constraints &amp; Control Mechanisms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319" y="4452256"/>
            <a:ext cx="9033678" cy="2329543"/>
          </a:xfrm>
        </p:spPr>
        <p:txBody>
          <a:bodyPr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3000" b="1" dirty="0"/>
              <a:t>Audience: </a:t>
            </a:r>
            <a:r>
              <a:rPr lang="en-US" sz="2500" b="1" dirty="0"/>
              <a:t>Working Professionals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Color Cover">
            <a:extLst>
              <a:ext uri="{FF2B5EF4-FFF2-40B4-BE49-F238E27FC236}">
                <a16:creationId xmlns:a16="http://schemas.microsoft.com/office/drawing/2014/main" id="{815925C2-A704-4D47-B1C1-3FCA52512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01D4315C-C23C-4FD3-98DF-08C29E229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E6B47BC-43FD-4C91-8BFF-B41B99A8A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548176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13038185-AC3C-4595-945F-25311424C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75D51AA0-C095-4650-A361-B294320BF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328" y="841248"/>
            <a:ext cx="4098660" cy="5340097"/>
          </a:xfrm>
        </p:spPr>
        <p:txBody>
          <a:bodyPr anchor="ctr">
            <a:normAutofit/>
          </a:bodyPr>
          <a:lstStyle/>
          <a:p>
            <a:pPr algn="l"/>
            <a:r>
              <a:rPr lang="en-US" sz="4200" b="1" i="1" dirty="0">
                <a:solidFill>
                  <a:schemeClr val="bg1"/>
                </a:solidFill>
              </a:rPr>
              <a:t>Recap – Session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8306" y="841247"/>
            <a:ext cx="3957365" cy="534009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chemeClr val="tx2"/>
                </a:solidFill>
              </a:rPr>
              <a:t>	</a:t>
            </a:r>
            <a:r>
              <a:rPr lang="en-US" sz="2500" b="1" i="1" dirty="0">
                <a:solidFill>
                  <a:schemeClr val="tx2"/>
                </a:solidFill>
              </a:rPr>
              <a:t>Basic Database Concepts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2000" b="1" i="1" dirty="0">
              <a:solidFill>
                <a:schemeClr val="tx2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b="1" i="1" dirty="0">
                <a:solidFill>
                  <a:schemeClr val="tx2"/>
                </a:solidFill>
              </a:rPr>
              <a:t>Data Flow Architecture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b="1" i="1" dirty="0">
                <a:solidFill>
                  <a:schemeClr val="tx2"/>
                </a:solidFill>
              </a:rPr>
              <a:t>Database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b="1" i="1" dirty="0">
                <a:solidFill>
                  <a:schemeClr val="tx2"/>
                </a:solidFill>
              </a:rPr>
              <a:t>Type Of Database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b="1" i="1" dirty="0">
                <a:solidFill>
                  <a:schemeClr val="tx2"/>
                </a:solidFill>
              </a:rPr>
              <a:t>RDBMS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b="1" i="1" dirty="0">
                <a:solidFill>
                  <a:schemeClr val="tx2"/>
                </a:solidFill>
              </a:rPr>
              <a:t>Schema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b="1" i="1" dirty="0">
                <a:solidFill>
                  <a:schemeClr val="tx2"/>
                </a:solidFill>
              </a:rPr>
              <a:t>Tables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b="1" i="1" dirty="0">
                <a:solidFill>
                  <a:schemeClr val="tx2"/>
                </a:solidFill>
              </a:rPr>
              <a:t>Views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73CADB-D842-015C-C3A7-F26342EAD1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152" y="228600"/>
            <a:ext cx="7504545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4477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E86DAB-218D-4CFB-F642-A39DF3ACC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 b="1" dirty="0"/>
              <a:t>Today, 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E1AB23-1D1D-54A4-2DB5-B1AAA0408A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608" y="2636196"/>
            <a:ext cx="4197095" cy="3720154"/>
          </a:xfrm>
        </p:spPr>
        <p:txBody>
          <a:bodyPr anchor="ctr">
            <a:normAutofit/>
          </a:bodyPr>
          <a:lstStyle/>
          <a:p>
            <a:pPr marL="457200" indent="-457200">
              <a:buAutoNum type="arabicPeriod"/>
            </a:pPr>
            <a:r>
              <a:rPr lang="en-US" sz="2000" b="1" dirty="0"/>
              <a:t>Database Keys</a:t>
            </a:r>
          </a:p>
          <a:p>
            <a:pPr marL="457200" indent="-457200">
              <a:buAutoNum type="arabicPeriod"/>
            </a:pPr>
            <a:r>
              <a:rPr lang="en-US" sz="2000" b="1" dirty="0"/>
              <a:t>Sequences</a:t>
            </a:r>
          </a:p>
          <a:p>
            <a:pPr marL="457200" indent="-457200">
              <a:buAutoNum type="arabicPeriod"/>
            </a:pPr>
            <a:r>
              <a:rPr lang="en-US" sz="2000" b="1" dirty="0"/>
              <a:t>Database Control statements </a:t>
            </a:r>
          </a:p>
          <a:p>
            <a:pPr marL="0" indent="0">
              <a:buNone/>
            </a:pPr>
            <a:endParaRPr lang="en-US" sz="1700" dirty="0"/>
          </a:p>
        </p:txBody>
      </p:sp>
      <p:pic>
        <p:nvPicPr>
          <p:cNvPr id="5" name="Picture 4" descr="Calculator and folders">
            <a:extLst>
              <a:ext uri="{FF2B5EF4-FFF2-40B4-BE49-F238E27FC236}">
                <a16:creationId xmlns:a16="http://schemas.microsoft.com/office/drawing/2014/main" id="{BB1A109C-0ACF-C457-32E6-C3C34DFCB1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472" r="37810" b="-1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3474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039BA1-4F2E-4EAE-5A4F-1AA87200BA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0578" y="802956"/>
            <a:ext cx="3733482" cy="75370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1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Database Keys:</a:t>
            </a:r>
          </a:p>
        </p:txBody>
      </p:sp>
      <p:pic>
        <p:nvPicPr>
          <p:cNvPr id="7" name="Graphic 6" descr="Key">
            <a:extLst>
              <a:ext uri="{FF2B5EF4-FFF2-40B4-BE49-F238E27FC236}">
                <a16:creationId xmlns:a16="http://schemas.microsoft.com/office/drawing/2014/main" id="{E2ED168B-81D5-BC1C-B03B-3E778D9881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9534" y="2230670"/>
            <a:ext cx="2746373" cy="274637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5B1F8DE5-FE69-F37B-FED2-E0B662F388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50216" y="1785258"/>
            <a:ext cx="4793784" cy="4275714"/>
          </a:xfr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 algn="l" defTabSz="914400">
              <a:lnSpc>
                <a:spcPct val="90000"/>
              </a:lnSpc>
            </a:pPr>
            <a:r>
              <a:rPr lang="en-US" sz="2200" dirty="0">
                <a:solidFill>
                  <a:schemeClr val="tx2"/>
                </a:solidFill>
              </a:rPr>
              <a:t>A </a:t>
            </a:r>
            <a:r>
              <a:rPr lang="en-US" sz="2200" b="1" dirty="0">
                <a:solidFill>
                  <a:schemeClr val="tx2"/>
                </a:solidFill>
              </a:rPr>
              <a:t>Key</a:t>
            </a:r>
            <a:r>
              <a:rPr lang="en-US" sz="2200" dirty="0">
                <a:solidFill>
                  <a:schemeClr val="tx2"/>
                </a:solidFill>
              </a:rPr>
              <a:t> is a column or a combination of columns used to uniquely identify records in a table, establish relationships between tables, and enforce data integrity rules within a database.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200" dirty="0">
              <a:solidFill>
                <a:schemeClr val="tx2"/>
              </a:solidFill>
            </a:endParaRPr>
          </a:p>
          <a:p>
            <a:pPr algn="l" defTabSz="914400">
              <a:lnSpc>
                <a:spcPct val="90000"/>
              </a:lnSpc>
            </a:pPr>
            <a:r>
              <a:rPr lang="en-US" sz="2200" b="1" dirty="0">
                <a:solidFill>
                  <a:schemeClr val="tx2"/>
                </a:solidFill>
              </a:rPr>
              <a:t>Keys help ensure that data is: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200" dirty="0">
              <a:solidFill>
                <a:schemeClr val="tx2"/>
              </a:solidFill>
            </a:endParaRPr>
          </a:p>
          <a:p>
            <a:pPr marL="457200"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tx2"/>
                </a:solidFill>
              </a:rPr>
              <a:t>Unique</a:t>
            </a:r>
            <a:r>
              <a:rPr lang="en-US" sz="2200" dirty="0">
                <a:solidFill>
                  <a:schemeClr val="tx2"/>
                </a:solidFill>
              </a:rPr>
              <a:t> (no duplicate records) </a:t>
            </a:r>
          </a:p>
          <a:p>
            <a:pPr marL="457200"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tx2"/>
                </a:solidFill>
              </a:rPr>
              <a:t>Accurate</a:t>
            </a:r>
            <a:r>
              <a:rPr lang="en-US" sz="2200" dirty="0">
                <a:solidFill>
                  <a:schemeClr val="tx2"/>
                </a:solidFill>
              </a:rPr>
              <a:t> (valid relationships between tables)</a:t>
            </a:r>
          </a:p>
          <a:p>
            <a:pPr marL="457200"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tx2"/>
                </a:solidFill>
              </a:rPr>
              <a:t>Consistent</a:t>
            </a:r>
            <a:r>
              <a:rPr lang="en-US" sz="2200" dirty="0">
                <a:solidFill>
                  <a:schemeClr val="tx2"/>
                </a:solidFill>
              </a:rPr>
              <a:t> (maintains referential integrity)</a:t>
            </a:r>
          </a:p>
          <a:p>
            <a:pPr marL="457200"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tx2"/>
                </a:solidFill>
              </a:rPr>
              <a:t>Efficiently Accessible</a:t>
            </a:r>
            <a:r>
              <a:rPr lang="en-US" sz="2200" dirty="0">
                <a:solidFill>
                  <a:schemeClr val="tx2"/>
                </a:solidFill>
              </a:rPr>
              <a:t> (supports indexing and query performance)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tx2"/>
              </a:solidFill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976" y="52996"/>
            <a:ext cx="4446455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465359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 fill">
            <a:extLst>
              <a:ext uri="{FF2B5EF4-FFF2-40B4-BE49-F238E27FC236}">
                <a16:creationId xmlns:a16="http://schemas.microsoft.com/office/drawing/2014/main" id="{8DF67618-B87B-4195-8E24-3B126F79F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Color 2">
            <a:extLst>
              <a:ext uri="{FF2B5EF4-FFF2-40B4-BE49-F238E27FC236}">
                <a16:creationId xmlns:a16="http://schemas.microsoft.com/office/drawing/2014/main" id="{64960379-9FF9-400A-A8A8-F5AB633FD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C491629-AE25-486B-9B22-2CE4EE8F7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663619" cy="6858000"/>
            <a:chOff x="651279" y="598259"/>
            <a:chExt cx="10889442" cy="5680742"/>
          </a:xfrm>
        </p:grpSpPr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590EB173-7DC2-4BE8-BC08-19BC09DBD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0731E2C9-2CF0-48B4-9CEA-35B2199AF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35" y="841248"/>
            <a:ext cx="4632963" cy="1778750"/>
          </a:xfrm>
        </p:spPr>
        <p:txBody>
          <a:bodyPr anchor="ctr">
            <a:normAutofit/>
          </a:bodyPr>
          <a:lstStyle/>
          <a:p>
            <a:pPr algn="l"/>
            <a:r>
              <a:rPr lang="en-US" sz="4200" b="1" dirty="0">
                <a:solidFill>
                  <a:schemeClr val="bg1"/>
                </a:solidFill>
              </a:rPr>
              <a:t>Types of Keys in Relational Database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9E92B4B-F78B-F86B-1788-24A81710E3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43831014"/>
              </p:ext>
            </p:extLst>
          </p:nvPr>
        </p:nvGraphicFramePr>
        <p:xfrm>
          <a:off x="4894221" y="529388"/>
          <a:ext cx="3621129" cy="56519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6109" y="1417320"/>
            <a:ext cx="4182061" cy="1645920"/>
          </a:xfrm>
        </p:spPr>
        <p:txBody>
          <a:bodyPr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3200" b="1" dirty="0">
                <a:solidFill>
                  <a:srgbClr val="FFFFFF"/>
                </a:solidFill>
              </a:rPr>
              <a:t>Primary Key (PK)</a:t>
            </a:r>
            <a:br>
              <a:rPr lang="en-US" sz="3200" dirty="0">
                <a:solidFill>
                  <a:srgbClr val="FFFFFF"/>
                </a:solidFill>
              </a:rPr>
            </a:br>
            <a:r>
              <a:rPr lang="en-US" sz="2500" b="1" dirty="0">
                <a:solidFill>
                  <a:srgbClr val="FFFFFF"/>
                </a:solidFill>
              </a:rPr>
              <a:t>A column or combination of columns that uniquely identifies each row in a table</a:t>
            </a:r>
          </a:p>
        </p:txBody>
      </p:sp>
      <p:sp>
        <p:nvSpPr>
          <p:cNvPr id="30" name="Content Placeholder 2"/>
          <p:cNvSpPr>
            <a:spLocks noGrp="1"/>
          </p:cNvSpPr>
          <p:nvPr>
            <p:ph idx="1"/>
          </p:nvPr>
        </p:nvSpPr>
        <p:spPr>
          <a:xfrm>
            <a:off x="4877368" y="649480"/>
            <a:ext cx="3646835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 b="1" dirty="0"/>
              <a:t>Characteristics:</a:t>
            </a:r>
            <a:endParaRPr lang="en-US" sz="1700" dirty="0"/>
          </a:p>
          <a:p>
            <a:r>
              <a:rPr lang="en-US" sz="1700" dirty="0"/>
              <a:t>Unique</a:t>
            </a:r>
          </a:p>
          <a:p>
            <a:r>
              <a:rPr lang="en-US" sz="1700" dirty="0"/>
              <a:t>Not Null</a:t>
            </a:r>
          </a:p>
          <a:p>
            <a:r>
              <a:rPr lang="en-US" sz="1700" dirty="0"/>
              <a:t>One PK per table</a:t>
            </a:r>
          </a:p>
          <a:p>
            <a:r>
              <a:rPr lang="en-US" sz="1700" dirty="0"/>
              <a:t>Automatically indexed (Oracle creates unique index)</a:t>
            </a:r>
          </a:p>
          <a:p>
            <a:pPr marL="0" indent="0">
              <a:buNone/>
            </a:pPr>
            <a:r>
              <a:rPr lang="en-US" sz="1700" b="1" dirty="0"/>
              <a:t>Example:</a:t>
            </a:r>
            <a:br>
              <a:rPr lang="en-US" sz="1700" dirty="0"/>
            </a:br>
            <a:r>
              <a:rPr lang="en-US" sz="1700" dirty="0"/>
              <a:t>       EMPLOYEE_ID in EMPLOYEE table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Color Cover">
            <a:extLst>
              <a:ext uri="{FF2B5EF4-FFF2-40B4-BE49-F238E27FC236}">
                <a16:creationId xmlns:a16="http://schemas.microsoft.com/office/drawing/2014/main" id="{815925C2-A704-4D47-B1C1-3FCA52512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Color Cover">
            <a:extLst>
              <a:ext uri="{FF2B5EF4-FFF2-40B4-BE49-F238E27FC236}">
                <a16:creationId xmlns:a16="http://schemas.microsoft.com/office/drawing/2014/main" id="{01D4315C-C23C-4FD3-98DF-08C29E229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E6B47BC-43FD-4C91-8BFF-B41B99A8A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548176" cy="6858000"/>
            <a:chOff x="651279" y="598259"/>
            <a:chExt cx="10889442" cy="5680742"/>
          </a:xfrm>
        </p:grpSpPr>
        <p:sp>
          <p:nvSpPr>
            <p:cNvPr id="28" name="Color">
              <a:extLst>
                <a:ext uri="{FF2B5EF4-FFF2-40B4-BE49-F238E27FC236}">
                  <a16:creationId xmlns:a16="http://schemas.microsoft.com/office/drawing/2014/main" id="{13038185-AC3C-4595-945F-25311424C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Color">
              <a:extLst>
                <a:ext uri="{FF2B5EF4-FFF2-40B4-BE49-F238E27FC236}">
                  <a16:creationId xmlns:a16="http://schemas.microsoft.com/office/drawing/2014/main" id="{75D51AA0-C095-4650-A361-B294320BF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788" y="841248"/>
            <a:ext cx="3847200" cy="5340097"/>
          </a:xfrm>
        </p:spPr>
        <p:txBody>
          <a:bodyPr anchor="ctr">
            <a:normAutofit/>
          </a:bodyPr>
          <a:lstStyle/>
          <a:p>
            <a:pPr algn="l"/>
            <a:r>
              <a:rPr lang="en-US" sz="4200" b="1" dirty="0">
                <a:solidFill>
                  <a:schemeClr val="bg1"/>
                </a:solidFill>
              </a:rPr>
              <a:t>Foreign Key (FK)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8176" y="841247"/>
            <a:ext cx="4595823" cy="534009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A column that references the Primary Key of another table. 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Purpose:</a:t>
            </a:r>
            <a:endParaRPr lang="en-US" sz="1600" dirty="0">
              <a:solidFill>
                <a:schemeClr val="tx2"/>
              </a:solidFill>
            </a:endParaRPr>
          </a:p>
          <a:p>
            <a:r>
              <a:rPr lang="en-US" sz="1600" dirty="0">
                <a:solidFill>
                  <a:schemeClr val="tx2"/>
                </a:solidFill>
              </a:rPr>
              <a:t>Maintains referential integrity</a:t>
            </a:r>
          </a:p>
          <a:p>
            <a:r>
              <a:rPr lang="en-US" sz="1600" dirty="0">
                <a:solidFill>
                  <a:schemeClr val="tx2"/>
                </a:solidFill>
              </a:rPr>
              <a:t>Prevents invalid references</a:t>
            </a:r>
          </a:p>
          <a:p>
            <a:r>
              <a:rPr lang="en-US" sz="1600" dirty="0">
                <a:solidFill>
                  <a:schemeClr val="tx2"/>
                </a:solidFill>
              </a:rPr>
              <a:t>Creates parent-child relationship</a:t>
            </a:r>
          </a:p>
          <a:p>
            <a:pPr marL="0" indent="0">
              <a:buNone/>
            </a:pPr>
            <a:endParaRPr lang="en-US" sz="1600" b="1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Example:</a:t>
            </a:r>
            <a:br>
              <a:rPr lang="en-US" sz="1600" dirty="0">
                <a:solidFill>
                  <a:schemeClr val="tx2"/>
                </a:solidFill>
              </a:rPr>
            </a:br>
            <a:r>
              <a:rPr lang="en-US" sz="1600" dirty="0">
                <a:solidFill>
                  <a:schemeClr val="tx2"/>
                </a:solidFill>
              </a:rPr>
              <a:t>DEPT_ID in EMPLOYEE referencing DEPARTMENT table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Color Cover">
            <a:extLst>
              <a:ext uri="{FF2B5EF4-FFF2-40B4-BE49-F238E27FC236}">
                <a16:creationId xmlns:a16="http://schemas.microsoft.com/office/drawing/2014/main" id="{815925C2-A704-4D47-B1C1-3FCA52512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01D4315C-C23C-4FD3-98DF-08C29E229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E6B47BC-43FD-4C91-8BFF-B41B99A8A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548176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13038185-AC3C-4595-945F-25311424C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75D51AA0-C095-4650-A361-B294320BF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788" y="841248"/>
            <a:ext cx="3847200" cy="5340097"/>
          </a:xfrm>
        </p:spPr>
        <p:txBody>
          <a:bodyPr anchor="ctr">
            <a:normAutofit/>
          </a:bodyPr>
          <a:lstStyle/>
          <a:p>
            <a:pPr algn="l"/>
            <a:r>
              <a:rPr lang="en-US" sz="4200" b="1">
                <a:solidFill>
                  <a:schemeClr val="bg1"/>
                </a:solidFill>
              </a:rPr>
              <a:t>Composite Key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5826" y="841247"/>
            <a:ext cx="4527439" cy="534009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Definition:</a:t>
            </a:r>
            <a:br>
              <a:rPr lang="en-US" sz="1600" dirty="0">
                <a:solidFill>
                  <a:schemeClr val="tx2"/>
                </a:solidFill>
              </a:rPr>
            </a:br>
            <a:r>
              <a:rPr lang="en-US" sz="1600" dirty="0">
                <a:solidFill>
                  <a:schemeClr val="tx2"/>
                </a:solidFill>
              </a:rPr>
              <a:t>Primary Key made up of multiple columns.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Used when:</a:t>
            </a:r>
            <a:br>
              <a:rPr lang="en-US" sz="1600" dirty="0">
                <a:solidFill>
                  <a:schemeClr val="tx2"/>
                </a:solidFill>
              </a:rPr>
            </a:br>
            <a:r>
              <a:rPr lang="en-US" sz="1600" dirty="0">
                <a:solidFill>
                  <a:schemeClr val="tx2"/>
                </a:solidFill>
              </a:rPr>
              <a:t>	Single column cannot uniquely 	identify record.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Example:</a:t>
            </a:r>
            <a:br>
              <a:rPr lang="en-US" sz="1600" dirty="0">
                <a:solidFill>
                  <a:schemeClr val="tx2"/>
                </a:solidFill>
              </a:rPr>
            </a:br>
            <a:r>
              <a:rPr lang="en-US" sz="1600" dirty="0">
                <a:solidFill>
                  <a:schemeClr val="tx2"/>
                </a:solidFill>
              </a:rPr>
              <a:t>	ORDER_ID + PRODUCT_ID in 	ORDER_DETAILS table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FA67CD3-AB4E-4A7A-BEB8-53C445D8C4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60045"/>
            <a:ext cx="4694659" cy="573405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7CF545F-9C2E-4446-97CD-AD92990C2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299"/>
          <a:stretch/>
        </p:blipFill>
        <p:spPr>
          <a:xfrm>
            <a:off x="-1" y="857250"/>
            <a:ext cx="9144001" cy="57340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0578" y="1257300"/>
            <a:ext cx="3988849" cy="138112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0000"/>
                </a:solidFill>
              </a:rPr>
              <a:t>Surrogate Key</a:t>
            </a:r>
          </a:p>
        </p:txBody>
      </p:sp>
      <p:sp>
        <p:nvSpPr>
          <p:cNvPr id="37" name="Freeform 62">
            <a:extLst>
              <a:ext uri="{FF2B5EF4-FFF2-40B4-BE49-F238E27FC236}">
                <a16:creationId xmlns:a16="http://schemas.microsoft.com/office/drawing/2014/main" id="{339C8D78-A644-462F-B674-F440635E5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9525" y="1468363"/>
            <a:ext cx="4180922" cy="4515805"/>
          </a:xfrm>
          <a:custGeom>
            <a:avLst/>
            <a:gdLst>
              <a:gd name="connsiteX0" fmla="*/ 2299956 w 5000438"/>
              <a:gd name="connsiteY0" fmla="*/ 0 h 5400962"/>
              <a:gd name="connsiteX1" fmla="*/ 5000438 w 5000438"/>
              <a:gd name="connsiteY1" fmla="*/ 2700481 h 5400962"/>
              <a:gd name="connsiteX2" fmla="*/ 2299956 w 5000438"/>
              <a:gd name="connsiteY2" fmla="*/ 5400962 h 5400962"/>
              <a:gd name="connsiteX3" fmla="*/ 60675 w 5000438"/>
              <a:gd name="connsiteY3" fmla="*/ 4210346 h 5400962"/>
              <a:gd name="connsiteX4" fmla="*/ 0 w 5000438"/>
              <a:gd name="connsiteY4" fmla="*/ 4110472 h 5400962"/>
              <a:gd name="connsiteX5" fmla="*/ 0 w 5000438"/>
              <a:gd name="connsiteY5" fmla="*/ 1290491 h 5400962"/>
              <a:gd name="connsiteX6" fmla="*/ 60675 w 5000438"/>
              <a:gd name="connsiteY6" fmla="*/ 1190617 h 5400962"/>
              <a:gd name="connsiteX7" fmla="*/ 2299956 w 5000438"/>
              <a:gd name="connsiteY7" fmla="*/ 0 h 540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0438" h="5400962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85000"/>
                  </a:schemeClr>
                </a:gs>
                <a:gs pos="100000">
                  <a:schemeClr val="bg2">
                    <a:lumMod val="8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pic>
        <p:nvPicPr>
          <p:cNvPr id="7" name="Graphic 6" descr="Database">
            <a:extLst>
              <a:ext uri="{FF2B5EF4-FFF2-40B4-BE49-F238E27FC236}">
                <a16:creationId xmlns:a16="http://schemas.microsoft.com/office/drawing/2014/main" id="{52144D44-C436-E199-572F-0DE0C88AFA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9490" y="2079067"/>
            <a:ext cx="3026740" cy="3026740"/>
          </a:xfrm>
          <a:prstGeom prst="rect">
            <a:avLst/>
          </a:prstGeom>
        </p:spPr>
      </p:pic>
      <p:sp>
        <p:nvSpPr>
          <p:cNvPr id="38" name="Content Placeholder 2"/>
          <p:cNvSpPr>
            <a:spLocks noGrp="1"/>
          </p:cNvSpPr>
          <p:nvPr>
            <p:ph idx="1"/>
          </p:nvPr>
        </p:nvSpPr>
        <p:spPr>
          <a:xfrm>
            <a:off x="4570578" y="2471057"/>
            <a:ext cx="4573421" cy="3403391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000000"/>
                </a:solidFill>
              </a:rPr>
              <a:t>Definition:</a:t>
            </a:r>
            <a:br>
              <a:rPr lang="en-US" sz="1600" dirty="0">
                <a:solidFill>
                  <a:srgbClr val="000000"/>
                </a:solidFill>
              </a:rPr>
            </a:br>
            <a:r>
              <a:rPr lang="en-US" sz="1600" dirty="0">
                <a:solidFill>
                  <a:srgbClr val="000000"/>
                </a:solidFill>
              </a:rPr>
              <a:t>System-generated unique key (usually numeric).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000000"/>
                </a:solidFill>
              </a:rPr>
              <a:t>Used in:</a:t>
            </a:r>
            <a:endParaRPr lang="en-US" sz="1600" dirty="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</a:rPr>
              <a:t>Data Warehouse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</a:rPr>
              <a:t>ERP systems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</a:rPr>
              <a:t>ETL processes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000000"/>
                </a:solidFill>
              </a:rPr>
              <a:t>Advantages:</a:t>
            </a:r>
            <a:endParaRPr lang="en-US" sz="1600" dirty="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</a:rPr>
              <a:t>Independent of business logic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</a:rPr>
              <a:t>Improves performance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</a:rPr>
              <a:t>Stable even if source changes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</a:rPr>
              <a:t>Example:</a:t>
            </a:r>
            <a:br>
              <a:rPr lang="en-US" sz="1600" dirty="0">
                <a:solidFill>
                  <a:srgbClr val="000000"/>
                </a:solidFill>
              </a:rPr>
            </a:br>
            <a:r>
              <a:rPr lang="en-US" sz="1600" dirty="0">
                <a:solidFill>
                  <a:srgbClr val="000000"/>
                </a:solidFill>
              </a:rPr>
              <a:t>Generated using Sequence in Oracle.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9AE1C-A035-3BAB-68BE-1DB792CD9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r>
              <a:rPr lang="en-US" sz="3850" b="1"/>
              <a:t>Database Sequences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814E0-5C19-EBAC-7E2D-11A4E381B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815" y="1681653"/>
            <a:ext cx="5693513" cy="4334518"/>
          </a:xfrm>
        </p:spPr>
        <p:txBody>
          <a:bodyPr anchor="ctr">
            <a:normAutofit lnSpcReduction="1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300" dirty="0"/>
              <a:t>A sequence is a database object that automatically generates unique numeric values. It is commonly used to create Primary Key (PK) values for tables, ensuring uniqueness without manual intervention.</a:t>
            </a:r>
          </a:p>
          <a:p>
            <a:pPr marL="0" indent="0">
              <a:lnSpc>
                <a:spcPct val="90000"/>
              </a:lnSpc>
              <a:buNone/>
            </a:pPr>
            <a:endParaRPr lang="en-US" sz="13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300" b="1" dirty="0"/>
              <a:t>Use Sequences:</a:t>
            </a:r>
            <a:br>
              <a:rPr lang="en-US" sz="1300" dirty="0"/>
            </a:br>
            <a:r>
              <a:rPr lang="en-US" sz="1300" dirty="0"/>
              <a:t>1. Automatically generates unique numbers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300" dirty="0"/>
              <a:t>2. Ideal for Primary Key generation in OLTP systems.</a:t>
            </a:r>
          </a:p>
          <a:p>
            <a:pPr marL="0" indent="0">
              <a:lnSpc>
                <a:spcPct val="90000"/>
              </a:lnSpc>
              <a:buNone/>
            </a:pPr>
            <a:br>
              <a:rPr lang="en-US" sz="1300" dirty="0"/>
            </a:br>
            <a:r>
              <a:rPr lang="en-US" sz="1300" b="1" dirty="0"/>
              <a:t>Example: </a:t>
            </a:r>
            <a:br>
              <a:rPr lang="en-US" sz="1300" dirty="0"/>
            </a:br>
            <a:r>
              <a:rPr lang="en-US" sz="1300" dirty="0"/>
              <a:t>CREATE SEQUENCE </a:t>
            </a:r>
            <a:r>
              <a:rPr lang="en-US" sz="1300" dirty="0" err="1"/>
              <a:t>Seq_Employee</a:t>
            </a:r>
            <a:r>
              <a:rPr lang="en-US" sz="1300" dirty="0"/>
              <a:t> </a:t>
            </a:r>
            <a:br>
              <a:rPr lang="en-US" sz="1300" dirty="0"/>
            </a:br>
            <a:r>
              <a:rPr lang="en-US" sz="1300" dirty="0"/>
              <a:t>START WITH 1 </a:t>
            </a:r>
            <a:br>
              <a:rPr lang="en-US" sz="1300" dirty="0"/>
            </a:br>
            <a:r>
              <a:rPr lang="en-US" sz="1300" dirty="0"/>
              <a:t>INCREMENT BY 1 </a:t>
            </a:r>
            <a:br>
              <a:rPr lang="en-US" sz="1300" dirty="0"/>
            </a:br>
            <a:r>
              <a:rPr lang="en-US" sz="1300" dirty="0"/>
              <a:t>MINVALUE 1 </a:t>
            </a:r>
            <a:br>
              <a:rPr lang="en-US" sz="1300" dirty="0"/>
            </a:br>
            <a:r>
              <a:rPr lang="en-US" sz="1300" dirty="0"/>
              <a:t>MAXVALUE 999999999 </a:t>
            </a:r>
            <a:br>
              <a:rPr lang="en-US" sz="1300" dirty="0"/>
            </a:br>
            <a:r>
              <a:rPr lang="en-US" sz="1300" dirty="0"/>
              <a:t>CACHE 20 </a:t>
            </a:r>
            <a:br>
              <a:rPr lang="en-US" sz="1300" dirty="0"/>
            </a:br>
            <a:r>
              <a:rPr lang="en-US" sz="1300" dirty="0"/>
              <a:t>NOCYCLE;</a:t>
            </a:r>
          </a:p>
          <a:p>
            <a:pPr marL="0" indent="0">
              <a:lnSpc>
                <a:spcPct val="90000"/>
              </a:lnSpc>
              <a:buNone/>
            </a:pPr>
            <a:endParaRPr lang="en-US" sz="13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300" b="1" dirty="0"/>
              <a:t>CACHE</a:t>
            </a:r>
            <a:r>
              <a:rPr lang="en-US" sz="1300" dirty="0"/>
              <a:t> 	</a:t>
            </a:r>
            <a:r>
              <a:rPr lang="en-US" sz="1300" dirty="0">
                <a:sym typeface="Wingdings" panose="05000000000000000000" pitchFamily="2" charset="2"/>
              </a:rPr>
              <a:t></a:t>
            </a:r>
            <a:r>
              <a:rPr lang="en-US" sz="1400" dirty="0"/>
              <a:t> Pre-allocates values for better performance</a:t>
            </a:r>
            <a:br>
              <a:rPr lang="en-US" sz="1400" dirty="0"/>
            </a:br>
            <a:r>
              <a:rPr lang="en-US" sz="1400" b="1" dirty="0"/>
              <a:t>NOCACHE</a:t>
            </a:r>
            <a:r>
              <a:rPr lang="en-US" sz="1400" dirty="0"/>
              <a:t> 	</a:t>
            </a:r>
            <a:r>
              <a:rPr lang="en-US" sz="1400" dirty="0">
                <a:sym typeface="Wingdings" panose="05000000000000000000" pitchFamily="2" charset="2"/>
              </a:rPr>
              <a:t> </a:t>
            </a:r>
            <a:r>
              <a:rPr lang="en-US" sz="1400" dirty="0"/>
              <a:t>No pre-allocation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400" b="1" dirty="0"/>
              <a:t>CYCLE</a:t>
            </a:r>
            <a:r>
              <a:rPr lang="en-US" sz="1400" dirty="0"/>
              <a:t>            </a:t>
            </a:r>
            <a:r>
              <a:rPr lang="en-US" sz="1400" dirty="0">
                <a:sym typeface="Wingdings" panose="05000000000000000000" pitchFamily="2" charset="2"/>
              </a:rPr>
              <a:t> </a:t>
            </a:r>
            <a:r>
              <a:rPr lang="en-US" sz="1400" dirty="0"/>
              <a:t>Restarts after reaching MAXVALUE</a:t>
            </a:r>
            <a:br>
              <a:rPr lang="en-US" sz="1400" dirty="0"/>
            </a:br>
            <a:r>
              <a:rPr lang="en-US" sz="1400" b="1" dirty="0"/>
              <a:t>NOCYCLE</a:t>
            </a:r>
            <a:r>
              <a:rPr lang="en-US" sz="1400" dirty="0"/>
              <a:t> 	</a:t>
            </a:r>
            <a:r>
              <a:rPr lang="en-US" sz="1400" dirty="0">
                <a:sym typeface="Wingdings" panose="05000000000000000000" pitchFamily="2" charset="2"/>
              </a:rPr>
              <a:t> </a:t>
            </a:r>
            <a:r>
              <a:rPr lang="en-US" sz="1400" dirty="0"/>
              <a:t>Stops at MAXVALUE</a:t>
            </a:r>
            <a:br>
              <a:rPr lang="en-US" sz="1400" dirty="0"/>
            </a:br>
            <a:br>
              <a:rPr lang="en-US" sz="1300" dirty="0"/>
            </a:br>
            <a:br>
              <a:rPr lang="en-US" sz="1300" dirty="0"/>
            </a:br>
            <a:endParaRPr lang="en-US" sz="13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Database">
            <a:extLst>
              <a:ext uri="{FF2B5EF4-FFF2-40B4-BE49-F238E27FC236}">
                <a16:creationId xmlns:a16="http://schemas.microsoft.com/office/drawing/2014/main" id="{A4586B18-FA3F-485A-7038-123012140B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3173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90444-65E3-5021-63CA-B2CB3D13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1296768"/>
          </a:xfrm>
        </p:spPr>
        <p:txBody>
          <a:bodyPr>
            <a:normAutofit/>
          </a:bodyPr>
          <a:lstStyle/>
          <a:p>
            <a:r>
              <a:rPr lang="en-US" sz="3850" b="1" dirty="0"/>
              <a:t>Use Case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D269D-285B-0177-E87C-C980FC2335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904" y="1681653"/>
            <a:ext cx="5769175" cy="4334518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500" dirty="0"/>
              <a:t>INSERT INTO employee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500" dirty="0"/>
              <a:t>( </a:t>
            </a:r>
            <a:r>
              <a:rPr lang="en-US" sz="1500" dirty="0" err="1"/>
              <a:t>employee_id</a:t>
            </a:r>
            <a:r>
              <a:rPr lang="en-US" sz="1500" dirty="0"/>
              <a:t>, </a:t>
            </a:r>
            <a:r>
              <a:rPr lang="en-US" sz="1500" dirty="0" err="1"/>
              <a:t>employee_name</a:t>
            </a:r>
            <a:r>
              <a:rPr lang="en-US" sz="1500" dirty="0"/>
              <a:t>, department ) VALUES ( </a:t>
            </a:r>
            <a:r>
              <a:rPr lang="en-US" sz="1500" dirty="0" err="1"/>
              <a:t>seq_employee.NEXTVAL</a:t>
            </a:r>
            <a:r>
              <a:rPr lang="en-US" sz="1500" dirty="0"/>
              <a:t>, 'John', 'IT’ );</a:t>
            </a:r>
            <a:br>
              <a:rPr lang="en-US" sz="1500" dirty="0"/>
            </a:br>
            <a:br>
              <a:rPr lang="en-US" sz="1500" dirty="0"/>
            </a:br>
            <a:r>
              <a:rPr lang="en-US" sz="1500" dirty="0"/>
              <a:t>SELECT </a:t>
            </a:r>
            <a:r>
              <a:rPr lang="en-US" sz="1500" dirty="0" err="1"/>
              <a:t>seq_employee.CURRVAL</a:t>
            </a:r>
            <a:r>
              <a:rPr lang="en-US" sz="1500" dirty="0"/>
              <a:t> FROM dual;</a:t>
            </a:r>
            <a:br>
              <a:rPr lang="en-US" sz="1500" dirty="0"/>
            </a:br>
            <a:r>
              <a:rPr lang="en-US" sz="1500" dirty="0"/>
              <a:t>SELECT </a:t>
            </a:r>
            <a:r>
              <a:rPr lang="en-US" sz="1500" dirty="0" err="1"/>
              <a:t>seq_employee.NEXTVAL</a:t>
            </a:r>
            <a:r>
              <a:rPr lang="en-US" sz="1500" dirty="0"/>
              <a:t> FROM dual;</a:t>
            </a:r>
            <a:br>
              <a:rPr lang="en-US" sz="1500" dirty="0"/>
            </a:br>
            <a:br>
              <a:rPr lang="en-US" sz="1500" dirty="0"/>
            </a:br>
            <a:r>
              <a:rPr lang="en-US" sz="1500" b="1" dirty="0"/>
              <a:t>Best Practices:</a:t>
            </a:r>
            <a:br>
              <a:rPr lang="en-US" sz="1500" b="1" dirty="0"/>
            </a:br>
            <a:br>
              <a:rPr lang="en-US" sz="1500" dirty="0"/>
            </a:br>
            <a:r>
              <a:rPr lang="en-US" sz="1500" dirty="0"/>
              <a:t>1. Use sequences for surrogate primary keys.</a:t>
            </a:r>
            <a:br>
              <a:rPr lang="en-US" sz="1500" dirty="0"/>
            </a:br>
            <a:r>
              <a:rPr lang="en-US" sz="1500" dirty="0"/>
              <a:t>2. Enable CACHE for better performance in high-volume applications.</a:t>
            </a:r>
            <a:br>
              <a:rPr lang="en-US" sz="1500" dirty="0"/>
            </a:br>
            <a:r>
              <a:rPr lang="en-US" sz="1500" dirty="0"/>
              <a:t>3. Use NOCYCLE for primary key generation.</a:t>
            </a:r>
            <a:br>
              <a:rPr lang="en-US" sz="1500" dirty="0"/>
            </a:br>
            <a:endParaRPr lang="en-US" sz="15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Employee Badge">
            <a:extLst>
              <a:ext uri="{FF2B5EF4-FFF2-40B4-BE49-F238E27FC236}">
                <a16:creationId xmlns:a16="http://schemas.microsoft.com/office/drawing/2014/main" id="{F9A016F0-3A81-FD6A-6691-94EC67BE1C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0171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E3E309-A6CB-F889-B7B6-01D318C8AF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448" y="735283"/>
            <a:ext cx="5623560" cy="1861613"/>
          </a:xfrm>
        </p:spPr>
        <p:txBody>
          <a:bodyPr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3500" b="1" dirty="0"/>
              <a:t>Database Control Statement</a:t>
            </a:r>
            <a:br>
              <a:rPr lang="en-US" sz="3500" b="1" dirty="0"/>
            </a:br>
            <a:br>
              <a:rPr lang="en-US" sz="3800" dirty="0"/>
            </a:br>
            <a:r>
              <a:rPr lang="en-US" sz="3800" dirty="0"/>
              <a:t>1. </a:t>
            </a:r>
            <a:r>
              <a:rPr lang="en-US" sz="3000" dirty="0"/>
              <a:t>DDL (Data Definition Language)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B5C454-27DC-DF9A-4B46-339CB8DD8F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47825" y="3063240"/>
            <a:ext cx="3733800" cy="2401935"/>
          </a:xfrm>
        </p:spPr>
        <p:txBody>
          <a:bodyPr>
            <a:normAutofit/>
          </a:bodyPr>
          <a:lstStyle/>
          <a:p>
            <a:pPr marL="914400" lvl="1" indent="-457200" algn="l">
              <a:lnSpc>
                <a:spcPct val="90000"/>
              </a:lnSpc>
              <a:buFont typeface="Courier New" panose="02070309020205020404" pitchFamily="49" charset="0"/>
              <a:buChar char="o"/>
            </a:pPr>
            <a:r>
              <a:rPr lang="en-US" sz="2400" dirty="0"/>
              <a:t>CREATE </a:t>
            </a:r>
          </a:p>
          <a:p>
            <a:pPr marL="914400" lvl="1" indent="-457200" algn="l">
              <a:lnSpc>
                <a:spcPct val="90000"/>
              </a:lnSpc>
              <a:buFont typeface="Courier New" panose="02070309020205020404" pitchFamily="49" charset="0"/>
              <a:buChar char="o"/>
            </a:pPr>
            <a:r>
              <a:rPr lang="en-US" sz="2400" dirty="0"/>
              <a:t>ALTER </a:t>
            </a:r>
          </a:p>
          <a:p>
            <a:pPr marL="914400" lvl="1" indent="-457200" algn="l">
              <a:lnSpc>
                <a:spcPct val="90000"/>
              </a:lnSpc>
              <a:buFont typeface="Courier New" panose="02070309020205020404" pitchFamily="49" charset="0"/>
              <a:buChar char="o"/>
            </a:pPr>
            <a:r>
              <a:rPr lang="en-US" sz="2400" dirty="0"/>
              <a:t>DROP </a:t>
            </a:r>
          </a:p>
          <a:p>
            <a:pPr marL="914400" lvl="1" indent="-457200" algn="l">
              <a:lnSpc>
                <a:spcPct val="90000"/>
              </a:lnSpc>
              <a:buFont typeface="Courier New" panose="02070309020205020404" pitchFamily="49" charset="0"/>
              <a:buChar char="o"/>
            </a:pPr>
            <a:r>
              <a:rPr lang="en-US" sz="2400" dirty="0"/>
              <a:t>TRUNCATE </a:t>
            </a:r>
          </a:p>
          <a:p>
            <a:pPr marL="914400" lvl="1" indent="-457200" algn="l">
              <a:lnSpc>
                <a:spcPct val="90000"/>
              </a:lnSpc>
              <a:buFont typeface="Courier New" panose="02070309020205020404" pitchFamily="49" charset="0"/>
              <a:buChar char="o"/>
            </a:pPr>
            <a:r>
              <a:rPr lang="en-US" sz="2400" dirty="0"/>
              <a:t>RENAME</a:t>
            </a:r>
          </a:p>
        </p:txBody>
      </p:sp>
      <p:pic>
        <p:nvPicPr>
          <p:cNvPr id="7" name="Graphic 6" descr="Flowchart">
            <a:extLst>
              <a:ext uri="{FF2B5EF4-FFF2-40B4-BE49-F238E27FC236}">
                <a16:creationId xmlns:a16="http://schemas.microsoft.com/office/drawing/2014/main" id="{508295D5-6607-85DB-58A1-1189A7DEA6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8161" y="2937750"/>
            <a:ext cx="966789" cy="966789"/>
          </a:xfrm>
          <a:prstGeom prst="rect">
            <a:avLst/>
          </a:prstGeom>
        </p:spPr>
      </p:pic>
      <p:pic>
        <p:nvPicPr>
          <p:cNvPr id="9" name="Graphic 8" descr="Flowchart">
            <a:extLst>
              <a:ext uri="{FF2B5EF4-FFF2-40B4-BE49-F238E27FC236}">
                <a16:creationId xmlns:a16="http://schemas.microsoft.com/office/drawing/2014/main" id="{1BBCE2F1-15DB-44B0-8B07-929D1E0880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5861" y="1392825"/>
            <a:ext cx="4058507" cy="4058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188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9F676-6585-C026-42E4-E2E4DFF62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D2AFC-391D-86D5-0C00-F733814A4B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448" y="735283"/>
            <a:ext cx="6484838" cy="1861613"/>
          </a:xfrm>
        </p:spPr>
        <p:txBody>
          <a:bodyPr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3500" b="1" dirty="0"/>
              <a:t>Database Control Statement</a:t>
            </a:r>
            <a:br>
              <a:rPr lang="en-US" sz="3500" b="1" dirty="0"/>
            </a:br>
            <a:br>
              <a:rPr lang="en-US" sz="3800" dirty="0"/>
            </a:br>
            <a:r>
              <a:rPr lang="en-US" sz="3800" dirty="0"/>
              <a:t>2. </a:t>
            </a:r>
            <a:r>
              <a:rPr lang="en-US" sz="3000" dirty="0"/>
              <a:t>DML (Data Manipulation Language)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AE6933-A57D-9398-B399-236AE7BD72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47825" y="3063240"/>
            <a:ext cx="3733800" cy="2401935"/>
          </a:xfrm>
        </p:spPr>
        <p:txBody>
          <a:bodyPr>
            <a:normAutofit/>
          </a:bodyPr>
          <a:lstStyle/>
          <a:p>
            <a:pPr marL="914400" lvl="1" indent="-457200" algn="l">
              <a:lnSpc>
                <a:spcPct val="90000"/>
              </a:lnSpc>
              <a:buFont typeface="Courier New" panose="02070309020205020404" pitchFamily="49" charset="0"/>
              <a:buChar char="o"/>
            </a:pPr>
            <a:r>
              <a:rPr lang="en-US" sz="2400" dirty="0"/>
              <a:t>INSERT </a:t>
            </a:r>
          </a:p>
          <a:p>
            <a:pPr marL="914400" lvl="1" indent="-457200" algn="l">
              <a:lnSpc>
                <a:spcPct val="90000"/>
              </a:lnSpc>
              <a:buFont typeface="Courier New" panose="02070309020205020404" pitchFamily="49" charset="0"/>
              <a:buChar char="o"/>
            </a:pPr>
            <a:r>
              <a:rPr lang="en-US" sz="2400" dirty="0"/>
              <a:t>UPDATE </a:t>
            </a:r>
          </a:p>
          <a:p>
            <a:pPr marL="914400" lvl="1" indent="-457200" algn="l">
              <a:lnSpc>
                <a:spcPct val="90000"/>
              </a:lnSpc>
              <a:buFont typeface="Courier New" panose="02070309020205020404" pitchFamily="49" charset="0"/>
              <a:buChar char="o"/>
            </a:pPr>
            <a:r>
              <a:rPr lang="en-US" sz="2400" dirty="0"/>
              <a:t>DELETE </a:t>
            </a:r>
          </a:p>
          <a:p>
            <a:pPr marL="914400" lvl="1" indent="-457200" algn="l">
              <a:lnSpc>
                <a:spcPct val="90000"/>
              </a:lnSpc>
              <a:buFont typeface="Courier New" panose="02070309020205020404" pitchFamily="49" charset="0"/>
              <a:buChar char="o"/>
            </a:pPr>
            <a:r>
              <a:rPr lang="en-US" sz="2400" dirty="0"/>
              <a:t>MERGE </a:t>
            </a:r>
          </a:p>
        </p:txBody>
      </p:sp>
      <p:pic>
        <p:nvPicPr>
          <p:cNvPr id="7" name="Graphic 6" descr="Flowchart">
            <a:extLst>
              <a:ext uri="{FF2B5EF4-FFF2-40B4-BE49-F238E27FC236}">
                <a16:creationId xmlns:a16="http://schemas.microsoft.com/office/drawing/2014/main" id="{7CDB771C-40F6-4DAA-3A47-53950DEB97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8161" y="2937750"/>
            <a:ext cx="966789" cy="966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3097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E82E3-5F4E-190D-2139-FCCB2EBEB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D0CD0-E876-132E-19EB-ED4F398CEF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448" y="735283"/>
            <a:ext cx="5623560" cy="1861613"/>
          </a:xfrm>
        </p:spPr>
        <p:txBody>
          <a:bodyPr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3500" b="1" dirty="0"/>
              <a:t>Database Control Statement</a:t>
            </a:r>
            <a:br>
              <a:rPr lang="en-US" sz="3500" b="1" dirty="0"/>
            </a:br>
            <a:br>
              <a:rPr lang="en-US" sz="3800" dirty="0"/>
            </a:br>
            <a:r>
              <a:rPr lang="en-US" sz="3800" dirty="0"/>
              <a:t>3. </a:t>
            </a:r>
            <a:r>
              <a:rPr lang="en-US" sz="3000" dirty="0"/>
              <a:t>DQL (Data Query Language)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14B0B2-D089-596D-0ACA-65E0997741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47825" y="3063240"/>
            <a:ext cx="3733800" cy="2401935"/>
          </a:xfrm>
        </p:spPr>
        <p:txBody>
          <a:bodyPr>
            <a:normAutofit/>
          </a:bodyPr>
          <a:lstStyle/>
          <a:p>
            <a:pPr marL="914400" lvl="1" indent="-457200" algn="l">
              <a:lnSpc>
                <a:spcPct val="90000"/>
              </a:lnSpc>
              <a:buFont typeface="Courier New" panose="02070309020205020404" pitchFamily="49" charset="0"/>
              <a:buChar char="o"/>
            </a:pPr>
            <a:r>
              <a:rPr lang="en-US" sz="2400" dirty="0"/>
              <a:t>SELECT </a:t>
            </a:r>
          </a:p>
        </p:txBody>
      </p:sp>
      <p:pic>
        <p:nvPicPr>
          <p:cNvPr id="7" name="Graphic 6" descr="Flowchart">
            <a:extLst>
              <a:ext uri="{FF2B5EF4-FFF2-40B4-BE49-F238E27FC236}">
                <a16:creationId xmlns:a16="http://schemas.microsoft.com/office/drawing/2014/main" id="{10985BA8-85AD-EDB9-DA50-34733E5646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8161" y="2937750"/>
            <a:ext cx="966789" cy="966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1727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7832B-9AE2-CE9A-3975-B6C10C03B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6EC3E-2835-07DB-8FD4-9A609B2A43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448" y="735283"/>
            <a:ext cx="5623560" cy="1861613"/>
          </a:xfrm>
        </p:spPr>
        <p:txBody>
          <a:bodyPr anchor="b">
            <a:normAutofit fontScale="90000"/>
          </a:bodyPr>
          <a:lstStyle/>
          <a:p>
            <a:pPr algn="l">
              <a:lnSpc>
                <a:spcPct val="90000"/>
              </a:lnSpc>
            </a:pPr>
            <a:r>
              <a:rPr lang="en-US" sz="3500" b="1" dirty="0"/>
              <a:t>Database Control Statement</a:t>
            </a:r>
            <a:br>
              <a:rPr lang="en-US" sz="3500" b="1" dirty="0"/>
            </a:br>
            <a:br>
              <a:rPr lang="en-US" sz="3800" dirty="0"/>
            </a:br>
            <a:r>
              <a:rPr lang="en-US" sz="3800" dirty="0"/>
              <a:t>4. </a:t>
            </a:r>
            <a:r>
              <a:rPr lang="en-US" sz="3000" dirty="0"/>
              <a:t>TCL (Transaction Control Language)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B5D9A4-89C9-AD9B-F703-FC0B7C0A01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47825" y="3063240"/>
            <a:ext cx="3733800" cy="2401935"/>
          </a:xfrm>
        </p:spPr>
        <p:txBody>
          <a:bodyPr>
            <a:normAutofit/>
          </a:bodyPr>
          <a:lstStyle/>
          <a:p>
            <a:pPr marL="914400" lvl="1" indent="-457200" algn="l">
              <a:lnSpc>
                <a:spcPct val="90000"/>
              </a:lnSpc>
              <a:buFont typeface="Courier New" panose="02070309020205020404" pitchFamily="49" charset="0"/>
              <a:buChar char="o"/>
            </a:pPr>
            <a:r>
              <a:rPr lang="en-US" sz="2400" dirty="0"/>
              <a:t>Commit </a:t>
            </a:r>
          </a:p>
          <a:p>
            <a:pPr marL="914400" lvl="1" indent="-457200" algn="l">
              <a:lnSpc>
                <a:spcPct val="90000"/>
              </a:lnSpc>
              <a:buFont typeface="Courier New" panose="02070309020205020404" pitchFamily="49" charset="0"/>
              <a:buChar char="o"/>
            </a:pPr>
            <a:r>
              <a:rPr lang="en-US" sz="2400" dirty="0"/>
              <a:t>Rollback </a:t>
            </a:r>
          </a:p>
        </p:txBody>
      </p:sp>
      <p:pic>
        <p:nvPicPr>
          <p:cNvPr id="7" name="Graphic 6" descr="Flowchart">
            <a:extLst>
              <a:ext uri="{FF2B5EF4-FFF2-40B4-BE49-F238E27FC236}">
                <a16:creationId xmlns:a16="http://schemas.microsoft.com/office/drawing/2014/main" id="{E8010855-292B-472C-325E-9DF6003610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8161" y="2937750"/>
            <a:ext cx="966789" cy="966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3881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889AE-7AF9-EC97-5CFA-D51831C5F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A4DA2-ED4C-03B0-F2CD-A59FAF6373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448" y="735283"/>
            <a:ext cx="5623560" cy="1861613"/>
          </a:xfrm>
        </p:spPr>
        <p:txBody>
          <a:bodyPr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3500" b="1" dirty="0"/>
              <a:t>Database Control Statement</a:t>
            </a:r>
            <a:br>
              <a:rPr lang="en-US" sz="3500" b="1" dirty="0"/>
            </a:br>
            <a:br>
              <a:rPr lang="en-US" sz="3800" dirty="0"/>
            </a:br>
            <a:r>
              <a:rPr lang="en-US" sz="3800" dirty="0"/>
              <a:t>5. </a:t>
            </a:r>
            <a:r>
              <a:rPr lang="en-US" sz="3000" dirty="0"/>
              <a:t>DCL (Data Control Language)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854859-2F6F-6362-1A47-E84DA573D4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47825" y="3063240"/>
            <a:ext cx="3733800" cy="2401935"/>
          </a:xfrm>
        </p:spPr>
        <p:txBody>
          <a:bodyPr>
            <a:normAutofit/>
          </a:bodyPr>
          <a:lstStyle/>
          <a:p>
            <a:pPr marL="914400" lvl="1" indent="-457200" algn="l">
              <a:lnSpc>
                <a:spcPct val="90000"/>
              </a:lnSpc>
              <a:buFont typeface="Courier New" panose="02070309020205020404" pitchFamily="49" charset="0"/>
              <a:buChar char="o"/>
            </a:pPr>
            <a:r>
              <a:rPr lang="en-US" sz="2400" dirty="0"/>
              <a:t>GRANT </a:t>
            </a:r>
          </a:p>
          <a:p>
            <a:pPr marL="914400" lvl="1" indent="-457200" algn="l">
              <a:lnSpc>
                <a:spcPct val="90000"/>
              </a:lnSpc>
              <a:buFont typeface="Courier New" panose="02070309020205020404" pitchFamily="49" charset="0"/>
              <a:buChar char="o"/>
            </a:pPr>
            <a:r>
              <a:rPr lang="en-US" sz="2400" dirty="0"/>
              <a:t>ROLLBACK </a:t>
            </a:r>
          </a:p>
        </p:txBody>
      </p:sp>
      <p:pic>
        <p:nvPicPr>
          <p:cNvPr id="7" name="Graphic 6" descr="Flowchart">
            <a:extLst>
              <a:ext uri="{FF2B5EF4-FFF2-40B4-BE49-F238E27FC236}">
                <a16:creationId xmlns:a16="http://schemas.microsoft.com/office/drawing/2014/main" id="{1639CDCF-6316-45D9-E516-B9E767921D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8161" y="2937750"/>
            <a:ext cx="966789" cy="966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6550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6" name="Slide Background Fill">
            <a:extLst>
              <a:ext uri="{FF2B5EF4-FFF2-40B4-BE49-F238E27FC236}">
                <a16:creationId xmlns:a16="http://schemas.microsoft.com/office/drawing/2014/main" id="{C3420C89-0B09-4632-A4AF-3971D08BF7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Color Cover">
            <a:extLst>
              <a:ext uri="{FF2B5EF4-FFF2-40B4-BE49-F238E27FC236}">
                <a16:creationId xmlns:a16="http://schemas.microsoft.com/office/drawing/2014/main" id="{4E5CBA61-BF74-40B4-A3A8-366BBA626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AC27E70C-5470-4262-B9CE-AE52C51CF4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929"/>
            <a:ext cx="9141714" cy="3490956"/>
            <a:chOff x="651279" y="598259"/>
            <a:chExt cx="10889442" cy="5680742"/>
          </a:xfrm>
        </p:grpSpPr>
        <p:sp>
          <p:nvSpPr>
            <p:cNvPr id="74" name="Color">
              <a:extLst>
                <a:ext uri="{FF2B5EF4-FFF2-40B4-BE49-F238E27FC236}">
                  <a16:creationId xmlns:a16="http://schemas.microsoft.com/office/drawing/2014/main" id="{B5C7D35F-738C-47DF-AD6E-859806E46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Color">
              <a:extLst>
                <a:ext uri="{FF2B5EF4-FFF2-40B4-BE49-F238E27FC236}">
                  <a16:creationId xmlns:a16="http://schemas.microsoft.com/office/drawing/2014/main" id="{740F8C8B-E52F-46CF-89C7-51C6A037CF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Graphic 6" descr="Priorities">
            <a:extLst>
              <a:ext uri="{FF2B5EF4-FFF2-40B4-BE49-F238E27FC236}">
                <a16:creationId xmlns:a16="http://schemas.microsoft.com/office/drawing/2014/main" id="{BA9AF9D7-85BE-0E40-B400-758CBED8C5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02735" y="1655170"/>
            <a:ext cx="3547660" cy="3547660"/>
          </a:xfrm>
          <a:prstGeom prst="rect">
            <a:avLst/>
          </a:prstGeom>
        </p:spPr>
      </p:pic>
      <p:grpSp>
        <p:nvGrpSpPr>
          <p:cNvPr id="77" name="Group 76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788" y="841249"/>
            <a:ext cx="4269714" cy="2587131"/>
          </a:xfrm>
        </p:spPr>
        <p:txBody>
          <a:bodyPr anchor="b">
            <a:normAutofit/>
          </a:bodyPr>
          <a:lstStyle/>
          <a:p>
            <a:pPr algn="l"/>
            <a:r>
              <a:rPr lang="en-US" sz="4200" dirty="0">
                <a:solidFill>
                  <a:schemeClr val="bg1"/>
                </a:solidFill>
              </a:rPr>
              <a:t>Access Control Privileges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787" y="3566810"/>
            <a:ext cx="5116069" cy="265111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Object-level privileges (SELECT, INSERT, UPDATE, DELETE)</a:t>
            </a:r>
          </a:p>
          <a:p>
            <a:pPr marL="0" indent="0">
              <a:buNone/>
            </a:pPr>
            <a:br>
              <a:rPr lang="en-US" sz="1600" dirty="0">
                <a:solidFill>
                  <a:schemeClr val="tx2"/>
                </a:solidFill>
              </a:rPr>
            </a:br>
            <a:r>
              <a:rPr lang="en-US" sz="1600" b="1" dirty="0" err="1">
                <a:solidFill>
                  <a:schemeClr val="tx2"/>
                </a:solidFill>
              </a:rPr>
              <a:t>Expample</a:t>
            </a:r>
            <a:r>
              <a:rPr lang="en-US" sz="1600" b="1" dirty="0">
                <a:solidFill>
                  <a:schemeClr val="tx2"/>
                </a:solidFill>
              </a:rPr>
              <a:t>: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chemeClr val="tx2"/>
                </a:solidFill>
              </a:rPr>
              <a:t>GRANT SELECT ON COUNTRY TO DWHDB;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chemeClr val="tx2"/>
                </a:solidFill>
              </a:rPr>
              <a:t>GRANT INSERT, UPDATE ON COUNTRY TO DWHDB;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chemeClr val="tx2"/>
                </a:solidFill>
              </a:rPr>
              <a:t>GRANT ALL ON employees TO DWHDB;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8" y="0"/>
            <a:ext cx="914171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Color Cover">
            <a:extLst>
              <a:ext uri="{FF2B5EF4-FFF2-40B4-BE49-F238E27FC236}">
                <a16:creationId xmlns:a16="http://schemas.microsoft.com/office/drawing/2014/main" id="{63C1F321-BB96-4700-B3CE-1A6156067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8" y="0"/>
            <a:ext cx="914171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FA1AD64-F15F-417D-956C-B2C211FC9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288" y="0"/>
            <a:ext cx="4548176" cy="6858000"/>
            <a:chOff x="651279" y="598259"/>
            <a:chExt cx="10889442" cy="5680742"/>
          </a:xfrm>
        </p:grpSpPr>
        <p:sp>
          <p:nvSpPr>
            <p:cNvPr id="20" name="Color">
              <a:extLst>
                <a:ext uri="{FF2B5EF4-FFF2-40B4-BE49-F238E27FC236}">
                  <a16:creationId xmlns:a16="http://schemas.microsoft.com/office/drawing/2014/main" id="{5F3C79B0-E0DE-407E-B550-3FDEB67B00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Color">
              <a:extLst>
                <a:ext uri="{FF2B5EF4-FFF2-40B4-BE49-F238E27FC236}">
                  <a16:creationId xmlns:a16="http://schemas.microsoft.com/office/drawing/2014/main" id="{A1A2DFA8-F321-4204-9B31-A3713BC652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65F523A-4AA9-589C-AF13-41D596DA25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2281" y="841664"/>
            <a:ext cx="3655995" cy="5156800"/>
          </a:xfrm>
        </p:spPr>
        <p:txBody>
          <a:bodyPr anchor="ctr">
            <a:normAutofit/>
          </a:bodyPr>
          <a:lstStyle/>
          <a:p>
            <a:pPr algn="l"/>
            <a:r>
              <a:rPr lang="en-US" sz="4200" b="1" dirty="0">
                <a:solidFill>
                  <a:schemeClr val="bg1"/>
                </a:solidFill>
              </a:rPr>
              <a:t>Key Takeaways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F1FD39-5C36-BDBC-E64F-A6C7A6D966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01014" y="841664"/>
            <a:ext cx="4342735" cy="5156800"/>
          </a:xfrm>
        </p:spPr>
        <p:txBody>
          <a:bodyPr anchor="ctr">
            <a:normAutofit/>
          </a:bodyPr>
          <a:lstStyle/>
          <a:p>
            <a:pPr marL="457200" indent="-457200" algn="l">
              <a:lnSpc>
                <a:spcPct val="90000"/>
              </a:lnSpc>
              <a:buAutoNum type="arabicPeriod"/>
            </a:pPr>
            <a:r>
              <a:rPr lang="en-US" sz="2200" dirty="0">
                <a:solidFill>
                  <a:schemeClr val="tx2"/>
                </a:solidFill>
              </a:rPr>
              <a:t>Gained an understanding of the importance of </a:t>
            </a:r>
            <a:r>
              <a:rPr lang="en-US" sz="2200" b="1" dirty="0">
                <a:solidFill>
                  <a:schemeClr val="tx2"/>
                </a:solidFill>
              </a:rPr>
              <a:t>Database Keys</a:t>
            </a:r>
            <a:r>
              <a:rPr lang="en-US" sz="2200" dirty="0">
                <a:solidFill>
                  <a:schemeClr val="tx2"/>
                </a:solidFill>
              </a:rPr>
              <a:t> in maintaining data integrity and relationships.</a:t>
            </a:r>
          </a:p>
          <a:p>
            <a:pPr marL="457200" indent="-457200" algn="l">
              <a:lnSpc>
                <a:spcPct val="90000"/>
              </a:lnSpc>
              <a:buAutoNum type="arabicPeriod"/>
            </a:pPr>
            <a:endParaRPr lang="en-US" sz="2200" dirty="0">
              <a:solidFill>
                <a:schemeClr val="tx2"/>
              </a:solidFill>
            </a:endParaRPr>
          </a:p>
          <a:p>
            <a:pPr algn="l">
              <a:lnSpc>
                <a:spcPct val="90000"/>
              </a:lnSpc>
            </a:pPr>
            <a:endParaRPr lang="en-US" sz="2200" dirty="0">
              <a:solidFill>
                <a:schemeClr val="tx2"/>
              </a:solidFill>
            </a:endParaRPr>
          </a:p>
          <a:p>
            <a:pPr algn="l">
              <a:lnSpc>
                <a:spcPct val="90000"/>
              </a:lnSpc>
            </a:pPr>
            <a:r>
              <a:rPr lang="en-US" sz="2200" dirty="0">
                <a:solidFill>
                  <a:schemeClr val="tx2"/>
                </a:solidFill>
              </a:rPr>
              <a:t>2. 	Learned the different categories 	of </a:t>
            </a:r>
            <a:r>
              <a:rPr lang="en-US" sz="2200" b="1" dirty="0">
                <a:solidFill>
                  <a:schemeClr val="tx2"/>
                </a:solidFill>
              </a:rPr>
              <a:t>SQL Statements</a:t>
            </a:r>
            <a:r>
              <a:rPr lang="en-US" sz="2200" dirty="0">
                <a:solidFill>
                  <a:schemeClr val="tx2"/>
                </a:solidFill>
              </a:rPr>
              <a:t> and their 	role in database management 	and data processing.</a:t>
            </a:r>
          </a:p>
        </p:txBody>
      </p:sp>
    </p:spTree>
    <p:extLst>
      <p:ext uri="{BB962C8B-B14F-4D97-AF65-F5344CB8AC3E}">
        <p14:creationId xmlns:p14="http://schemas.microsoft.com/office/powerpoint/2010/main" val="1914597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onference room table">
            <a:extLst>
              <a:ext uri="{FF2B5EF4-FFF2-40B4-BE49-F238E27FC236}">
                <a16:creationId xmlns:a16="http://schemas.microsoft.com/office/drawing/2014/main" id="{737B1B3D-97EA-1F09-8AA0-1B91DEC901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194"/>
          <a:stretch>
            <a:fillRect/>
          </a:stretch>
        </p:blipFill>
        <p:spPr>
          <a:xfrm>
            <a:off x="20" y="-2"/>
            <a:ext cx="4057627" cy="6858002"/>
          </a:xfrm>
          <a:prstGeom prst="rect">
            <a:avLst/>
          </a:prstGeom>
        </p:spPr>
      </p:pic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7647" y="-1"/>
            <a:ext cx="508635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379ED-3D39-B339-9D70-2DCE603C9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487" y="97971"/>
            <a:ext cx="4098726" cy="849087"/>
          </a:xfrm>
        </p:spPr>
        <p:txBody>
          <a:bodyPr>
            <a:normAutofit/>
          </a:bodyPr>
          <a:lstStyle/>
          <a:p>
            <a:r>
              <a:rPr lang="en-US" sz="3500" b="1" dirty="0"/>
              <a:t>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03D8F-C3DF-E2F8-C0B7-C391A1DFF8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7629" y="1197429"/>
            <a:ext cx="5086351" cy="5042649"/>
          </a:xfrm>
        </p:spPr>
        <p:txBody>
          <a:bodyPr anchor="ctr">
            <a:normAutofit lnSpcReduction="1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400" dirty="0"/>
              <a:t>1. </a:t>
            </a:r>
            <a:r>
              <a:rPr lang="en-US" sz="1400" b="1" dirty="0"/>
              <a:t>Which SQL command is used to add a new column to an existing table?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400" dirty="0"/>
              <a:t>A. UPDATE</a:t>
            </a:r>
            <a:br>
              <a:rPr lang="en-US" sz="1400" dirty="0"/>
            </a:br>
            <a:r>
              <a:rPr lang="en-US" sz="1400" dirty="0"/>
              <a:t>B. ALTER TABLE</a:t>
            </a:r>
            <a:br>
              <a:rPr lang="en-US" sz="1400" dirty="0"/>
            </a:br>
            <a:r>
              <a:rPr lang="en-US" sz="1400" dirty="0"/>
              <a:t>C. INSERT</a:t>
            </a:r>
            <a:br>
              <a:rPr lang="en-US" sz="1400" dirty="0"/>
            </a:br>
            <a:r>
              <a:rPr lang="en-US" sz="1400" dirty="0"/>
              <a:t>D. MODIFY</a:t>
            </a:r>
            <a:br>
              <a:rPr lang="en-US" sz="1400" dirty="0"/>
            </a:br>
            <a:endParaRPr lang="en-US" sz="14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400" b="1" dirty="0"/>
              <a:t>2. Which SQL statement removes all rows from a table but keeps its structure?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400" dirty="0"/>
              <a:t>A. DELETE</a:t>
            </a:r>
            <a:br>
              <a:rPr lang="en-US" sz="1400" dirty="0"/>
            </a:br>
            <a:r>
              <a:rPr lang="en-US" sz="1400" dirty="0"/>
              <a:t>B. DROP TABLE</a:t>
            </a:r>
            <a:br>
              <a:rPr lang="en-US" sz="1400" dirty="0"/>
            </a:br>
            <a:r>
              <a:rPr lang="en-US" sz="1400" dirty="0"/>
              <a:t>C. TRUNCATE TABLE</a:t>
            </a:r>
            <a:br>
              <a:rPr lang="en-US" sz="1400" dirty="0"/>
            </a:br>
            <a:r>
              <a:rPr lang="en-US" sz="1400" dirty="0"/>
              <a:t>D. REMOVE TABLE</a:t>
            </a:r>
            <a:br>
              <a:rPr lang="en-US" sz="1400" dirty="0"/>
            </a:br>
            <a:endParaRPr lang="en-US" sz="14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400" b="1" dirty="0"/>
              <a:t>3. A table contains duplicate employee IDs. Which constraint should be added to prevent duplicate IDs?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400" dirty="0"/>
              <a:t>A. CHECK Constraint</a:t>
            </a:r>
            <a:br>
              <a:rPr lang="en-US" sz="1400" dirty="0"/>
            </a:br>
            <a:r>
              <a:rPr lang="en-US" sz="1400" dirty="0"/>
              <a:t>B. Foreign Key</a:t>
            </a:r>
            <a:br>
              <a:rPr lang="en-US" sz="1400" dirty="0"/>
            </a:br>
            <a:r>
              <a:rPr lang="en-US" sz="1400" dirty="0"/>
              <a:t>C. Primary Key</a:t>
            </a:r>
            <a:br>
              <a:rPr lang="en-US" sz="1400" dirty="0"/>
            </a:br>
            <a:r>
              <a:rPr lang="en-US" sz="1400" dirty="0"/>
              <a:t>D. DEFAULT Constraint</a:t>
            </a:r>
            <a:br>
              <a:rPr lang="en-US" sz="1400" dirty="0"/>
            </a:br>
            <a:endParaRPr lang="en-US" sz="14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400" b="1" dirty="0"/>
              <a:t>4. Which operation will fail due to referential integrity?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400" dirty="0"/>
              <a:t>A. Inserting a valid foreign key value</a:t>
            </a:r>
            <a:br>
              <a:rPr lang="en-US" sz="1400" dirty="0"/>
            </a:br>
            <a:r>
              <a:rPr lang="en-US" sz="1400" dirty="0"/>
              <a:t>B. Updating a parent table record</a:t>
            </a:r>
            <a:br>
              <a:rPr lang="en-US" sz="1400" dirty="0"/>
            </a:br>
            <a:r>
              <a:rPr lang="en-US" sz="1400" dirty="0"/>
              <a:t>C. Inserting a foreign key value that does not exist in the parent table</a:t>
            </a:r>
            <a:br>
              <a:rPr lang="en-US" sz="1400" dirty="0"/>
            </a:br>
            <a:r>
              <a:rPr lang="en-US" sz="1400" dirty="0"/>
              <a:t>D. Selecting data from a child table</a:t>
            </a:r>
          </a:p>
          <a:p>
            <a:pPr marL="0" indent="0">
              <a:lnSpc>
                <a:spcPct val="90000"/>
              </a:lnSpc>
              <a:buNone/>
            </a:pPr>
            <a:endParaRPr lang="en-US" sz="900" dirty="0"/>
          </a:p>
          <a:p>
            <a:pPr marL="0" indent="0">
              <a:lnSpc>
                <a:spcPct val="90000"/>
              </a:lnSpc>
              <a:buNone/>
            </a:pPr>
            <a:endParaRPr lang="en-US" sz="900" dirty="0"/>
          </a:p>
          <a:p>
            <a:pPr marL="0" indent="0">
              <a:lnSpc>
                <a:spcPct val="90000"/>
              </a:lnSpc>
              <a:buNone/>
            </a:pP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4980919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5D13CC36-B950-4F02-9BAF-9A7EB267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4F2E2428-58BA-458D-AA54-05502E63F3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561161" cy="6857999"/>
          </a:xfrm>
          <a:custGeom>
            <a:avLst/>
            <a:gdLst>
              <a:gd name="connsiteX0" fmla="*/ 0 w 9024730"/>
              <a:gd name="connsiteY0" fmla="*/ 0 h 6857999"/>
              <a:gd name="connsiteX1" fmla="*/ 9024730 w 9024730"/>
              <a:gd name="connsiteY1" fmla="*/ 0 h 6857999"/>
              <a:gd name="connsiteX2" fmla="*/ 9024730 w 9024730"/>
              <a:gd name="connsiteY2" fmla="*/ 2 h 6857999"/>
              <a:gd name="connsiteX3" fmla="*/ 8447016 w 9024730"/>
              <a:gd name="connsiteY3" fmla="*/ 2 h 6857999"/>
              <a:gd name="connsiteX4" fmla="*/ 8441214 w 9024730"/>
              <a:gd name="connsiteY4" fmla="*/ 14562 h 6857999"/>
              <a:gd name="connsiteX5" fmla="*/ 8445389 w 9024730"/>
              <a:gd name="connsiteY5" fmla="*/ 59077 h 6857999"/>
              <a:gd name="connsiteX6" fmla="*/ 8437086 w 9024730"/>
              <a:gd name="connsiteY6" fmla="*/ 107668 h 6857999"/>
              <a:gd name="connsiteX7" fmla="*/ 8458599 w 9024730"/>
              <a:gd name="connsiteY7" fmla="*/ 246136 h 6857999"/>
              <a:gd name="connsiteX8" fmla="*/ 8433237 w 9024730"/>
              <a:gd name="connsiteY8" fmla="*/ 372908 h 6857999"/>
              <a:gd name="connsiteX9" fmla="*/ 8430194 w 9024730"/>
              <a:gd name="connsiteY9" fmla="*/ 450607 h 6857999"/>
              <a:gd name="connsiteX10" fmla="*/ 8443315 w 9024730"/>
              <a:gd name="connsiteY10" fmla="*/ 812800 h 6857999"/>
              <a:gd name="connsiteX11" fmla="*/ 8453042 w 9024730"/>
              <a:gd name="connsiteY11" fmla="*/ 912727 h 6857999"/>
              <a:gd name="connsiteX12" fmla="*/ 8451649 w 9024730"/>
              <a:gd name="connsiteY12" fmla="*/ 989950 h 6857999"/>
              <a:gd name="connsiteX13" fmla="*/ 8455592 w 9024730"/>
              <a:gd name="connsiteY13" fmla="*/ 1141745 h 6857999"/>
              <a:gd name="connsiteX14" fmla="*/ 8470203 w 9024730"/>
              <a:gd name="connsiteY14" fmla="*/ 1265454 h 6857999"/>
              <a:gd name="connsiteX15" fmla="*/ 8499638 w 9024730"/>
              <a:gd name="connsiteY15" fmla="*/ 1385480 h 6857999"/>
              <a:gd name="connsiteX16" fmla="*/ 8518660 w 9024730"/>
              <a:gd name="connsiteY16" fmla="*/ 1458060 h 6857999"/>
              <a:gd name="connsiteX17" fmla="*/ 8539125 w 9024730"/>
              <a:gd name="connsiteY17" fmla="*/ 1513175 h 6857999"/>
              <a:gd name="connsiteX18" fmla="*/ 8570281 w 9024730"/>
              <a:gd name="connsiteY18" fmla="*/ 1570809 h 6857999"/>
              <a:gd name="connsiteX19" fmla="*/ 8605212 w 9024730"/>
              <a:gd name="connsiteY19" fmla="*/ 1638391 h 6857999"/>
              <a:gd name="connsiteX20" fmla="*/ 8626457 w 9024730"/>
              <a:gd name="connsiteY20" fmla="*/ 1742490 h 6857999"/>
              <a:gd name="connsiteX21" fmla="*/ 8654861 w 9024730"/>
              <a:gd name="connsiteY21" fmla="*/ 1818229 h 6857999"/>
              <a:gd name="connsiteX22" fmla="*/ 8648005 w 9024730"/>
              <a:gd name="connsiteY22" fmla="*/ 1862723 h 6857999"/>
              <a:gd name="connsiteX23" fmla="*/ 8654469 w 9024730"/>
              <a:gd name="connsiteY23" fmla="*/ 1917476 h 6857999"/>
              <a:gd name="connsiteX24" fmla="*/ 8649702 w 9024730"/>
              <a:gd name="connsiteY24" fmla="*/ 1972204 h 6857999"/>
              <a:gd name="connsiteX25" fmla="*/ 8656357 w 9024730"/>
              <a:gd name="connsiteY25" fmla="*/ 2054291 h 6857999"/>
              <a:gd name="connsiteX26" fmla="*/ 8648660 w 9024730"/>
              <a:gd name="connsiteY26" fmla="*/ 2227417 h 6857999"/>
              <a:gd name="connsiteX27" fmla="*/ 8607609 w 9024730"/>
              <a:gd name="connsiteY27" fmla="*/ 2510933 h 6857999"/>
              <a:gd name="connsiteX28" fmla="*/ 8608432 w 9024730"/>
              <a:gd name="connsiteY28" fmla="*/ 2741866 h 6857999"/>
              <a:gd name="connsiteX29" fmla="*/ 8619112 w 9024730"/>
              <a:gd name="connsiteY29" fmla="*/ 2864935 h 6857999"/>
              <a:gd name="connsiteX30" fmla="*/ 8627742 w 9024730"/>
              <a:gd name="connsiteY30" fmla="*/ 2950807 h 6857999"/>
              <a:gd name="connsiteX31" fmla="*/ 8611822 w 9024730"/>
              <a:gd name="connsiteY31" fmla="*/ 2978246 h 6857999"/>
              <a:gd name="connsiteX32" fmla="*/ 8608239 w 9024730"/>
              <a:gd name="connsiteY32" fmla="*/ 2995916 h 6857999"/>
              <a:gd name="connsiteX33" fmla="*/ 8598647 w 9024730"/>
              <a:gd name="connsiteY33" fmla="*/ 2998648 h 6857999"/>
              <a:gd name="connsiteX34" fmla="*/ 8587108 w 9024730"/>
              <a:gd name="connsiteY34" fmla="*/ 3023630 h 6857999"/>
              <a:gd name="connsiteX35" fmla="*/ 8577885 w 9024730"/>
              <a:gd name="connsiteY35" fmla="*/ 3096975 h 6857999"/>
              <a:gd name="connsiteX36" fmla="*/ 8557492 w 9024730"/>
              <a:gd name="connsiteY36" fmla="*/ 3216657 h 6857999"/>
              <a:gd name="connsiteX37" fmla="*/ 8560894 w 9024730"/>
              <a:gd name="connsiteY37" fmla="*/ 3310980 h 6857999"/>
              <a:gd name="connsiteX38" fmla="*/ 8547852 w 9024730"/>
              <a:gd name="connsiteY38" fmla="*/ 3344725 h 6857999"/>
              <a:gd name="connsiteX39" fmla="*/ 8535427 w 9024730"/>
              <a:gd name="connsiteY39" fmla="*/ 3393250 h 6857999"/>
              <a:gd name="connsiteX40" fmla="*/ 8520092 w 9024730"/>
              <a:gd name="connsiteY40" fmla="*/ 3514536 h 6857999"/>
              <a:gd name="connsiteX41" fmla="*/ 8497231 w 9024730"/>
              <a:gd name="connsiteY41" fmla="*/ 3686149 h 6857999"/>
              <a:gd name="connsiteX42" fmla="*/ 8489799 w 9024730"/>
              <a:gd name="connsiteY42" fmla="*/ 3692208 h 6857999"/>
              <a:gd name="connsiteX43" fmla="*/ 8475804 w 9024730"/>
              <a:gd name="connsiteY43" fmla="*/ 3776022 h 6857999"/>
              <a:gd name="connsiteX44" fmla="*/ 8471279 w 9024730"/>
              <a:gd name="connsiteY44" fmla="*/ 3977138 h 6857999"/>
              <a:gd name="connsiteX45" fmla="*/ 8408913 w 9024730"/>
              <a:gd name="connsiteY45" fmla="*/ 4222149 h 6857999"/>
              <a:gd name="connsiteX46" fmla="*/ 8402112 w 9024730"/>
              <a:gd name="connsiteY46" fmla="*/ 4364683 h 6857999"/>
              <a:gd name="connsiteX47" fmla="*/ 8393355 w 9024730"/>
              <a:gd name="connsiteY47" fmla="*/ 4462471 h 6857999"/>
              <a:gd name="connsiteX48" fmla="*/ 8376166 w 9024730"/>
              <a:gd name="connsiteY48" fmla="*/ 4574052 h 6857999"/>
              <a:gd name="connsiteX49" fmla="*/ 8341678 w 9024730"/>
              <a:gd name="connsiteY49" fmla="*/ 4667756 h 6857999"/>
              <a:gd name="connsiteX50" fmla="*/ 8273661 w 9024730"/>
              <a:gd name="connsiteY50" fmla="*/ 4799019 h 6857999"/>
              <a:gd name="connsiteX51" fmla="*/ 8256132 w 9024730"/>
              <a:gd name="connsiteY51" fmla="*/ 4849614 h 6857999"/>
              <a:gd name="connsiteX52" fmla="*/ 8226804 w 9024730"/>
              <a:gd name="connsiteY52" fmla="*/ 4919971 h 6857999"/>
              <a:gd name="connsiteX53" fmla="*/ 8171825 w 9024730"/>
              <a:gd name="connsiteY53" fmla="*/ 5010766 h 6857999"/>
              <a:gd name="connsiteX54" fmla="*/ 8143172 w 9024730"/>
              <a:gd name="connsiteY54" fmla="*/ 5088190 h 6857999"/>
              <a:gd name="connsiteX55" fmla="*/ 8126363 w 9024730"/>
              <a:gd name="connsiteY55" fmla="*/ 5143922 h 6857999"/>
              <a:gd name="connsiteX56" fmla="*/ 8103782 w 9024730"/>
              <a:gd name="connsiteY56" fmla="*/ 5284346 h 6857999"/>
              <a:gd name="connsiteX57" fmla="*/ 8084361 w 9024730"/>
              <a:gd name="connsiteY57" fmla="*/ 5390948 h 6857999"/>
              <a:gd name="connsiteX58" fmla="*/ 8062552 w 9024730"/>
              <a:gd name="connsiteY58" fmla="*/ 5470854 h 6857999"/>
              <a:gd name="connsiteX59" fmla="*/ 8057342 w 9024730"/>
              <a:gd name="connsiteY59" fmla="*/ 5529643 h 6857999"/>
              <a:gd name="connsiteX60" fmla="*/ 8044923 w 9024730"/>
              <a:gd name="connsiteY60" fmla="*/ 5597292 h 6857999"/>
              <a:gd name="connsiteX61" fmla="*/ 8035233 w 9024730"/>
              <a:gd name="connsiteY61" fmla="*/ 5608899 h 6857999"/>
              <a:gd name="connsiteX62" fmla="*/ 8018178 w 9024730"/>
              <a:gd name="connsiteY62" fmla="*/ 5684911 h 6857999"/>
              <a:gd name="connsiteX63" fmla="*/ 8018018 w 9024730"/>
              <a:gd name="connsiteY63" fmla="*/ 5755776 h 6857999"/>
              <a:gd name="connsiteX64" fmla="*/ 8008640 w 9024730"/>
              <a:gd name="connsiteY64" fmla="*/ 5889599 h 6857999"/>
              <a:gd name="connsiteX65" fmla="*/ 8013542 w 9024730"/>
              <a:gd name="connsiteY65" fmla="*/ 5989744 h 6857999"/>
              <a:gd name="connsiteX66" fmla="*/ 7980757 w 9024730"/>
              <a:gd name="connsiteY66" fmla="*/ 6084926 h 6857999"/>
              <a:gd name="connsiteX67" fmla="*/ 7975907 w 9024730"/>
              <a:gd name="connsiteY67" fmla="*/ 6346549 h 6857999"/>
              <a:gd name="connsiteX68" fmla="*/ 7974221 w 9024730"/>
              <a:gd name="connsiteY68" fmla="*/ 6527527 h 6857999"/>
              <a:gd name="connsiteX69" fmla="*/ 7979135 w 9024730"/>
              <a:gd name="connsiteY69" fmla="*/ 6627129 h 6857999"/>
              <a:gd name="connsiteX70" fmla="*/ 7979404 w 9024730"/>
              <a:gd name="connsiteY70" fmla="*/ 6694819 h 6857999"/>
              <a:gd name="connsiteX71" fmla="*/ 8009526 w 9024730"/>
              <a:gd name="connsiteY71" fmla="*/ 6765445 h 6857999"/>
              <a:gd name="connsiteX72" fmla="*/ 8018211 w 9024730"/>
              <a:gd name="connsiteY72" fmla="*/ 6844697 h 6857999"/>
              <a:gd name="connsiteX73" fmla="*/ 8019608 w 9024730"/>
              <a:gd name="connsiteY73" fmla="*/ 6857999 h 6857999"/>
              <a:gd name="connsiteX74" fmla="*/ 0 w 9024730"/>
              <a:gd name="connsiteY7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9024730" h="6857999">
                <a:moveTo>
                  <a:pt x="0" y="0"/>
                </a:moveTo>
                <a:lnTo>
                  <a:pt x="9024730" y="0"/>
                </a:lnTo>
                <a:lnTo>
                  <a:pt x="9024730" y="2"/>
                </a:lnTo>
                <a:lnTo>
                  <a:pt x="8447016" y="2"/>
                </a:lnTo>
                <a:lnTo>
                  <a:pt x="8441214" y="14562"/>
                </a:lnTo>
                <a:lnTo>
                  <a:pt x="8445389" y="59077"/>
                </a:lnTo>
                <a:cubicBezTo>
                  <a:pt x="8445971" y="76949"/>
                  <a:pt x="8436504" y="89796"/>
                  <a:pt x="8437086" y="107668"/>
                </a:cubicBezTo>
                <a:cubicBezTo>
                  <a:pt x="8417947" y="138162"/>
                  <a:pt x="8459241" y="201929"/>
                  <a:pt x="8458599" y="246136"/>
                </a:cubicBezTo>
                <a:cubicBezTo>
                  <a:pt x="8457958" y="290343"/>
                  <a:pt x="8471649" y="364179"/>
                  <a:pt x="8433237" y="372908"/>
                </a:cubicBezTo>
                <a:cubicBezTo>
                  <a:pt x="8426916" y="431308"/>
                  <a:pt x="8438389" y="357606"/>
                  <a:pt x="8430194" y="450607"/>
                </a:cubicBezTo>
                <a:cubicBezTo>
                  <a:pt x="8466727" y="551950"/>
                  <a:pt x="8430182" y="787036"/>
                  <a:pt x="8443315" y="812800"/>
                </a:cubicBezTo>
                <a:cubicBezTo>
                  <a:pt x="8478999" y="860799"/>
                  <a:pt x="8435788" y="854953"/>
                  <a:pt x="8453042" y="912727"/>
                </a:cubicBezTo>
                <a:cubicBezTo>
                  <a:pt x="8462900" y="945986"/>
                  <a:pt x="8451223" y="951781"/>
                  <a:pt x="8451649" y="989950"/>
                </a:cubicBezTo>
                <a:cubicBezTo>
                  <a:pt x="8452074" y="1028120"/>
                  <a:pt x="8452500" y="1095828"/>
                  <a:pt x="8455592" y="1141745"/>
                </a:cubicBezTo>
                <a:cubicBezTo>
                  <a:pt x="8458684" y="1187662"/>
                  <a:pt x="8470047" y="1234783"/>
                  <a:pt x="8470203" y="1265454"/>
                </a:cubicBezTo>
                <a:cubicBezTo>
                  <a:pt x="8458947" y="1304052"/>
                  <a:pt x="8496012" y="1370755"/>
                  <a:pt x="8499638" y="1385480"/>
                </a:cubicBezTo>
                <a:cubicBezTo>
                  <a:pt x="8514485" y="1422714"/>
                  <a:pt x="8525070" y="1428103"/>
                  <a:pt x="8518660" y="1458060"/>
                </a:cubicBezTo>
                <a:cubicBezTo>
                  <a:pt x="8518783" y="1468057"/>
                  <a:pt x="8539003" y="1503177"/>
                  <a:pt x="8539125" y="1513175"/>
                </a:cubicBezTo>
                <a:lnTo>
                  <a:pt x="8570281" y="1570809"/>
                </a:lnTo>
                <a:cubicBezTo>
                  <a:pt x="8597636" y="1617136"/>
                  <a:pt x="8594573" y="1601443"/>
                  <a:pt x="8605212" y="1638391"/>
                </a:cubicBezTo>
                <a:cubicBezTo>
                  <a:pt x="8629645" y="1719640"/>
                  <a:pt x="8613884" y="1715203"/>
                  <a:pt x="8626457" y="1742490"/>
                </a:cubicBezTo>
                <a:lnTo>
                  <a:pt x="8654861" y="1818229"/>
                </a:lnTo>
                <a:cubicBezTo>
                  <a:pt x="8657202" y="1824059"/>
                  <a:pt x="8651899" y="1851211"/>
                  <a:pt x="8648005" y="1862723"/>
                </a:cubicBezTo>
                <a:lnTo>
                  <a:pt x="8654469" y="1917476"/>
                </a:lnTo>
                <a:lnTo>
                  <a:pt x="8649702" y="1972204"/>
                </a:lnTo>
                <a:cubicBezTo>
                  <a:pt x="8652251" y="1979569"/>
                  <a:pt x="8651461" y="2048203"/>
                  <a:pt x="8656357" y="2054291"/>
                </a:cubicBezTo>
                <a:cubicBezTo>
                  <a:pt x="8672645" y="2141657"/>
                  <a:pt x="8632397" y="2189849"/>
                  <a:pt x="8648660" y="2227417"/>
                </a:cubicBezTo>
                <a:cubicBezTo>
                  <a:pt x="8639941" y="2317591"/>
                  <a:pt x="8613796" y="2407644"/>
                  <a:pt x="8607609" y="2510933"/>
                </a:cubicBezTo>
                <a:cubicBezTo>
                  <a:pt x="8633490" y="2597916"/>
                  <a:pt x="8602674" y="2649734"/>
                  <a:pt x="8608432" y="2741866"/>
                </a:cubicBezTo>
                <a:cubicBezTo>
                  <a:pt x="8630300" y="2779815"/>
                  <a:pt x="8631929" y="2817058"/>
                  <a:pt x="8619112" y="2864935"/>
                </a:cubicBezTo>
                <a:cubicBezTo>
                  <a:pt x="8655820" y="2860552"/>
                  <a:pt x="8588374" y="2937673"/>
                  <a:pt x="8627742" y="2950807"/>
                </a:cubicBezTo>
                <a:lnTo>
                  <a:pt x="8611822" y="2978246"/>
                </a:lnTo>
                <a:lnTo>
                  <a:pt x="8608239" y="2995916"/>
                </a:lnTo>
                <a:lnTo>
                  <a:pt x="8598647" y="2998648"/>
                </a:lnTo>
                <a:lnTo>
                  <a:pt x="8587108" y="3023630"/>
                </a:lnTo>
                <a:cubicBezTo>
                  <a:pt x="8584111" y="3033333"/>
                  <a:pt x="8577413" y="3084375"/>
                  <a:pt x="8577885" y="3096975"/>
                </a:cubicBezTo>
                <a:cubicBezTo>
                  <a:pt x="8594321" y="3142205"/>
                  <a:pt x="8535131" y="3160433"/>
                  <a:pt x="8557492" y="3216657"/>
                </a:cubicBezTo>
                <a:cubicBezTo>
                  <a:pt x="8562518" y="3237178"/>
                  <a:pt x="8573573" y="3299737"/>
                  <a:pt x="8560894" y="3310980"/>
                </a:cubicBezTo>
                <a:cubicBezTo>
                  <a:pt x="8557601" y="3323902"/>
                  <a:pt x="8561083" y="3339340"/>
                  <a:pt x="8547852" y="3344725"/>
                </a:cubicBezTo>
                <a:cubicBezTo>
                  <a:pt x="8531788" y="3353908"/>
                  <a:pt x="8553430" y="3400659"/>
                  <a:pt x="8535427" y="3393250"/>
                </a:cubicBezTo>
                <a:cubicBezTo>
                  <a:pt x="8550195" y="3426421"/>
                  <a:pt x="8529553" y="3487753"/>
                  <a:pt x="8520092" y="3514536"/>
                </a:cubicBezTo>
                <a:cubicBezTo>
                  <a:pt x="8513726" y="3563353"/>
                  <a:pt x="8500070" y="3650327"/>
                  <a:pt x="8497231" y="3686149"/>
                </a:cubicBezTo>
                <a:cubicBezTo>
                  <a:pt x="8494574" y="3687657"/>
                  <a:pt x="8493370" y="3677229"/>
                  <a:pt x="8489799" y="3692208"/>
                </a:cubicBezTo>
                <a:cubicBezTo>
                  <a:pt x="8486228" y="3707187"/>
                  <a:pt x="8465938" y="3757479"/>
                  <a:pt x="8475804" y="3776022"/>
                </a:cubicBezTo>
                <a:cubicBezTo>
                  <a:pt x="8441061" y="3875691"/>
                  <a:pt x="8487451" y="3939839"/>
                  <a:pt x="8471279" y="3977138"/>
                </a:cubicBezTo>
                <a:cubicBezTo>
                  <a:pt x="8465599" y="4067300"/>
                  <a:pt x="8419685" y="4164564"/>
                  <a:pt x="8408913" y="4222149"/>
                </a:cubicBezTo>
                <a:cubicBezTo>
                  <a:pt x="8403583" y="4287917"/>
                  <a:pt x="8398240" y="4339232"/>
                  <a:pt x="8402112" y="4364683"/>
                </a:cubicBezTo>
                <a:lnTo>
                  <a:pt x="8393355" y="4462471"/>
                </a:lnTo>
                <a:cubicBezTo>
                  <a:pt x="8396004" y="4503329"/>
                  <a:pt x="8376320" y="4548111"/>
                  <a:pt x="8376166" y="4574052"/>
                </a:cubicBezTo>
                <a:cubicBezTo>
                  <a:pt x="8369380" y="4670665"/>
                  <a:pt x="8352302" y="4649921"/>
                  <a:pt x="8341678" y="4667756"/>
                </a:cubicBezTo>
                <a:cubicBezTo>
                  <a:pt x="8320864" y="4705850"/>
                  <a:pt x="8290794" y="4758928"/>
                  <a:pt x="8273661" y="4799019"/>
                </a:cubicBezTo>
                <a:cubicBezTo>
                  <a:pt x="8254323" y="4834076"/>
                  <a:pt x="8262378" y="4811645"/>
                  <a:pt x="8256132" y="4849614"/>
                </a:cubicBezTo>
                <a:cubicBezTo>
                  <a:pt x="8239320" y="4853334"/>
                  <a:pt x="8207060" y="4883089"/>
                  <a:pt x="8226804" y="4919971"/>
                </a:cubicBezTo>
                <a:lnTo>
                  <a:pt x="8171825" y="5010766"/>
                </a:lnTo>
                <a:cubicBezTo>
                  <a:pt x="8150097" y="4983259"/>
                  <a:pt x="8165842" y="5107656"/>
                  <a:pt x="8143172" y="5088190"/>
                </a:cubicBezTo>
                <a:cubicBezTo>
                  <a:pt x="8128060" y="5102008"/>
                  <a:pt x="8138350" y="5118851"/>
                  <a:pt x="8126363" y="5143922"/>
                </a:cubicBezTo>
                <a:cubicBezTo>
                  <a:pt x="8116335" y="5192745"/>
                  <a:pt x="8111851" y="5226225"/>
                  <a:pt x="8103782" y="5284346"/>
                </a:cubicBezTo>
                <a:cubicBezTo>
                  <a:pt x="8101016" y="5338386"/>
                  <a:pt x="8095811" y="5337325"/>
                  <a:pt x="8084361" y="5390948"/>
                </a:cubicBezTo>
                <a:cubicBezTo>
                  <a:pt x="8082912" y="5429655"/>
                  <a:pt x="8063705" y="5449508"/>
                  <a:pt x="8062552" y="5470854"/>
                </a:cubicBezTo>
                <a:cubicBezTo>
                  <a:pt x="8086776" y="5526328"/>
                  <a:pt x="8037513" y="5496377"/>
                  <a:pt x="8057342" y="5529643"/>
                </a:cubicBezTo>
                <a:cubicBezTo>
                  <a:pt x="8050653" y="5550879"/>
                  <a:pt x="8055939" y="5587444"/>
                  <a:pt x="8044923" y="5597292"/>
                </a:cubicBezTo>
                <a:lnTo>
                  <a:pt x="8035233" y="5608899"/>
                </a:lnTo>
                <a:cubicBezTo>
                  <a:pt x="8030775" y="5623501"/>
                  <a:pt x="8021047" y="5660431"/>
                  <a:pt x="8018178" y="5684911"/>
                </a:cubicBezTo>
                <a:cubicBezTo>
                  <a:pt x="8005590" y="5692608"/>
                  <a:pt x="8011744" y="5734344"/>
                  <a:pt x="8018018" y="5755776"/>
                </a:cubicBezTo>
                <a:cubicBezTo>
                  <a:pt x="8019409" y="5792777"/>
                  <a:pt x="7989082" y="5848613"/>
                  <a:pt x="8008640" y="5889599"/>
                </a:cubicBezTo>
                <a:cubicBezTo>
                  <a:pt x="8011480" y="5932097"/>
                  <a:pt x="8009486" y="5940901"/>
                  <a:pt x="8013542" y="5989744"/>
                </a:cubicBezTo>
                <a:cubicBezTo>
                  <a:pt x="8022089" y="6020787"/>
                  <a:pt x="7982918" y="6024963"/>
                  <a:pt x="7980757" y="6084926"/>
                </a:cubicBezTo>
                <a:cubicBezTo>
                  <a:pt x="7974117" y="6134231"/>
                  <a:pt x="7999371" y="6240432"/>
                  <a:pt x="7975907" y="6346549"/>
                </a:cubicBezTo>
                <a:cubicBezTo>
                  <a:pt x="7987225" y="6409741"/>
                  <a:pt x="7980509" y="6468689"/>
                  <a:pt x="7974221" y="6527527"/>
                </a:cubicBezTo>
                <a:cubicBezTo>
                  <a:pt x="7955361" y="6585667"/>
                  <a:pt x="7987786" y="6579284"/>
                  <a:pt x="7979135" y="6627129"/>
                </a:cubicBezTo>
                <a:cubicBezTo>
                  <a:pt x="7983057" y="6635153"/>
                  <a:pt x="7984986" y="6697665"/>
                  <a:pt x="7979404" y="6694819"/>
                </a:cubicBezTo>
                <a:cubicBezTo>
                  <a:pt x="7981755" y="6716947"/>
                  <a:pt x="8003903" y="6732844"/>
                  <a:pt x="8009526" y="6765445"/>
                </a:cubicBezTo>
                <a:cubicBezTo>
                  <a:pt x="8011113" y="6776325"/>
                  <a:pt x="8014662" y="6810511"/>
                  <a:pt x="8018211" y="6844697"/>
                </a:cubicBezTo>
                <a:lnTo>
                  <a:pt x="8019608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A06E89-2F77-6DF8-6658-0C644B8CC3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2775" y="609601"/>
            <a:ext cx="5160770" cy="78943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Assignment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843E7A-823B-8268-B71C-3ED9B857D0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2775" y="1609346"/>
            <a:ext cx="4930463" cy="4425694"/>
          </a:xfrm>
        </p:spPr>
        <p:txBody>
          <a:bodyPr vert="horz" lIns="91440" tIns="45720" rIns="91440" bIns="45720" rtlCol="0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1400" b="1" dirty="0">
                <a:solidFill>
                  <a:schemeClr val="tx1"/>
                </a:solidFill>
              </a:rPr>
              <a:t>Objective:</a:t>
            </a:r>
          </a:p>
          <a:p>
            <a:pPr algn="l" defTabSz="914400">
              <a:lnSpc>
                <a:spcPct val="90000"/>
              </a:lnSpc>
            </a:pPr>
            <a:r>
              <a:rPr lang="en-US" sz="1400" b="1" dirty="0">
                <a:solidFill>
                  <a:schemeClr val="tx1"/>
                </a:solidFill>
              </a:rPr>
              <a:t>	Design a simple Data Warehouse (DWH) schema based on the provided source tables.</a:t>
            </a:r>
          </a:p>
          <a:p>
            <a:pPr algn="l" defTabSz="914400">
              <a:lnSpc>
                <a:spcPct val="90000"/>
              </a:lnSpc>
            </a:pPr>
            <a:r>
              <a:rPr lang="en-US" sz="1400" b="1" dirty="0">
                <a:solidFill>
                  <a:schemeClr val="tx1"/>
                </a:solidFill>
              </a:rPr>
              <a:t> Requirements: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1. Create a new schema named </a:t>
            </a:r>
            <a:r>
              <a:rPr lang="en-US" sz="1400" b="1" dirty="0">
                <a:solidFill>
                  <a:schemeClr val="tx1"/>
                </a:solidFill>
              </a:rPr>
              <a:t>TARGET</a:t>
            </a:r>
            <a:r>
              <a:rPr lang="en-US" sz="1400" dirty="0">
                <a:solidFill>
                  <a:schemeClr val="tx1"/>
                </a:solidFill>
              </a:rPr>
              <a:t> (or </a:t>
            </a:r>
            <a:r>
              <a:rPr lang="en-US" sz="1400" b="1" dirty="0">
                <a:solidFill>
                  <a:schemeClr val="tx1"/>
                </a:solidFill>
              </a:rPr>
              <a:t>DWH</a:t>
            </a:r>
            <a:r>
              <a:rPr lang="en-US" sz="1400" dirty="0">
                <a:solidFill>
                  <a:schemeClr val="tx1"/>
                </a:solidFill>
              </a:rPr>
              <a:t>).</a:t>
            </a:r>
          </a:p>
          <a:p>
            <a:pPr algn="l" defTabSz="914400">
              <a:lnSpc>
                <a:spcPct val="90000"/>
              </a:lnSpc>
            </a:pPr>
            <a:r>
              <a:rPr lang="en-US" sz="1400" dirty="0">
                <a:solidFill>
                  <a:schemeClr val="tx1"/>
                </a:solidFill>
              </a:rPr>
              <a:t>2. Create tables in the target schema using the source table </a:t>
            </a:r>
            <a:r>
              <a:rPr lang="en-US" sz="1400" dirty="0" err="1">
                <a:solidFill>
                  <a:schemeClr val="tx1"/>
                </a:solidFill>
              </a:rPr>
              <a:t>suffix_Dim</a:t>
            </a:r>
            <a:r>
              <a:rPr lang="en-US" sz="1400" dirty="0">
                <a:solidFill>
                  <a:schemeClr val="tx1"/>
                </a:solidFill>
              </a:rPr>
              <a:t> for master and suffix _fact for transaction table: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tx1"/>
                </a:solidFill>
              </a:rPr>
              <a:t>Country_Dim</a:t>
            </a:r>
            <a:endParaRPr lang="en-US" sz="1400" dirty="0">
              <a:solidFill>
                <a:schemeClr val="tx1"/>
              </a:solidFill>
            </a:endParaRP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tx1"/>
                </a:solidFill>
              </a:rPr>
              <a:t>Customer_Dim</a:t>
            </a:r>
            <a:endParaRPr lang="en-US" sz="1400" dirty="0">
              <a:solidFill>
                <a:schemeClr val="tx1"/>
              </a:solidFill>
            </a:endParaRP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tx1"/>
                </a:solidFill>
              </a:rPr>
              <a:t>Product_Dim</a:t>
            </a:r>
            <a:endParaRPr lang="en-US" sz="1400" dirty="0">
              <a:solidFill>
                <a:schemeClr val="tx1"/>
              </a:solidFill>
            </a:endParaRP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tx1"/>
                </a:solidFill>
              </a:rPr>
              <a:t>Sales_Transactions_Fact</a:t>
            </a:r>
            <a:endParaRPr lang="en-US" sz="1400" dirty="0">
              <a:solidFill>
                <a:schemeClr val="tx1"/>
              </a:solidFill>
            </a:endParaRPr>
          </a:p>
          <a:p>
            <a:pPr algn="l" defTabSz="914400">
              <a:lnSpc>
                <a:spcPct val="90000"/>
              </a:lnSpc>
            </a:pPr>
            <a:r>
              <a:rPr lang="en-US" sz="1400" dirty="0">
                <a:solidFill>
                  <a:schemeClr val="tx1"/>
                </a:solidFill>
              </a:rPr>
              <a:t>3. Add a surrogate key column to each Dimension table: 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tx1"/>
                </a:solidFill>
              </a:rPr>
              <a:t>Country_key</a:t>
            </a:r>
            <a:r>
              <a:rPr lang="en-US" sz="1400" dirty="0">
                <a:solidFill>
                  <a:schemeClr val="tx1"/>
                </a:solidFill>
              </a:rPr>
              <a:t> in </a:t>
            </a:r>
            <a:r>
              <a:rPr lang="en-US" sz="1400" dirty="0" err="1">
                <a:solidFill>
                  <a:schemeClr val="tx1"/>
                </a:solidFill>
              </a:rPr>
              <a:t>Country_Dim</a:t>
            </a:r>
            <a:endParaRPr lang="en-US" sz="1400" dirty="0">
              <a:solidFill>
                <a:schemeClr val="tx1"/>
              </a:solidFill>
            </a:endParaRP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tx1"/>
                </a:solidFill>
              </a:rPr>
              <a:t>Customer_Key</a:t>
            </a:r>
            <a:r>
              <a:rPr lang="en-US" sz="1400" dirty="0">
                <a:solidFill>
                  <a:schemeClr val="tx1"/>
                </a:solidFill>
              </a:rPr>
              <a:t> in </a:t>
            </a:r>
            <a:r>
              <a:rPr lang="en-US" sz="1400" dirty="0" err="1">
                <a:solidFill>
                  <a:schemeClr val="tx1"/>
                </a:solidFill>
              </a:rPr>
              <a:t>Customer_Dim</a:t>
            </a:r>
            <a:endParaRPr lang="en-US" sz="1400" dirty="0">
              <a:solidFill>
                <a:schemeClr val="tx1"/>
              </a:solidFill>
            </a:endParaRP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tx1"/>
                </a:solidFill>
              </a:rPr>
              <a:t>Product_Key</a:t>
            </a:r>
            <a:r>
              <a:rPr lang="en-US" sz="1400" dirty="0">
                <a:solidFill>
                  <a:schemeClr val="tx1"/>
                </a:solidFill>
              </a:rPr>
              <a:t> in </a:t>
            </a:r>
            <a:r>
              <a:rPr lang="en-US" sz="1400" dirty="0" err="1">
                <a:solidFill>
                  <a:schemeClr val="tx1"/>
                </a:solidFill>
              </a:rPr>
              <a:t>Product_Dim</a:t>
            </a:r>
            <a:endParaRPr lang="en-US" sz="1400" dirty="0">
              <a:solidFill>
                <a:schemeClr val="tx1"/>
              </a:solidFill>
            </a:endParaRPr>
          </a:p>
          <a:p>
            <a:pPr algn="l" defTabSz="914400">
              <a:lnSpc>
                <a:spcPct val="90000"/>
              </a:lnSpc>
            </a:pPr>
            <a:r>
              <a:rPr lang="en-US" sz="1400" dirty="0">
                <a:solidFill>
                  <a:schemeClr val="tx1"/>
                </a:solidFill>
              </a:rPr>
              <a:t>4. Define the surrogate key column in each Dimension table as the Primary Key.</a:t>
            </a:r>
            <a:endParaRPr lang="en-US" sz="1400" b="1" dirty="0">
              <a:solidFill>
                <a:schemeClr val="tx1"/>
              </a:solidFill>
            </a:endParaRPr>
          </a:p>
          <a:p>
            <a:pPr algn="l" defTabSz="914400">
              <a:lnSpc>
                <a:spcPct val="90000"/>
              </a:lnSpc>
            </a:pP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7" name="Graphic 6" descr="Document">
            <a:extLst>
              <a:ext uri="{FF2B5EF4-FFF2-40B4-BE49-F238E27FC236}">
                <a16:creationId xmlns:a16="http://schemas.microsoft.com/office/drawing/2014/main" id="{FD6AEA7C-9C9D-FECE-D2E8-4AAA3A5CF1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96985" y="2353600"/>
            <a:ext cx="2180230" cy="2180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8935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370627-EDE4-3DBD-37B5-34F0F09C5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D13CC36-B950-4F02-9BAF-9A7EB267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F2E2428-58BA-458D-AA54-05502E63F3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561161" cy="6857999"/>
          </a:xfrm>
          <a:custGeom>
            <a:avLst/>
            <a:gdLst>
              <a:gd name="connsiteX0" fmla="*/ 0 w 9024730"/>
              <a:gd name="connsiteY0" fmla="*/ 0 h 6857999"/>
              <a:gd name="connsiteX1" fmla="*/ 9024730 w 9024730"/>
              <a:gd name="connsiteY1" fmla="*/ 0 h 6857999"/>
              <a:gd name="connsiteX2" fmla="*/ 9024730 w 9024730"/>
              <a:gd name="connsiteY2" fmla="*/ 2 h 6857999"/>
              <a:gd name="connsiteX3" fmla="*/ 8447016 w 9024730"/>
              <a:gd name="connsiteY3" fmla="*/ 2 h 6857999"/>
              <a:gd name="connsiteX4" fmla="*/ 8441214 w 9024730"/>
              <a:gd name="connsiteY4" fmla="*/ 14562 h 6857999"/>
              <a:gd name="connsiteX5" fmla="*/ 8445389 w 9024730"/>
              <a:gd name="connsiteY5" fmla="*/ 59077 h 6857999"/>
              <a:gd name="connsiteX6" fmla="*/ 8437086 w 9024730"/>
              <a:gd name="connsiteY6" fmla="*/ 107668 h 6857999"/>
              <a:gd name="connsiteX7" fmla="*/ 8458599 w 9024730"/>
              <a:gd name="connsiteY7" fmla="*/ 246136 h 6857999"/>
              <a:gd name="connsiteX8" fmla="*/ 8433237 w 9024730"/>
              <a:gd name="connsiteY8" fmla="*/ 372908 h 6857999"/>
              <a:gd name="connsiteX9" fmla="*/ 8430194 w 9024730"/>
              <a:gd name="connsiteY9" fmla="*/ 450607 h 6857999"/>
              <a:gd name="connsiteX10" fmla="*/ 8443315 w 9024730"/>
              <a:gd name="connsiteY10" fmla="*/ 812800 h 6857999"/>
              <a:gd name="connsiteX11" fmla="*/ 8453042 w 9024730"/>
              <a:gd name="connsiteY11" fmla="*/ 912727 h 6857999"/>
              <a:gd name="connsiteX12" fmla="*/ 8451649 w 9024730"/>
              <a:gd name="connsiteY12" fmla="*/ 989950 h 6857999"/>
              <a:gd name="connsiteX13" fmla="*/ 8455592 w 9024730"/>
              <a:gd name="connsiteY13" fmla="*/ 1141745 h 6857999"/>
              <a:gd name="connsiteX14" fmla="*/ 8470203 w 9024730"/>
              <a:gd name="connsiteY14" fmla="*/ 1265454 h 6857999"/>
              <a:gd name="connsiteX15" fmla="*/ 8499638 w 9024730"/>
              <a:gd name="connsiteY15" fmla="*/ 1385480 h 6857999"/>
              <a:gd name="connsiteX16" fmla="*/ 8518660 w 9024730"/>
              <a:gd name="connsiteY16" fmla="*/ 1458060 h 6857999"/>
              <a:gd name="connsiteX17" fmla="*/ 8539125 w 9024730"/>
              <a:gd name="connsiteY17" fmla="*/ 1513175 h 6857999"/>
              <a:gd name="connsiteX18" fmla="*/ 8570281 w 9024730"/>
              <a:gd name="connsiteY18" fmla="*/ 1570809 h 6857999"/>
              <a:gd name="connsiteX19" fmla="*/ 8605212 w 9024730"/>
              <a:gd name="connsiteY19" fmla="*/ 1638391 h 6857999"/>
              <a:gd name="connsiteX20" fmla="*/ 8626457 w 9024730"/>
              <a:gd name="connsiteY20" fmla="*/ 1742490 h 6857999"/>
              <a:gd name="connsiteX21" fmla="*/ 8654861 w 9024730"/>
              <a:gd name="connsiteY21" fmla="*/ 1818229 h 6857999"/>
              <a:gd name="connsiteX22" fmla="*/ 8648005 w 9024730"/>
              <a:gd name="connsiteY22" fmla="*/ 1862723 h 6857999"/>
              <a:gd name="connsiteX23" fmla="*/ 8654469 w 9024730"/>
              <a:gd name="connsiteY23" fmla="*/ 1917476 h 6857999"/>
              <a:gd name="connsiteX24" fmla="*/ 8649702 w 9024730"/>
              <a:gd name="connsiteY24" fmla="*/ 1972204 h 6857999"/>
              <a:gd name="connsiteX25" fmla="*/ 8656357 w 9024730"/>
              <a:gd name="connsiteY25" fmla="*/ 2054291 h 6857999"/>
              <a:gd name="connsiteX26" fmla="*/ 8648660 w 9024730"/>
              <a:gd name="connsiteY26" fmla="*/ 2227417 h 6857999"/>
              <a:gd name="connsiteX27" fmla="*/ 8607609 w 9024730"/>
              <a:gd name="connsiteY27" fmla="*/ 2510933 h 6857999"/>
              <a:gd name="connsiteX28" fmla="*/ 8608432 w 9024730"/>
              <a:gd name="connsiteY28" fmla="*/ 2741866 h 6857999"/>
              <a:gd name="connsiteX29" fmla="*/ 8619112 w 9024730"/>
              <a:gd name="connsiteY29" fmla="*/ 2864935 h 6857999"/>
              <a:gd name="connsiteX30" fmla="*/ 8627742 w 9024730"/>
              <a:gd name="connsiteY30" fmla="*/ 2950807 h 6857999"/>
              <a:gd name="connsiteX31" fmla="*/ 8611822 w 9024730"/>
              <a:gd name="connsiteY31" fmla="*/ 2978246 h 6857999"/>
              <a:gd name="connsiteX32" fmla="*/ 8608239 w 9024730"/>
              <a:gd name="connsiteY32" fmla="*/ 2995916 h 6857999"/>
              <a:gd name="connsiteX33" fmla="*/ 8598647 w 9024730"/>
              <a:gd name="connsiteY33" fmla="*/ 2998648 h 6857999"/>
              <a:gd name="connsiteX34" fmla="*/ 8587108 w 9024730"/>
              <a:gd name="connsiteY34" fmla="*/ 3023630 h 6857999"/>
              <a:gd name="connsiteX35" fmla="*/ 8577885 w 9024730"/>
              <a:gd name="connsiteY35" fmla="*/ 3096975 h 6857999"/>
              <a:gd name="connsiteX36" fmla="*/ 8557492 w 9024730"/>
              <a:gd name="connsiteY36" fmla="*/ 3216657 h 6857999"/>
              <a:gd name="connsiteX37" fmla="*/ 8560894 w 9024730"/>
              <a:gd name="connsiteY37" fmla="*/ 3310980 h 6857999"/>
              <a:gd name="connsiteX38" fmla="*/ 8547852 w 9024730"/>
              <a:gd name="connsiteY38" fmla="*/ 3344725 h 6857999"/>
              <a:gd name="connsiteX39" fmla="*/ 8535427 w 9024730"/>
              <a:gd name="connsiteY39" fmla="*/ 3393250 h 6857999"/>
              <a:gd name="connsiteX40" fmla="*/ 8520092 w 9024730"/>
              <a:gd name="connsiteY40" fmla="*/ 3514536 h 6857999"/>
              <a:gd name="connsiteX41" fmla="*/ 8497231 w 9024730"/>
              <a:gd name="connsiteY41" fmla="*/ 3686149 h 6857999"/>
              <a:gd name="connsiteX42" fmla="*/ 8489799 w 9024730"/>
              <a:gd name="connsiteY42" fmla="*/ 3692208 h 6857999"/>
              <a:gd name="connsiteX43" fmla="*/ 8475804 w 9024730"/>
              <a:gd name="connsiteY43" fmla="*/ 3776022 h 6857999"/>
              <a:gd name="connsiteX44" fmla="*/ 8471279 w 9024730"/>
              <a:gd name="connsiteY44" fmla="*/ 3977138 h 6857999"/>
              <a:gd name="connsiteX45" fmla="*/ 8408913 w 9024730"/>
              <a:gd name="connsiteY45" fmla="*/ 4222149 h 6857999"/>
              <a:gd name="connsiteX46" fmla="*/ 8402112 w 9024730"/>
              <a:gd name="connsiteY46" fmla="*/ 4364683 h 6857999"/>
              <a:gd name="connsiteX47" fmla="*/ 8393355 w 9024730"/>
              <a:gd name="connsiteY47" fmla="*/ 4462471 h 6857999"/>
              <a:gd name="connsiteX48" fmla="*/ 8376166 w 9024730"/>
              <a:gd name="connsiteY48" fmla="*/ 4574052 h 6857999"/>
              <a:gd name="connsiteX49" fmla="*/ 8341678 w 9024730"/>
              <a:gd name="connsiteY49" fmla="*/ 4667756 h 6857999"/>
              <a:gd name="connsiteX50" fmla="*/ 8273661 w 9024730"/>
              <a:gd name="connsiteY50" fmla="*/ 4799019 h 6857999"/>
              <a:gd name="connsiteX51" fmla="*/ 8256132 w 9024730"/>
              <a:gd name="connsiteY51" fmla="*/ 4849614 h 6857999"/>
              <a:gd name="connsiteX52" fmla="*/ 8226804 w 9024730"/>
              <a:gd name="connsiteY52" fmla="*/ 4919971 h 6857999"/>
              <a:gd name="connsiteX53" fmla="*/ 8171825 w 9024730"/>
              <a:gd name="connsiteY53" fmla="*/ 5010766 h 6857999"/>
              <a:gd name="connsiteX54" fmla="*/ 8143172 w 9024730"/>
              <a:gd name="connsiteY54" fmla="*/ 5088190 h 6857999"/>
              <a:gd name="connsiteX55" fmla="*/ 8126363 w 9024730"/>
              <a:gd name="connsiteY55" fmla="*/ 5143922 h 6857999"/>
              <a:gd name="connsiteX56" fmla="*/ 8103782 w 9024730"/>
              <a:gd name="connsiteY56" fmla="*/ 5284346 h 6857999"/>
              <a:gd name="connsiteX57" fmla="*/ 8084361 w 9024730"/>
              <a:gd name="connsiteY57" fmla="*/ 5390948 h 6857999"/>
              <a:gd name="connsiteX58" fmla="*/ 8062552 w 9024730"/>
              <a:gd name="connsiteY58" fmla="*/ 5470854 h 6857999"/>
              <a:gd name="connsiteX59" fmla="*/ 8057342 w 9024730"/>
              <a:gd name="connsiteY59" fmla="*/ 5529643 h 6857999"/>
              <a:gd name="connsiteX60" fmla="*/ 8044923 w 9024730"/>
              <a:gd name="connsiteY60" fmla="*/ 5597292 h 6857999"/>
              <a:gd name="connsiteX61" fmla="*/ 8035233 w 9024730"/>
              <a:gd name="connsiteY61" fmla="*/ 5608899 h 6857999"/>
              <a:gd name="connsiteX62" fmla="*/ 8018178 w 9024730"/>
              <a:gd name="connsiteY62" fmla="*/ 5684911 h 6857999"/>
              <a:gd name="connsiteX63" fmla="*/ 8018018 w 9024730"/>
              <a:gd name="connsiteY63" fmla="*/ 5755776 h 6857999"/>
              <a:gd name="connsiteX64" fmla="*/ 8008640 w 9024730"/>
              <a:gd name="connsiteY64" fmla="*/ 5889599 h 6857999"/>
              <a:gd name="connsiteX65" fmla="*/ 8013542 w 9024730"/>
              <a:gd name="connsiteY65" fmla="*/ 5989744 h 6857999"/>
              <a:gd name="connsiteX66" fmla="*/ 7980757 w 9024730"/>
              <a:gd name="connsiteY66" fmla="*/ 6084926 h 6857999"/>
              <a:gd name="connsiteX67" fmla="*/ 7975907 w 9024730"/>
              <a:gd name="connsiteY67" fmla="*/ 6346549 h 6857999"/>
              <a:gd name="connsiteX68" fmla="*/ 7974221 w 9024730"/>
              <a:gd name="connsiteY68" fmla="*/ 6527527 h 6857999"/>
              <a:gd name="connsiteX69" fmla="*/ 7979135 w 9024730"/>
              <a:gd name="connsiteY69" fmla="*/ 6627129 h 6857999"/>
              <a:gd name="connsiteX70" fmla="*/ 7979404 w 9024730"/>
              <a:gd name="connsiteY70" fmla="*/ 6694819 h 6857999"/>
              <a:gd name="connsiteX71" fmla="*/ 8009526 w 9024730"/>
              <a:gd name="connsiteY71" fmla="*/ 6765445 h 6857999"/>
              <a:gd name="connsiteX72" fmla="*/ 8018211 w 9024730"/>
              <a:gd name="connsiteY72" fmla="*/ 6844697 h 6857999"/>
              <a:gd name="connsiteX73" fmla="*/ 8019608 w 9024730"/>
              <a:gd name="connsiteY73" fmla="*/ 6857999 h 6857999"/>
              <a:gd name="connsiteX74" fmla="*/ 0 w 9024730"/>
              <a:gd name="connsiteY7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9024730" h="6857999">
                <a:moveTo>
                  <a:pt x="0" y="0"/>
                </a:moveTo>
                <a:lnTo>
                  <a:pt x="9024730" y="0"/>
                </a:lnTo>
                <a:lnTo>
                  <a:pt x="9024730" y="2"/>
                </a:lnTo>
                <a:lnTo>
                  <a:pt x="8447016" y="2"/>
                </a:lnTo>
                <a:lnTo>
                  <a:pt x="8441214" y="14562"/>
                </a:lnTo>
                <a:lnTo>
                  <a:pt x="8445389" y="59077"/>
                </a:lnTo>
                <a:cubicBezTo>
                  <a:pt x="8445971" y="76949"/>
                  <a:pt x="8436504" y="89796"/>
                  <a:pt x="8437086" y="107668"/>
                </a:cubicBezTo>
                <a:cubicBezTo>
                  <a:pt x="8417947" y="138162"/>
                  <a:pt x="8459241" y="201929"/>
                  <a:pt x="8458599" y="246136"/>
                </a:cubicBezTo>
                <a:cubicBezTo>
                  <a:pt x="8457958" y="290343"/>
                  <a:pt x="8471649" y="364179"/>
                  <a:pt x="8433237" y="372908"/>
                </a:cubicBezTo>
                <a:cubicBezTo>
                  <a:pt x="8426916" y="431308"/>
                  <a:pt x="8438389" y="357606"/>
                  <a:pt x="8430194" y="450607"/>
                </a:cubicBezTo>
                <a:cubicBezTo>
                  <a:pt x="8466727" y="551950"/>
                  <a:pt x="8430182" y="787036"/>
                  <a:pt x="8443315" y="812800"/>
                </a:cubicBezTo>
                <a:cubicBezTo>
                  <a:pt x="8478999" y="860799"/>
                  <a:pt x="8435788" y="854953"/>
                  <a:pt x="8453042" y="912727"/>
                </a:cubicBezTo>
                <a:cubicBezTo>
                  <a:pt x="8462900" y="945986"/>
                  <a:pt x="8451223" y="951781"/>
                  <a:pt x="8451649" y="989950"/>
                </a:cubicBezTo>
                <a:cubicBezTo>
                  <a:pt x="8452074" y="1028120"/>
                  <a:pt x="8452500" y="1095828"/>
                  <a:pt x="8455592" y="1141745"/>
                </a:cubicBezTo>
                <a:cubicBezTo>
                  <a:pt x="8458684" y="1187662"/>
                  <a:pt x="8470047" y="1234783"/>
                  <a:pt x="8470203" y="1265454"/>
                </a:cubicBezTo>
                <a:cubicBezTo>
                  <a:pt x="8458947" y="1304052"/>
                  <a:pt x="8496012" y="1370755"/>
                  <a:pt x="8499638" y="1385480"/>
                </a:cubicBezTo>
                <a:cubicBezTo>
                  <a:pt x="8514485" y="1422714"/>
                  <a:pt x="8525070" y="1428103"/>
                  <a:pt x="8518660" y="1458060"/>
                </a:cubicBezTo>
                <a:cubicBezTo>
                  <a:pt x="8518783" y="1468057"/>
                  <a:pt x="8539003" y="1503177"/>
                  <a:pt x="8539125" y="1513175"/>
                </a:cubicBezTo>
                <a:lnTo>
                  <a:pt x="8570281" y="1570809"/>
                </a:lnTo>
                <a:cubicBezTo>
                  <a:pt x="8597636" y="1617136"/>
                  <a:pt x="8594573" y="1601443"/>
                  <a:pt x="8605212" y="1638391"/>
                </a:cubicBezTo>
                <a:cubicBezTo>
                  <a:pt x="8629645" y="1719640"/>
                  <a:pt x="8613884" y="1715203"/>
                  <a:pt x="8626457" y="1742490"/>
                </a:cubicBezTo>
                <a:lnTo>
                  <a:pt x="8654861" y="1818229"/>
                </a:lnTo>
                <a:cubicBezTo>
                  <a:pt x="8657202" y="1824059"/>
                  <a:pt x="8651899" y="1851211"/>
                  <a:pt x="8648005" y="1862723"/>
                </a:cubicBezTo>
                <a:lnTo>
                  <a:pt x="8654469" y="1917476"/>
                </a:lnTo>
                <a:lnTo>
                  <a:pt x="8649702" y="1972204"/>
                </a:lnTo>
                <a:cubicBezTo>
                  <a:pt x="8652251" y="1979569"/>
                  <a:pt x="8651461" y="2048203"/>
                  <a:pt x="8656357" y="2054291"/>
                </a:cubicBezTo>
                <a:cubicBezTo>
                  <a:pt x="8672645" y="2141657"/>
                  <a:pt x="8632397" y="2189849"/>
                  <a:pt x="8648660" y="2227417"/>
                </a:cubicBezTo>
                <a:cubicBezTo>
                  <a:pt x="8639941" y="2317591"/>
                  <a:pt x="8613796" y="2407644"/>
                  <a:pt x="8607609" y="2510933"/>
                </a:cubicBezTo>
                <a:cubicBezTo>
                  <a:pt x="8633490" y="2597916"/>
                  <a:pt x="8602674" y="2649734"/>
                  <a:pt x="8608432" y="2741866"/>
                </a:cubicBezTo>
                <a:cubicBezTo>
                  <a:pt x="8630300" y="2779815"/>
                  <a:pt x="8631929" y="2817058"/>
                  <a:pt x="8619112" y="2864935"/>
                </a:cubicBezTo>
                <a:cubicBezTo>
                  <a:pt x="8655820" y="2860552"/>
                  <a:pt x="8588374" y="2937673"/>
                  <a:pt x="8627742" y="2950807"/>
                </a:cubicBezTo>
                <a:lnTo>
                  <a:pt x="8611822" y="2978246"/>
                </a:lnTo>
                <a:lnTo>
                  <a:pt x="8608239" y="2995916"/>
                </a:lnTo>
                <a:lnTo>
                  <a:pt x="8598647" y="2998648"/>
                </a:lnTo>
                <a:lnTo>
                  <a:pt x="8587108" y="3023630"/>
                </a:lnTo>
                <a:cubicBezTo>
                  <a:pt x="8584111" y="3033333"/>
                  <a:pt x="8577413" y="3084375"/>
                  <a:pt x="8577885" y="3096975"/>
                </a:cubicBezTo>
                <a:cubicBezTo>
                  <a:pt x="8594321" y="3142205"/>
                  <a:pt x="8535131" y="3160433"/>
                  <a:pt x="8557492" y="3216657"/>
                </a:cubicBezTo>
                <a:cubicBezTo>
                  <a:pt x="8562518" y="3237178"/>
                  <a:pt x="8573573" y="3299737"/>
                  <a:pt x="8560894" y="3310980"/>
                </a:cubicBezTo>
                <a:cubicBezTo>
                  <a:pt x="8557601" y="3323902"/>
                  <a:pt x="8561083" y="3339340"/>
                  <a:pt x="8547852" y="3344725"/>
                </a:cubicBezTo>
                <a:cubicBezTo>
                  <a:pt x="8531788" y="3353908"/>
                  <a:pt x="8553430" y="3400659"/>
                  <a:pt x="8535427" y="3393250"/>
                </a:cubicBezTo>
                <a:cubicBezTo>
                  <a:pt x="8550195" y="3426421"/>
                  <a:pt x="8529553" y="3487753"/>
                  <a:pt x="8520092" y="3514536"/>
                </a:cubicBezTo>
                <a:cubicBezTo>
                  <a:pt x="8513726" y="3563353"/>
                  <a:pt x="8500070" y="3650327"/>
                  <a:pt x="8497231" y="3686149"/>
                </a:cubicBezTo>
                <a:cubicBezTo>
                  <a:pt x="8494574" y="3687657"/>
                  <a:pt x="8493370" y="3677229"/>
                  <a:pt x="8489799" y="3692208"/>
                </a:cubicBezTo>
                <a:cubicBezTo>
                  <a:pt x="8486228" y="3707187"/>
                  <a:pt x="8465938" y="3757479"/>
                  <a:pt x="8475804" y="3776022"/>
                </a:cubicBezTo>
                <a:cubicBezTo>
                  <a:pt x="8441061" y="3875691"/>
                  <a:pt x="8487451" y="3939839"/>
                  <a:pt x="8471279" y="3977138"/>
                </a:cubicBezTo>
                <a:cubicBezTo>
                  <a:pt x="8465599" y="4067300"/>
                  <a:pt x="8419685" y="4164564"/>
                  <a:pt x="8408913" y="4222149"/>
                </a:cubicBezTo>
                <a:cubicBezTo>
                  <a:pt x="8403583" y="4287917"/>
                  <a:pt x="8398240" y="4339232"/>
                  <a:pt x="8402112" y="4364683"/>
                </a:cubicBezTo>
                <a:lnTo>
                  <a:pt x="8393355" y="4462471"/>
                </a:lnTo>
                <a:cubicBezTo>
                  <a:pt x="8396004" y="4503329"/>
                  <a:pt x="8376320" y="4548111"/>
                  <a:pt x="8376166" y="4574052"/>
                </a:cubicBezTo>
                <a:cubicBezTo>
                  <a:pt x="8369380" y="4670665"/>
                  <a:pt x="8352302" y="4649921"/>
                  <a:pt x="8341678" y="4667756"/>
                </a:cubicBezTo>
                <a:cubicBezTo>
                  <a:pt x="8320864" y="4705850"/>
                  <a:pt x="8290794" y="4758928"/>
                  <a:pt x="8273661" y="4799019"/>
                </a:cubicBezTo>
                <a:cubicBezTo>
                  <a:pt x="8254323" y="4834076"/>
                  <a:pt x="8262378" y="4811645"/>
                  <a:pt x="8256132" y="4849614"/>
                </a:cubicBezTo>
                <a:cubicBezTo>
                  <a:pt x="8239320" y="4853334"/>
                  <a:pt x="8207060" y="4883089"/>
                  <a:pt x="8226804" y="4919971"/>
                </a:cubicBezTo>
                <a:lnTo>
                  <a:pt x="8171825" y="5010766"/>
                </a:lnTo>
                <a:cubicBezTo>
                  <a:pt x="8150097" y="4983259"/>
                  <a:pt x="8165842" y="5107656"/>
                  <a:pt x="8143172" y="5088190"/>
                </a:cubicBezTo>
                <a:cubicBezTo>
                  <a:pt x="8128060" y="5102008"/>
                  <a:pt x="8138350" y="5118851"/>
                  <a:pt x="8126363" y="5143922"/>
                </a:cubicBezTo>
                <a:cubicBezTo>
                  <a:pt x="8116335" y="5192745"/>
                  <a:pt x="8111851" y="5226225"/>
                  <a:pt x="8103782" y="5284346"/>
                </a:cubicBezTo>
                <a:cubicBezTo>
                  <a:pt x="8101016" y="5338386"/>
                  <a:pt x="8095811" y="5337325"/>
                  <a:pt x="8084361" y="5390948"/>
                </a:cubicBezTo>
                <a:cubicBezTo>
                  <a:pt x="8082912" y="5429655"/>
                  <a:pt x="8063705" y="5449508"/>
                  <a:pt x="8062552" y="5470854"/>
                </a:cubicBezTo>
                <a:cubicBezTo>
                  <a:pt x="8086776" y="5526328"/>
                  <a:pt x="8037513" y="5496377"/>
                  <a:pt x="8057342" y="5529643"/>
                </a:cubicBezTo>
                <a:cubicBezTo>
                  <a:pt x="8050653" y="5550879"/>
                  <a:pt x="8055939" y="5587444"/>
                  <a:pt x="8044923" y="5597292"/>
                </a:cubicBezTo>
                <a:lnTo>
                  <a:pt x="8035233" y="5608899"/>
                </a:lnTo>
                <a:cubicBezTo>
                  <a:pt x="8030775" y="5623501"/>
                  <a:pt x="8021047" y="5660431"/>
                  <a:pt x="8018178" y="5684911"/>
                </a:cubicBezTo>
                <a:cubicBezTo>
                  <a:pt x="8005590" y="5692608"/>
                  <a:pt x="8011744" y="5734344"/>
                  <a:pt x="8018018" y="5755776"/>
                </a:cubicBezTo>
                <a:cubicBezTo>
                  <a:pt x="8019409" y="5792777"/>
                  <a:pt x="7989082" y="5848613"/>
                  <a:pt x="8008640" y="5889599"/>
                </a:cubicBezTo>
                <a:cubicBezTo>
                  <a:pt x="8011480" y="5932097"/>
                  <a:pt x="8009486" y="5940901"/>
                  <a:pt x="8013542" y="5989744"/>
                </a:cubicBezTo>
                <a:cubicBezTo>
                  <a:pt x="8022089" y="6020787"/>
                  <a:pt x="7982918" y="6024963"/>
                  <a:pt x="7980757" y="6084926"/>
                </a:cubicBezTo>
                <a:cubicBezTo>
                  <a:pt x="7974117" y="6134231"/>
                  <a:pt x="7999371" y="6240432"/>
                  <a:pt x="7975907" y="6346549"/>
                </a:cubicBezTo>
                <a:cubicBezTo>
                  <a:pt x="7987225" y="6409741"/>
                  <a:pt x="7980509" y="6468689"/>
                  <a:pt x="7974221" y="6527527"/>
                </a:cubicBezTo>
                <a:cubicBezTo>
                  <a:pt x="7955361" y="6585667"/>
                  <a:pt x="7987786" y="6579284"/>
                  <a:pt x="7979135" y="6627129"/>
                </a:cubicBezTo>
                <a:cubicBezTo>
                  <a:pt x="7983057" y="6635153"/>
                  <a:pt x="7984986" y="6697665"/>
                  <a:pt x="7979404" y="6694819"/>
                </a:cubicBezTo>
                <a:cubicBezTo>
                  <a:pt x="7981755" y="6716947"/>
                  <a:pt x="8003903" y="6732844"/>
                  <a:pt x="8009526" y="6765445"/>
                </a:cubicBezTo>
                <a:cubicBezTo>
                  <a:pt x="8011113" y="6776325"/>
                  <a:pt x="8014662" y="6810511"/>
                  <a:pt x="8018211" y="6844697"/>
                </a:cubicBezTo>
                <a:lnTo>
                  <a:pt x="8019608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318BC3-A5C0-5904-1DC9-845EE2FCEF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2775" y="320041"/>
            <a:ext cx="5160770" cy="92354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Assignment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C63422-2465-70CB-CF3C-386B703905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" y="1755648"/>
            <a:ext cx="6236207" cy="4654296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pPr algn="l" defTabSz="914400">
              <a:lnSpc>
                <a:spcPct val="90000"/>
              </a:lnSpc>
            </a:pPr>
            <a:r>
              <a:rPr lang="en-US" sz="1400" b="1" dirty="0">
                <a:solidFill>
                  <a:schemeClr val="tx1"/>
                </a:solidFill>
              </a:rPr>
              <a:t>Objective:</a:t>
            </a:r>
          </a:p>
          <a:p>
            <a:pPr algn="l" defTabSz="914400">
              <a:lnSpc>
                <a:spcPct val="90000"/>
              </a:lnSpc>
            </a:pPr>
            <a:r>
              <a:rPr lang="en-US" sz="1400" b="1" dirty="0">
                <a:solidFill>
                  <a:schemeClr val="tx1"/>
                </a:solidFill>
              </a:rPr>
              <a:t>Design a simple Data Warehouse (DWH) schema based on the provided source tables.</a:t>
            </a:r>
          </a:p>
          <a:p>
            <a:pPr marL="285750"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Requirements: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5. The Fact table should contain: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     a. All columns from the </a:t>
            </a:r>
            <a:r>
              <a:rPr lang="en-US" sz="1400" dirty="0" err="1">
                <a:solidFill>
                  <a:schemeClr val="tx1"/>
                </a:solidFill>
              </a:rPr>
              <a:t>Sales_Transactions</a:t>
            </a:r>
            <a:r>
              <a:rPr lang="en-US" sz="1400" dirty="0">
                <a:solidFill>
                  <a:schemeClr val="tx1"/>
                </a:solidFill>
              </a:rPr>
              <a:t> source table.</a:t>
            </a:r>
          </a:p>
          <a:p>
            <a:pPr marL="228600" lvl="1" algn="l" defTabSz="914400">
              <a:lnSpc>
                <a:spcPct val="90000"/>
              </a:lnSpc>
            </a:pPr>
            <a:r>
              <a:rPr lang="en-US" sz="1400" dirty="0">
                <a:solidFill>
                  <a:schemeClr val="tx1"/>
                </a:solidFill>
              </a:rPr>
              <a:t>       b. The corresponding Dimension table Keys (</a:t>
            </a:r>
            <a:r>
              <a:rPr lang="en-US" sz="1400" dirty="0" err="1">
                <a:solidFill>
                  <a:schemeClr val="tx1"/>
                </a:solidFill>
              </a:rPr>
              <a:t>Country_Key</a:t>
            </a:r>
            <a:r>
              <a:rPr lang="en-US" sz="1400" dirty="0">
                <a:solidFill>
                  <a:schemeClr val="tx1"/>
                </a:solidFill>
              </a:rPr>
              <a:t>, </a:t>
            </a:r>
            <a:r>
              <a:rPr lang="en-US" sz="1400" dirty="0" err="1">
                <a:solidFill>
                  <a:schemeClr val="tx1"/>
                </a:solidFill>
              </a:rPr>
              <a:t>Customer_Key</a:t>
            </a:r>
            <a:r>
              <a:rPr lang="en-US" sz="1400" dirty="0">
                <a:solidFill>
                  <a:schemeClr val="tx1"/>
                </a:solidFill>
              </a:rPr>
              <a:t>, </a:t>
            </a:r>
            <a:r>
              <a:rPr lang="en-US" sz="1400" dirty="0" err="1">
                <a:solidFill>
                  <a:schemeClr val="tx1"/>
                </a:solidFill>
              </a:rPr>
              <a:t>Product_Key</a:t>
            </a:r>
            <a:r>
              <a:rPr lang="en-US" sz="1400" dirty="0">
                <a:solidFill>
                  <a:schemeClr val="tx1"/>
                </a:solidFill>
              </a:rPr>
              <a:t>).</a:t>
            </a:r>
          </a:p>
          <a:p>
            <a:pPr marL="228600" lvl="1" algn="l" defTabSz="914400">
              <a:lnSpc>
                <a:spcPct val="90000"/>
              </a:lnSpc>
            </a:pPr>
            <a:r>
              <a:rPr lang="en-US" sz="1400" dirty="0">
                <a:solidFill>
                  <a:schemeClr val="tx1"/>
                </a:solidFill>
              </a:rPr>
              <a:t>c. </a:t>
            </a:r>
            <a:r>
              <a:rPr lang="en-US" sz="1400" dirty="0" err="1">
                <a:solidFill>
                  <a:schemeClr val="tx1"/>
                </a:solidFill>
              </a:rPr>
              <a:t>Sales_Trans_Key</a:t>
            </a:r>
            <a:r>
              <a:rPr lang="en-US" sz="1400" dirty="0">
                <a:solidFill>
                  <a:schemeClr val="tx1"/>
                </a:solidFill>
              </a:rPr>
              <a:t> as </a:t>
            </a:r>
            <a:r>
              <a:rPr lang="en-US" sz="1400" dirty="0" err="1">
                <a:solidFill>
                  <a:schemeClr val="tx1"/>
                </a:solidFill>
              </a:rPr>
              <a:t>Sarrogate</a:t>
            </a:r>
            <a:r>
              <a:rPr lang="en-US" sz="1400" dirty="0">
                <a:solidFill>
                  <a:schemeClr val="tx1"/>
                </a:solidFill>
              </a:rPr>
              <a:t> key in </a:t>
            </a:r>
            <a:r>
              <a:rPr lang="en-US" sz="1400" dirty="0" err="1">
                <a:solidFill>
                  <a:schemeClr val="tx1"/>
                </a:solidFill>
              </a:rPr>
              <a:t>Sales_Transcation_fact</a:t>
            </a:r>
            <a:r>
              <a:rPr lang="en-US" sz="1400" dirty="0">
                <a:solidFill>
                  <a:schemeClr val="tx1"/>
                </a:solidFill>
              </a:rPr>
              <a:t> table.</a:t>
            </a:r>
          </a:p>
          <a:p>
            <a:pPr lvl="1"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</a:endParaRPr>
          </a:p>
          <a:p>
            <a:pPr marL="228600" lvl="1" algn="l" defTabSz="914400">
              <a:lnSpc>
                <a:spcPct val="90000"/>
              </a:lnSpc>
            </a:pPr>
            <a:r>
              <a:rPr lang="en-US" sz="1400" dirty="0">
                <a:solidFill>
                  <a:schemeClr val="tx1"/>
                </a:solidFill>
              </a:rPr>
              <a:t>6. Define the Dimension Keys in the Fact table as Foreign Key referencing their respective Dimension tables.</a:t>
            </a:r>
            <a:br>
              <a:rPr lang="en-US" sz="1400" dirty="0">
                <a:solidFill>
                  <a:schemeClr val="tx1"/>
                </a:solidFill>
              </a:rPr>
            </a:br>
            <a:endParaRPr lang="en-US" sz="1400" dirty="0">
              <a:solidFill>
                <a:schemeClr val="tx1"/>
              </a:solidFill>
            </a:endParaRPr>
          </a:p>
          <a:p>
            <a:pPr marL="228600" lvl="1" algn="l" defTabSz="914400">
              <a:lnSpc>
                <a:spcPct val="90000"/>
              </a:lnSpc>
            </a:pPr>
            <a:r>
              <a:rPr lang="en-US" sz="1400" b="1" dirty="0">
                <a:solidFill>
                  <a:schemeClr val="tx1"/>
                </a:solidFill>
              </a:rPr>
              <a:t>Expected Outcome:</a:t>
            </a:r>
          </a:p>
          <a:p>
            <a:pPr marL="228600" lvl="1" algn="l" defTabSz="914400">
              <a:lnSpc>
                <a:spcPct val="90000"/>
              </a:lnSpc>
            </a:pPr>
            <a:r>
              <a:rPr lang="en-US" sz="1400" dirty="0">
                <a:solidFill>
                  <a:schemeClr val="tx1"/>
                </a:solidFill>
              </a:rPr>
              <a:t>   A simple Star Schema consisting of:</a:t>
            </a:r>
          </a:p>
          <a:p>
            <a:pPr marL="285750"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tx1"/>
                </a:solidFill>
              </a:rPr>
              <a:t>Country_DIM</a:t>
            </a:r>
            <a:endParaRPr lang="en-US" sz="1400" dirty="0">
              <a:solidFill>
                <a:schemeClr val="tx1"/>
              </a:solidFill>
            </a:endParaRPr>
          </a:p>
          <a:p>
            <a:pPr marL="285750"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tx1"/>
                </a:solidFill>
              </a:rPr>
              <a:t>Customer_DIM</a:t>
            </a:r>
            <a:endParaRPr lang="en-US" sz="1400" dirty="0">
              <a:solidFill>
                <a:schemeClr val="tx1"/>
              </a:solidFill>
            </a:endParaRPr>
          </a:p>
          <a:p>
            <a:pPr marL="285750"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tx1"/>
                </a:solidFill>
              </a:rPr>
              <a:t>Product_DIM</a:t>
            </a:r>
            <a:endParaRPr lang="en-US" sz="1400" dirty="0">
              <a:solidFill>
                <a:schemeClr val="tx1"/>
              </a:solidFill>
            </a:endParaRPr>
          </a:p>
          <a:p>
            <a:pPr marL="285750"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tx1"/>
                </a:solidFill>
              </a:rPr>
              <a:t>Sales_Transactions_FACT</a:t>
            </a:r>
            <a:endParaRPr lang="en-US" sz="1400" dirty="0">
              <a:solidFill>
                <a:schemeClr val="tx1"/>
              </a:solidFill>
            </a:endParaRPr>
          </a:p>
          <a:p>
            <a:pPr algn="l" defTabSz="914400">
              <a:lnSpc>
                <a:spcPct val="90000"/>
              </a:lnSpc>
            </a:pPr>
            <a:endParaRPr lang="en-US" sz="1400" dirty="0">
              <a:solidFill>
                <a:schemeClr val="tx1"/>
              </a:solidFill>
            </a:endParaRPr>
          </a:p>
          <a:p>
            <a:pPr algn="l" defTabSz="914400">
              <a:lnSpc>
                <a:spcPct val="90000"/>
              </a:lnSpc>
            </a:pPr>
            <a:r>
              <a:rPr lang="en-US" sz="1400" dirty="0">
                <a:solidFill>
                  <a:schemeClr val="tx1"/>
                </a:solidFill>
              </a:rPr>
              <a:t>with proper Primary Key and Foreign Key relationships.</a:t>
            </a:r>
          </a:p>
          <a:p>
            <a:pPr lvl="1"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</p:txBody>
      </p:sp>
      <p:pic>
        <p:nvPicPr>
          <p:cNvPr id="7" name="Graphic 6" descr="Document">
            <a:extLst>
              <a:ext uri="{FF2B5EF4-FFF2-40B4-BE49-F238E27FC236}">
                <a16:creationId xmlns:a16="http://schemas.microsoft.com/office/drawing/2014/main" id="{88276137-4382-755B-D2EE-52B78C1518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96985" y="2353600"/>
            <a:ext cx="2180230" cy="2180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002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Color Cover">
            <a:extLst>
              <a:ext uri="{FF2B5EF4-FFF2-40B4-BE49-F238E27FC236}">
                <a16:creationId xmlns:a16="http://schemas.microsoft.com/office/drawing/2014/main" id="{815925C2-A704-4D47-B1C1-3FCA52512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Color Cover">
            <a:extLst>
              <a:ext uri="{FF2B5EF4-FFF2-40B4-BE49-F238E27FC236}">
                <a16:creationId xmlns:a16="http://schemas.microsoft.com/office/drawing/2014/main" id="{01D4315C-C23C-4FD3-98DF-08C29E229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E6B47BC-43FD-4C91-8BFF-B41B99A8A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548176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13038185-AC3C-4595-945F-25311424C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75D51AA0-C095-4650-A361-B294320BF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788" y="841248"/>
            <a:ext cx="3847200" cy="5340097"/>
          </a:xfrm>
        </p:spPr>
        <p:txBody>
          <a:bodyPr anchor="ctr">
            <a:normAutofit/>
          </a:bodyPr>
          <a:lstStyle/>
          <a:p>
            <a:pPr algn="l"/>
            <a:r>
              <a:rPr lang="en-US" sz="4200" b="1" dirty="0">
                <a:solidFill>
                  <a:schemeClr val="bg1"/>
                </a:solidFill>
              </a:rPr>
              <a:t>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8307" y="841247"/>
            <a:ext cx="3363402" cy="534009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4500" b="1" dirty="0">
                <a:solidFill>
                  <a:schemeClr val="tx2"/>
                </a:solidFill>
              </a:rPr>
              <a:t>Thanks a lot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5016</TotalTime>
  <Words>1095</Words>
  <Application>Microsoft Office PowerPoint</Application>
  <PresentationFormat>On-screen Show (4:3)</PresentationFormat>
  <Paragraphs>144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Courier New</vt:lpstr>
      <vt:lpstr>Wingdings</vt:lpstr>
      <vt:lpstr>Office Theme</vt:lpstr>
      <vt:lpstr>Session 2: Database Integrity Constraints &amp; Control Mechanisms</vt:lpstr>
      <vt:lpstr>Recap – Session 1</vt:lpstr>
      <vt:lpstr>PowerPoint Presentation</vt:lpstr>
      <vt:lpstr>Today, Agenda</vt:lpstr>
      <vt:lpstr>Database Keys:</vt:lpstr>
      <vt:lpstr>Types of Keys in Relational Database</vt:lpstr>
      <vt:lpstr>Primary Key (PK) A column or combination of columns that uniquely identifies each row in a table</vt:lpstr>
      <vt:lpstr>Foreign Key (FK)</vt:lpstr>
      <vt:lpstr>Composite Key</vt:lpstr>
      <vt:lpstr>Surrogate Key</vt:lpstr>
      <vt:lpstr>Database Sequences</vt:lpstr>
      <vt:lpstr>Use Case Example</vt:lpstr>
      <vt:lpstr>Database Control Statement  1. DDL (Data Definition Language)</vt:lpstr>
      <vt:lpstr>Database Control Statement  2. DML (Data Manipulation Language)</vt:lpstr>
      <vt:lpstr>Database Control Statement  3. DQL (Data Query Language)</vt:lpstr>
      <vt:lpstr>Database Control Statement  4. TCL (Transaction Control Language)</vt:lpstr>
      <vt:lpstr>Database Control Statement  5. DCL (Data Control Language)</vt:lpstr>
      <vt:lpstr>Access Control Privileges</vt:lpstr>
      <vt:lpstr>Key Takeaways</vt:lpstr>
      <vt:lpstr>QUIZ</vt:lpstr>
      <vt:lpstr>Assignment</vt:lpstr>
      <vt:lpstr>Assignment</vt:lpstr>
      <vt:lpstr>Questions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Abdul Ahad</dc:creator>
  <cp:keywords/>
  <dc:description>generated using python-pptx</dc:description>
  <cp:lastModifiedBy>Abdul Ahad</cp:lastModifiedBy>
  <cp:revision>70</cp:revision>
  <dcterms:created xsi:type="dcterms:W3CDTF">2013-01-27T09:14:16Z</dcterms:created>
  <dcterms:modified xsi:type="dcterms:W3CDTF">2026-07-23T09:31:10Z</dcterms:modified>
  <cp:category/>
</cp:coreProperties>
</file>