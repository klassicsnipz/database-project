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7" r:id="rId4"/>
    <p:sldId id="285" r:id="rId5"/>
    <p:sldId id="269" r:id="rId6"/>
    <p:sldId id="264" r:id="rId7"/>
    <p:sldId id="265" r:id="rId8"/>
    <p:sldId id="270" r:id="rId9"/>
    <p:sldId id="271" r:id="rId10"/>
    <p:sldId id="272" r:id="rId11"/>
    <p:sldId id="278" r:id="rId12"/>
    <p:sldId id="279" r:id="rId13"/>
    <p:sldId id="280" r:id="rId14"/>
    <p:sldId id="258" r:id="rId15"/>
    <p:sldId id="259" r:id="rId16"/>
    <p:sldId id="281" r:id="rId17"/>
    <p:sldId id="282" r:id="rId18"/>
    <p:sldId id="268" r:id="rId19"/>
    <p:sldId id="286" r:id="rId20"/>
    <p:sldId id="287" r:id="rId21"/>
    <p:sldId id="283" r:id="rId22"/>
    <p:sldId id="288" r:id="rId23"/>
    <p:sldId id="28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A8A18F-37BB-46CF-B8CF-A3302834252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DF1B3E-3A32-4620-87F4-96C1BF84D233}">
      <dgm:prSet/>
      <dgm:spPr/>
      <dgm:t>
        <a:bodyPr/>
        <a:lstStyle/>
        <a:p>
          <a:r>
            <a:rPr lang="en-US"/>
            <a:t>INNER JOIN – matching records only</a:t>
          </a:r>
        </a:p>
      </dgm:t>
    </dgm:pt>
    <dgm:pt modelId="{5DA0D488-F776-4FC8-8754-97A99495A7EE}" type="parTrans" cxnId="{4C786E2B-26E4-4490-AC81-EAB9AE428A7B}">
      <dgm:prSet/>
      <dgm:spPr/>
      <dgm:t>
        <a:bodyPr/>
        <a:lstStyle/>
        <a:p>
          <a:endParaRPr lang="en-US"/>
        </a:p>
      </dgm:t>
    </dgm:pt>
    <dgm:pt modelId="{3D6BF176-C5DF-4095-A262-7F6E7EC8B1B3}" type="sibTrans" cxnId="{4C786E2B-26E4-4490-AC81-EAB9AE428A7B}">
      <dgm:prSet/>
      <dgm:spPr/>
      <dgm:t>
        <a:bodyPr/>
        <a:lstStyle/>
        <a:p>
          <a:endParaRPr lang="en-US"/>
        </a:p>
      </dgm:t>
    </dgm:pt>
    <dgm:pt modelId="{B67DB3CC-6F5D-450A-9175-60C63481C139}">
      <dgm:prSet/>
      <dgm:spPr/>
      <dgm:t>
        <a:bodyPr/>
        <a:lstStyle/>
        <a:p>
          <a:r>
            <a:rPr lang="en-US"/>
            <a:t>LEFT JOIN – all left table records</a:t>
          </a:r>
        </a:p>
      </dgm:t>
    </dgm:pt>
    <dgm:pt modelId="{F9CE0241-0E2F-4FCE-AAAD-A69CBCEDF02B}" type="parTrans" cxnId="{20B2FFC2-A6C2-4234-99A7-E586C00C275B}">
      <dgm:prSet/>
      <dgm:spPr/>
      <dgm:t>
        <a:bodyPr/>
        <a:lstStyle/>
        <a:p>
          <a:endParaRPr lang="en-US"/>
        </a:p>
      </dgm:t>
    </dgm:pt>
    <dgm:pt modelId="{8A5A8950-D625-4E7E-87E5-1858D184FB76}" type="sibTrans" cxnId="{20B2FFC2-A6C2-4234-99A7-E586C00C275B}">
      <dgm:prSet/>
      <dgm:spPr/>
      <dgm:t>
        <a:bodyPr/>
        <a:lstStyle/>
        <a:p>
          <a:endParaRPr lang="en-US"/>
        </a:p>
      </dgm:t>
    </dgm:pt>
    <dgm:pt modelId="{CE51C8CC-3037-4EF7-A871-69C9AEEEBA6E}">
      <dgm:prSet/>
      <dgm:spPr/>
      <dgm:t>
        <a:bodyPr/>
        <a:lstStyle/>
        <a:p>
          <a:r>
            <a:rPr lang="en-US"/>
            <a:t>RIGHT JOIN – all right table records</a:t>
          </a:r>
        </a:p>
      </dgm:t>
    </dgm:pt>
    <dgm:pt modelId="{D9AE1C3F-1F6A-428F-9BBB-FF3D6B118F90}" type="parTrans" cxnId="{97A83AA9-9C1F-4930-8765-364F65A6548A}">
      <dgm:prSet/>
      <dgm:spPr/>
      <dgm:t>
        <a:bodyPr/>
        <a:lstStyle/>
        <a:p>
          <a:endParaRPr lang="en-US"/>
        </a:p>
      </dgm:t>
    </dgm:pt>
    <dgm:pt modelId="{60B0AFF1-23E9-4E08-AB59-459E1757F4B0}" type="sibTrans" cxnId="{97A83AA9-9C1F-4930-8765-364F65A6548A}">
      <dgm:prSet/>
      <dgm:spPr/>
      <dgm:t>
        <a:bodyPr/>
        <a:lstStyle/>
        <a:p>
          <a:endParaRPr lang="en-US"/>
        </a:p>
      </dgm:t>
    </dgm:pt>
    <dgm:pt modelId="{0B510B30-D197-4646-A8FD-72501C365AA0}">
      <dgm:prSet/>
      <dgm:spPr/>
      <dgm:t>
        <a:bodyPr/>
        <a:lstStyle/>
        <a:p>
          <a:r>
            <a:rPr lang="en-US"/>
            <a:t>FULL OUTER JOIN – all records from both tables</a:t>
          </a:r>
        </a:p>
      </dgm:t>
    </dgm:pt>
    <dgm:pt modelId="{67FA4068-F512-408D-B174-E312FAF495DE}" type="parTrans" cxnId="{5700EDEA-C383-4461-9050-60B4B2093F50}">
      <dgm:prSet/>
      <dgm:spPr/>
      <dgm:t>
        <a:bodyPr/>
        <a:lstStyle/>
        <a:p>
          <a:endParaRPr lang="en-US"/>
        </a:p>
      </dgm:t>
    </dgm:pt>
    <dgm:pt modelId="{611F5A80-4598-47CB-916B-DC3F5E8641B3}" type="sibTrans" cxnId="{5700EDEA-C383-4461-9050-60B4B2093F50}">
      <dgm:prSet/>
      <dgm:spPr/>
      <dgm:t>
        <a:bodyPr/>
        <a:lstStyle/>
        <a:p>
          <a:endParaRPr lang="en-US"/>
        </a:p>
      </dgm:t>
    </dgm:pt>
    <dgm:pt modelId="{26BA394A-E57C-44C5-969B-9F333E63C8C1}">
      <dgm:prSet/>
      <dgm:spPr/>
      <dgm:t>
        <a:bodyPr/>
        <a:lstStyle/>
        <a:p>
          <a:r>
            <a:rPr lang="en-US"/>
            <a:t>CROSS JOIN – Cartesian product</a:t>
          </a:r>
        </a:p>
      </dgm:t>
    </dgm:pt>
    <dgm:pt modelId="{7E910509-FD3B-480D-B26F-BEF8962E1D8E}" type="parTrans" cxnId="{9D5AD408-5FA4-447E-821D-5D4EFE12794D}">
      <dgm:prSet/>
      <dgm:spPr/>
      <dgm:t>
        <a:bodyPr/>
        <a:lstStyle/>
        <a:p>
          <a:endParaRPr lang="en-US"/>
        </a:p>
      </dgm:t>
    </dgm:pt>
    <dgm:pt modelId="{456A807C-12EC-4FDC-8390-1FB81C4782D6}" type="sibTrans" cxnId="{9D5AD408-5FA4-447E-821D-5D4EFE12794D}">
      <dgm:prSet/>
      <dgm:spPr/>
      <dgm:t>
        <a:bodyPr/>
        <a:lstStyle/>
        <a:p>
          <a:endParaRPr lang="en-US"/>
        </a:p>
      </dgm:t>
    </dgm:pt>
    <dgm:pt modelId="{172AF2A7-E166-49EE-B08C-4D9E1D634D73}" type="pres">
      <dgm:prSet presAssocID="{B5A8A18F-37BB-46CF-B8CF-A3302834252A}" presName="outerComposite" presStyleCnt="0">
        <dgm:presLayoutVars>
          <dgm:chMax val="5"/>
          <dgm:dir/>
          <dgm:resizeHandles val="exact"/>
        </dgm:presLayoutVars>
      </dgm:prSet>
      <dgm:spPr/>
    </dgm:pt>
    <dgm:pt modelId="{5C47166A-94A5-44BD-8CA3-BDA184D6021B}" type="pres">
      <dgm:prSet presAssocID="{B5A8A18F-37BB-46CF-B8CF-A3302834252A}" presName="dummyMaxCanvas" presStyleCnt="0">
        <dgm:presLayoutVars/>
      </dgm:prSet>
      <dgm:spPr/>
    </dgm:pt>
    <dgm:pt modelId="{0C27EFDC-B1A2-43CC-8EAB-103B063F7194}" type="pres">
      <dgm:prSet presAssocID="{B5A8A18F-37BB-46CF-B8CF-A3302834252A}" presName="FiveNodes_1" presStyleLbl="node1" presStyleIdx="0" presStyleCnt="5">
        <dgm:presLayoutVars>
          <dgm:bulletEnabled val="1"/>
        </dgm:presLayoutVars>
      </dgm:prSet>
      <dgm:spPr/>
    </dgm:pt>
    <dgm:pt modelId="{137CE7D8-068A-4D7D-8346-492F819B7EAE}" type="pres">
      <dgm:prSet presAssocID="{B5A8A18F-37BB-46CF-B8CF-A3302834252A}" presName="FiveNodes_2" presStyleLbl="node1" presStyleIdx="1" presStyleCnt="5">
        <dgm:presLayoutVars>
          <dgm:bulletEnabled val="1"/>
        </dgm:presLayoutVars>
      </dgm:prSet>
      <dgm:spPr/>
    </dgm:pt>
    <dgm:pt modelId="{DBA7277E-75D6-4742-8437-D3B77234DCBC}" type="pres">
      <dgm:prSet presAssocID="{B5A8A18F-37BB-46CF-B8CF-A3302834252A}" presName="FiveNodes_3" presStyleLbl="node1" presStyleIdx="2" presStyleCnt="5">
        <dgm:presLayoutVars>
          <dgm:bulletEnabled val="1"/>
        </dgm:presLayoutVars>
      </dgm:prSet>
      <dgm:spPr/>
    </dgm:pt>
    <dgm:pt modelId="{9240E078-20E9-4B6B-BC61-725917633FDB}" type="pres">
      <dgm:prSet presAssocID="{B5A8A18F-37BB-46CF-B8CF-A3302834252A}" presName="FiveNodes_4" presStyleLbl="node1" presStyleIdx="3" presStyleCnt="5">
        <dgm:presLayoutVars>
          <dgm:bulletEnabled val="1"/>
        </dgm:presLayoutVars>
      </dgm:prSet>
      <dgm:spPr/>
    </dgm:pt>
    <dgm:pt modelId="{11079B16-31F5-488B-A301-3647F82A3D0C}" type="pres">
      <dgm:prSet presAssocID="{B5A8A18F-37BB-46CF-B8CF-A3302834252A}" presName="FiveNodes_5" presStyleLbl="node1" presStyleIdx="4" presStyleCnt="5">
        <dgm:presLayoutVars>
          <dgm:bulletEnabled val="1"/>
        </dgm:presLayoutVars>
      </dgm:prSet>
      <dgm:spPr/>
    </dgm:pt>
    <dgm:pt modelId="{F8A71F95-F247-4BE1-BF7E-0CDE58438CA4}" type="pres">
      <dgm:prSet presAssocID="{B5A8A18F-37BB-46CF-B8CF-A3302834252A}" presName="FiveConn_1-2" presStyleLbl="fgAccFollowNode1" presStyleIdx="0" presStyleCnt="4">
        <dgm:presLayoutVars>
          <dgm:bulletEnabled val="1"/>
        </dgm:presLayoutVars>
      </dgm:prSet>
      <dgm:spPr/>
    </dgm:pt>
    <dgm:pt modelId="{EBAC22E7-3B0A-4870-9122-666A259E5AAD}" type="pres">
      <dgm:prSet presAssocID="{B5A8A18F-37BB-46CF-B8CF-A3302834252A}" presName="FiveConn_2-3" presStyleLbl="fgAccFollowNode1" presStyleIdx="1" presStyleCnt="4">
        <dgm:presLayoutVars>
          <dgm:bulletEnabled val="1"/>
        </dgm:presLayoutVars>
      </dgm:prSet>
      <dgm:spPr/>
    </dgm:pt>
    <dgm:pt modelId="{57ABBBEF-BFA9-45BA-B416-9569E145B945}" type="pres">
      <dgm:prSet presAssocID="{B5A8A18F-37BB-46CF-B8CF-A3302834252A}" presName="FiveConn_3-4" presStyleLbl="fgAccFollowNode1" presStyleIdx="2" presStyleCnt="4">
        <dgm:presLayoutVars>
          <dgm:bulletEnabled val="1"/>
        </dgm:presLayoutVars>
      </dgm:prSet>
      <dgm:spPr/>
    </dgm:pt>
    <dgm:pt modelId="{9FB15EE3-555B-4DD6-BCE8-2DCAC2287EDE}" type="pres">
      <dgm:prSet presAssocID="{B5A8A18F-37BB-46CF-B8CF-A3302834252A}" presName="FiveConn_4-5" presStyleLbl="fgAccFollowNode1" presStyleIdx="3" presStyleCnt="4">
        <dgm:presLayoutVars>
          <dgm:bulletEnabled val="1"/>
        </dgm:presLayoutVars>
      </dgm:prSet>
      <dgm:spPr/>
    </dgm:pt>
    <dgm:pt modelId="{94ACBD89-7212-4690-B352-6D4AD2B2B3C4}" type="pres">
      <dgm:prSet presAssocID="{B5A8A18F-37BB-46CF-B8CF-A3302834252A}" presName="FiveNodes_1_text" presStyleLbl="node1" presStyleIdx="4" presStyleCnt="5">
        <dgm:presLayoutVars>
          <dgm:bulletEnabled val="1"/>
        </dgm:presLayoutVars>
      </dgm:prSet>
      <dgm:spPr/>
    </dgm:pt>
    <dgm:pt modelId="{44E21A17-B367-4ED5-840D-58C739C351F8}" type="pres">
      <dgm:prSet presAssocID="{B5A8A18F-37BB-46CF-B8CF-A3302834252A}" presName="FiveNodes_2_text" presStyleLbl="node1" presStyleIdx="4" presStyleCnt="5">
        <dgm:presLayoutVars>
          <dgm:bulletEnabled val="1"/>
        </dgm:presLayoutVars>
      </dgm:prSet>
      <dgm:spPr/>
    </dgm:pt>
    <dgm:pt modelId="{8D694A3B-1181-4B0C-9CA8-5891CDDE4252}" type="pres">
      <dgm:prSet presAssocID="{B5A8A18F-37BB-46CF-B8CF-A3302834252A}" presName="FiveNodes_3_text" presStyleLbl="node1" presStyleIdx="4" presStyleCnt="5">
        <dgm:presLayoutVars>
          <dgm:bulletEnabled val="1"/>
        </dgm:presLayoutVars>
      </dgm:prSet>
      <dgm:spPr/>
    </dgm:pt>
    <dgm:pt modelId="{32B7A43F-98A9-4D79-A4F2-21A42ACF019D}" type="pres">
      <dgm:prSet presAssocID="{B5A8A18F-37BB-46CF-B8CF-A3302834252A}" presName="FiveNodes_4_text" presStyleLbl="node1" presStyleIdx="4" presStyleCnt="5">
        <dgm:presLayoutVars>
          <dgm:bulletEnabled val="1"/>
        </dgm:presLayoutVars>
      </dgm:prSet>
      <dgm:spPr/>
    </dgm:pt>
    <dgm:pt modelId="{0B193C35-4F44-4B0F-857B-18473F7FB279}" type="pres">
      <dgm:prSet presAssocID="{B5A8A18F-37BB-46CF-B8CF-A3302834252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D5AD408-5FA4-447E-821D-5D4EFE12794D}" srcId="{B5A8A18F-37BB-46CF-B8CF-A3302834252A}" destId="{26BA394A-E57C-44C5-969B-9F333E63C8C1}" srcOrd="4" destOrd="0" parTransId="{7E910509-FD3B-480D-B26F-BEF8962E1D8E}" sibTransId="{456A807C-12EC-4FDC-8390-1FB81C4782D6}"/>
    <dgm:cxn modelId="{B2631A1C-BBD4-427E-A42E-E5EE69BF4A24}" type="presOf" srcId="{36DF1B3E-3A32-4620-87F4-96C1BF84D233}" destId="{94ACBD89-7212-4690-B352-6D4AD2B2B3C4}" srcOrd="1" destOrd="0" presId="urn:microsoft.com/office/officeart/2005/8/layout/vProcess5"/>
    <dgm:cxn modelId="{4C786E2B-26E4-4490-AC81-EAB9AE428A7B}" srcId="{B5A8A18F-37BB-46CF-B8CF-A3302834252A}" destId="{36DF1B3E-3A32-4620-87F4-96C1BF84D233}" srcOrd="0" destOrd="0" parTransId="{5DA0D488-F776-4FC8-8754-97A99495A7EE}" sibTransId="{3D6BF176-C5DF-4095-A262-7F6E7EC8B1B3}"/>
    <dgm:cxn modelId="{12B73244-337D-4BB4-A702-A568E3FCFAC9}" type="presOf" srcId="{B67DB3CC-6F5D-450A-9175-60C63481C139}" destId="{44E21A17-B367-4ED5-840D-58C739C351F8}" srcOrd="1" destOrd="0" presId="urn:microsoft.com/office/officeart/2005/8/layout/vProcess5"/>
    <dgm:cxn modelId="{420D7744-733D-4495-9E24-9ECB254B7B8A}" type="presOf" srcId="{0B510B30-D197-4646-A8FD-72501C365AA0}" destId="{9240E078-20E9-4B6B-BC61-725917633FDB}" srcOrd="0" destOrd="0" presId="urn:microsoft.com/office/officeart/2005/8/layout/vProcess5"/>
    <dgm:cxn modelId="{F06E7D69-8415-4F2F-B37D-21AB7F2E4342}" type="presOf" srcId="{36DF1B3E-3A32-4620-87F4-96C1BF84D233}" destId="{0C27EFDC-B1A2-43CC-8EAB-103B063F7194}" srcOrd="0" destOrd="0" presId="urn:microsoft.com/office/officeart/2005/8/layout/vProcess5"/>
    <dgm:cxn modelId="{057BB469-6860-40F5-9220-70C0C55F3AC8}" type="presOf" srcId="{611F5A80-4598-47CB-916B-DC3F5E8641B3}" destId="{9FB15EE3-555B-4DD6-BCE8-2DCAC2287EDE}" srcOrd="0" destOrd="0" presId="urn:microsoft.com/office/officeart/2005/8/layout/vProcess5"/>
    <dgm:cxn modelId="{636B597B-77C3-46C6-BBE3-F9CCFB888B58}" type="presOf" srcId="{CE51C8CC-3037-4EF7-A871-69C9AEEEBA6E}" destId="{DBA7277E-75D6-4742-8437-D3B77234DCBC}" srcOrd="0" destOrd="0" presId="urn:microsoft.com/office/officeart/2005/8/layout/vProcess5"/>
    <dgm:cxn modelId="{983A19A7-BECC-4638-BE44-BC1FEDD1FEED}" type="presOf" srcId="{B67DB3CC-6F5D-450A-9175-60C63481C139}" destId="{137CE7D8-068A-4D7D-8346-492F819B7EAE}" srcOrd="0" destOrd="0" presId="urn:microsoft.com/office/officeart/2005/8/layout/vProcess5"/>
    <dgm:cxn modelId="{97A83AA9-9C1F-4930-8765-364F65A6548A}" srcId="{B5A8A18F-37BB-46CF-B8CF-A3302834252A}" destId="{CE51C8CC-3037-4EF7-A871-69C9AEEEBA6E}" srcOrd="2" destOrd="0" parTransId="{D9AE1C3F-1F6A-428F-9BBB-FF3D6B118F90}" sibTransId="{60B0AFF1-23E9-4E08-AB59-459E1757F4B0}"/>
    <dgm:cxn modelId="{FC78B3B0-DDF2-4F33-A2D8-6B1F24F2BEEC}" type="presOf" srcId="{0B510B30-D197-4646-A8FD-72501C365AA0}" destId="{32B7A43F-98A9-4D79-A4F2-21A42ACF019D}" srcOrd="1" destOrd="0" presId="urn:microsoft.com/office/officeart/2005/8/layout/vProcess5"/>
    <dgm:cxn modelId="{4284B0B2-6CF7-40E7-9B3B-AA6DE46B3000}" type="presOf" srcId="{60B0AFF1-23E9-4E08-AB59-459E1757F4B0}" destId="{57ABBBEF-BFA9-45BA-B416-9569E145B945}" srcOrd="0" destOrd="0" presId="urn:microsoft.com/office/officeart/2005/8/layout/vProcess5"/>
    <dgm:cxn modelId="{D6ECD2B7-C8BE-4B5E-8FC5-C3D117780CD3}" type="presOf" srcId="{8A5A8950-D625-4E7E-87E5-1858D184FB76}" destId="{EBAC22E7-3B0A-4870-9122-666A259E5AAD}" srcOrd="0" destOrd="0" presId="urn:microsoft.com/office/officeart/2005/8/layout/vProcess5"/>
    <dgm:cxn modelId="{32AF56BA-B00D-4267-BCA3-9E6159AAB66A}" type="presOf" srcId="{26BA394A-E57C-44C5-969B-9F333E63C8C1}" destId="{11079B16-31F5-488B-A301-3647F82A3D0C}" srcOrd="0" destOrd="0" presId="urn:microsoft.com/office/officeart/2005/8/layout/vProcess5"/>
    <dgm:cxn modelId="{0065EEBD-C75F-4D2D-8674-02E821BC0A39}" type="presOf" srcId="{CE51C8CC-3037-4EF7-A871-69C9AEEEBA6E}" destId="{8D694A3B-1181-4B0C-9CA8-5891CDDE4252}" srcOrd="1" destOrd="0" presId="urn:microsoft.com/office/officeart/2005/8/layout/vProcess5"/>
    <dgm:cxn modelId="{20B2FFC2-A6C2-4234-99A7-E586C00C275B}" srcId="{B5A8A18F-37BB-46CF-B8CF-A3302834252A}" destId="{B67DB3CC-6F5D-450A-9175-60C63481C139}" srcOrd="1" destOrd="0" parTransId="{F9CE0241-0E2F-4FCE-AAAD-A69CBCEDF02B}" sibTransId="{8A5A8950-D625-4E7E-87E5-1858D184FB76}"/>
    <dgm:cxn modelId="{1AACCEC3-6480-45F6-8FAC-8928A9B381A3}" type="presOf" srcId="{3D6BF176-C5DF-4095-A262-7F6E7EC8B1B3}" destId="{F8A71F95-F247-4BE1-BF7E-0CDE58438CA4}" srcOrd="0" destOrd="0" presId="urn:microsoft.com/office/officeart/2005/8/layout/vProcess5"/>
    <dgm:cxn modelId="{ADB11DD4-F4AB-4DF4-9E22-EFF27854B114}" type="presOf" srcId="{26BA394A-E57C-44C5-969B-9F333E63C8C1}" destId="{0B193C35-4F44-4B0F-857B-18473F7FB279}" srcOrd="1" destOrd="0" presId="urn:microsoft.com/office/officeart/2005/8/layout/vProcess5"/>
    <dgm:cxn modelId="{27FE68D8-B05E-473C-8F8D-005307A3D5A4}" type="presOf" srcId="{B5A8A18F-37BB-46CF-B8CF-A3302834252A}" destId="{172AF2A7-E166-49EE-B08C-4D9E1D634D73}" srcOrd="0" destOrd="0" presId="urn:microsoft.com/office/officeart/2005/8/layout/vProcess5"/>
    <dgm:cxn modelId="{5700EDEA-C383-4461-9050-60B4B2093F50}" srcId="{B5A8A18F-37BB-46CF-B8CF-A3302834252A}" destId="{0B510B30-D197-4646-A8FD-72501C365AA0}" srcOrd="3" destOrd="0" parTransId="{67FA4068-F512-408D-B174-E312FAF495DE}" sibTransId="{611F5A80-4598-47CB-916B-DC3F5E8641B3}"/>
    <dgm:cxn modelId="{23F571DA-DA1B-4FA9-9F12-0197BB6B36C7}" type="presParOf" srcId="{172AF2A7-E166-49EE-B08C-4D9E1D634D73}" destId="{5C47166A-94A5-44BD-8CA3-BDA184D6021B}" srcOrd="0" destOrd="0" presId="urn:microsoft.com/office/officeart/2005/8/layout/vProcess5"/>
    <dgm:cxn modelId="{B28E98D0-CF8A-47A7-AD10-EE4C54D72C8B}" type="presParOf" srcId="{172AF2A7-E166-49EE-B08C-4D9E1D634D73}" destId="{0C27EFDC-B1A2-43CC-8EAB-103B063F7194}" srcOrd="1" destOrd="0" presId="urn:microsoft.com/office/officeart/2005/8/layout/vProcess5"/>
    <dgm:cxn modelId="{BBC75E18-6B11-4EED-A41D-5CB9A6F7D6CD}" type="presParOf" srcId="{172AF2A7-E166-49EE-B08C-4D9E1D634D73}" destId="{137CE7D8-068A-4D7D-8346-492F819B7EAE}" srcOrd="2" destOrd="0" presId="urn:microsoft.com/office/officeart/2005/8/layout/vProcess5"/>
    <dgm:cxn modelId="{BCD82446-EA63-4B89-9204-C65266C5355F}" type="presParOf" srcId="{172AF2A7-E166-49EE-B08C-4D9E1D634D73}" destId="{DBA7277E-75D6-4742-8437-D3B77234DCBC}" srcOrd="3" destOrd="0" presId="urn:microsoft.com/office/officeart/2005/8/layout/vProcess5"/>
    <dgm:cxn modelId="{75938208-09B6-4C01-8E22-7D1785BA0781}" type="presParOf" srcId="{172AF2A7-E166-49EE-B08C-4D9E1D634D73}" destId="{9240E078-20E9-4B6B-BC61-725917633FDB}" srcOrd="4" destOrd="0" presId="urn:microsoft.com/office/officeart/2005/8/layout/vProcess5"/>
    <dgm:cxn modelId="{5506B29D-F678-4389-90DF-05DEFA29C6CD}" type="presParOf" srcId="{172AF2A7-E166-49EE-B08C-4D9E1D634D73}" destId="{11079B16-31F5-488B-A301-3647F82A3D0C}" srcOrd="5" destOrd="0" presId="urn:microsoft.com/office/officeart/2005/8/layout/vProcess5"/>
    <dgm:cxn modelId="{D13C9EC3-7E3C-406B-AFDA-5903453FDD6E}" type="presParOf" srcId="{172AF2A7-E166-49EE-B08C-4D9E1D634D73}" destId="{F8A71F95-F247-4BE1-BF7E-0CDE58438CA4}" srcOrd="6" destOrd="0" presId="urn:microsoft.com/office/officeart/2005/8/layout/vProcess5"/>
    <dgm:cxn modelId="{3EF6E331-E123-4774-81DD-00CFEB6BE758}" type="presParOf" srcId="{172AF2A7-E166-49EE-B08C-4D9E1D634D73}" destId="{EBAC22E7-3B0A-4870-9122-666A259E5AAD}" srcOrd="7" destOrd="0" presId="urn:microsoft.com/office/officeart/2005/8/layout/vProcess5"/>
    <dgm:cxn modelId="{2ED33434-2F18-4F6C-9360-0150AD7C886E}" type="presParOf" srcId="{172AF2A7-E166-49EE-B08C-4D9E1D634D73}" destId="{57ABBBEF-BFA9-45BA-B416-9569E145B945}" srcOrd="8" destOrd="0" presId="urn:microsoft.com/office/officeart/2005/8/layout/vProcess5"/>
    <dgm:cxn modelId="{245B6A7E-3CD5-4C66-A8E2-4A1BACE99C48}" type="presParOf" srcId="{172AF2A7-E166-49EE-B08C-4D9E1D634D73}" destId="{9FB15EE3-555B-4DD6-BCE8-2DCAC2287EDE}" srcOrd="9" destOrd="0" presId="urn:microsoft.com/office/officeart/2005/8/layout/vProcess5"/>
    <dgm:cxn modelId="{881D76E4-4E73-4B0E-8F5A-C59F99FC0043}" type="presParOf" srcId="{172AF2A7-E166-49EE-B08C-4D9E1D634D73}" destId="{94ACBD89-7212-4690-B352-6D4AD2B2B3C4}" srcOrd="10" destOrd="0" presId="urn:microsoft.com/office/officeart/2005/8/layout/vProcess5"/>
    <dgm:cxn modelId="{EF8CBDD6-284F-4969-A45F-15BA86B9CA7E}" type="presParOf" srcId="{172AF2A7-E166-49EE-B08C-4D9E1D634D73}" destId="{44E21A17-B367-4ED5-840D-58C739C351F8}" srcOrd="11" destOrd="0" presId="urn:microsoft.com/office/officeart/2005/8/layout/vProcess5"/>
    <dgm:cxn modelId="{8A797660-6039-4C1E-96F7-30DAB62A5700}" type="presParOf" srcId="{172AF2A7-E166-49EE-B08C-4D9E1D634D73}" destId="{8D694A3B-1181-4B0C-9CA8-5891CDDE4252}" srcOrd="12" destOrd="0" presId="urn:microsoft.com/office/officeart/2005/8/layout/vProcess5"/>
    <dgm:cxn modelId="{F458E9D6-B878-4228-BC31-7637E9D38CF8}" type="presParOf" srcId="{172AF2A7-E166-49EE-B08C-4D9E1D634D73}" destId="{32B7A43F-98A9-4D79-A4F2-21A42ACF019D}" srcOrd="13" destOrd="0" presId="urn:microsoft.com/office/officeart/2005/8/layout/vProcess5"/>
    <dgm:cxn modelId="{9D105C94-C03D-4A9F-97F8-4133C61939DB}" type="presParOf" srcId="{172AF2A7-E166-49EE-B08C-4D9E1D634D73}" destId="{0B193C35-4F44-4B0F-857B-18473F7FB27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7EFDC-B1A2-43CC-8EAB-103B063F7194}">
      <dsp:nvSpPr>
        <dsp:cNvPr id="0" name=""/>
        <dsp:cNvSpPr/>
      </dsp:nvSpPr>
      <dsp:spPr>
        <a:xfrm>
          <a:off x="0" y="0"/>
          <a:ext cx="6072759" cy="7832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INNER JOIN – matching records only</a:t>
          </a:r>
        </a:p>
      </dsp:txBody>
      <dsp:txXfrm>
        <a:off x="22940" y="22940"/>
        <a:ext cx="5135942" cy="737360"/>
      </dsp:txXfrm>
    </dsp:sp>
    <dsp:sp modelId="{137CE7D8-068A-4D7D-8346-492F819B7EAE}">
      <dsp:nvSpPr>
        <dsp:cNvPr id="0" name=""/>
        <dsp:cNvSpPr/>
      </dsp:nvSpPr>
      <dsp:spPr>
        <a:xfrm>
          <a:off x="453485" y="892024"/>
          <a:ext cx="6072759" cy="7832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LEFT JOIN – all left table records</a:t>
          </a:r>
        </a:p>
      </dsp:txBody>
      <dsp:txXfrm>
        <a:off x="476425" y="914964"/>
        <a:ext cx="5064287" cy="737360"/>
      </dsp:txXfrm>
    </dsp:sp>
    <dsp:sp modelId="{DBA7277E-75D6-4742-8437-D3B77234DCBC}">
      <dsp:nvSpPr>
        <dsp:cNvPr id="0" name=""/>
        <dsp:cNvSpPr/>
      </dsp:nvSpPr>
      <dsp:spPr>
        <a:xfrm>
          <a:off x="906970" y="1784048"/>
          <a:ext cx="6072759" cy="7832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RIGHT JOIN – all right table records</a:t>
          </a:r>
        </a:p>
      </dsp:txBody>
      <dsp:txXfrm>
        <a:off x="929910" y="1806988"/>
        <a:ext cx="5064287" cy="737360"/>
      </dsp:txXfrm>
    </dsp:sp>
    <dsp:sp modelId="{9240E078-20E9-4B6B-BC61-725917633FDB}">
      <dsp:nvSpPr>
        <dsp:cNvPr id="0" name=""/>
        <dsp:cNvSpPr/>
      </dsp:nvSpPr>
      <dsp:spPr>
        <a:xfrm>
          <a:off x="1360455" y="2676072"/>
          <a:ext cx="6072759" cy="7832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FULL OUTER JOIN – all records from both tables</a:t>
          </a:r>
        </a:p>
      </dsp:txBody>
      <dsp:txXfrm>
        <a:off x="1383395" y="2699012"/>
        <a:ext cx="5064287" cy="737360"/>
      </dsp:txXfrm>
    </dsp:sp>
    <dsp:sp modelId="{11079B16-31F5-488B-A301-3647F82A3D0C}">
      <dsp:nvSpPr>
        <dsp:cNvPr id="0" name=""/>
        <dsp:cNvSpPr/>
      </dsp:nvSpPr>
      <dsp:spPr>
        <a:xfrm>
          <a:off x="1813940" y="3568097"/>
          <a:ext cx="6072759" cy="78324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CROSS JOIN – Cartesian product</a:t>
          </a:r>
        </a:p>
      </dsp:txBody>
      <dsp:txXfrm>
        <a:off x="1836880" y="3591037"/>
        <a:ext cx="5064287" cy="737360"/>
      </dsp:txXfrm>
    </dsp:sp>
    <dsp:sp modelId="{F8A71F95-F247-4BE1-BF7E-0CDE58438CA4}">
      <dsp:nvSpPr>
        <dsp:cNvPr id="0" name=""/>
        <dsp:cNvSpPr/>
      </dsp:nvSpPr>
      <dsp:spPr>
        <a:xfrm>
          <a:off x="5563652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678201" y="572200"/>
        <a:ext cx="280008" cy="383102"/>
      </dsp:txXfrm>
    </dsp:sp>
    <dsp:sp modelId="{EBAC22E7-3B0A-4870-9122-666A259E5AAD}">
      <dsp:nvSpPr>
        <dsp:cNvPr id="0" name=""/>
        <dsp:cNvSpPr/>
      </dsp:nvSpPr>
      <dsp:spPr>
        <a:xfrm>
          <a:off x="6017137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131686" y="1464225"/>
        <a:ext cx="280008" cy="383102"/>
      </dsp:txXfrm>
    </dsp:sp>
    <dsp:sp modelId="{57ABBBEF-BFA9-45BA-B416-9569E145B945}">
      <dsp:nvSpPr>
        <dsp:cNvPr id="0" name=""/>
        <dsp:cNvSpPr/>
      </dsp:nvSpPr>
      <dsp:spPr>
        <a:xfrm>
          <a:off x="6470622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585171" y="2343195"/>
        <a:ext cx="280008" cy="383102"/>
      </dsp:txXfrm>
    </dsp:sp>
    <dsp:sp modelId="{9FB15EE3-555B-4DD6-BCE8-2DCAC2287EDE}">
      <dsp:nvSpPr>
        <dsp:cNvPr id="0" name=""/>
        <dsp:cNvSpPr/>
      </dsp:nvSpPr>
      <dsp:spPr>
        <a:xfrm>
          <a:off x="6924108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038657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8306E7-E4DA-4397-8301-92A02158D87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B88CF-940C-4F82-B5A6-1A3CD145D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4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B88CF-940C-4F82-B5A6-1A3CD145D2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94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1338742"/>
          </a:xfrm>
        </p:spPr>
        <p:txBody>
          <a:bodyPr anchor="b">
            <a:normAutofit/>
          </a:bodyPr>
          <a:lstStyle/>
          <a:p>
            <a:r>
              <a:rPr lang="en-US" sz="3000" b="1" dirty="0"/>
              <a:t>Session 3:</a:t>
            </a:r>
            <a:br>
              <a:rPr lang="en-US" sz="3000" b="1" dirty="0"/>
            </a:br>
            <a:r>
              <a:rPr lang="en-US" sz="3000" b="1" dirty="0"/>
              <a:t>Advanced SQL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3026664"/>
            <a:ext cx="4688333" cy="126187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en-US" sz="2500" b="1" dirty="0"/>
              <a:t>1.Database Joins</a:t>
            </a:r>
          </a:p>
          <a:p>
            <a:pPr algn="l">
              <a:lnSpc>
                <a:spcPct val="90000"/>
              </a:lnSpc>
            </a:pPr>
            <a:r>
              <a:rPr lang="en-US" sz="2500" b="1" dirty="0"/>
              <a:t>2. Subqueries</a:t>
            </a:r>
          </a:p>
          <a:p>
            <a:pPr algn="l">
              <a:lnSpc>
                <a:spcPct val="90000"/>
              </a:lnSpc>
            </a:pPr>
            <a:r>
              <a:rPr lang="en-US" sz="2500" b="1" dirty="0"/>
              <a:t>3. CTE(Common Table Expression)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B3B56BE-0E5F-07A2-F9E7-D5127122A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6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847233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Recap – Session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3742"/>
            <a:ext cx="4572000" cy="476794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500" dirty="0"/>
              <a:t>	</a:t>
            </a:r>
            <a:r>
              <a:rPr lang="en-US" sz="2500" b="1" dirty="0"/>
              <a:t>Basic Database Concepts: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7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Database Keys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Sequence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1" dirty="0"/>
              <a:t>Database Control Statement</a:t>
            </a:r>
            <a:br>
              <a:rPr lang="en-US" sz="1800" dirty="0"/>
            </a:br>
            <a:endParaRPr lang="en-US" sz="1800" dirty="0"/>
          </a:p>
          <a:p>
            <a:pPr marL="457200" lvl="1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2200" dirty="0">
                <a:sym typeface="Wingdings" panose="05000000000000000000" pitchFamily="2" charset="2"/>
              </a:rPr>
              <a:t>Till now we have completed.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Prepared Stage schema and Loaded Source Data.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Prepared Target Schema.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Created Fact and Dim(As Star Schema).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sym typeface="Wingdings" panose="05000000000000000000" pitchFamily="2" charset="2"/>
              </a:rPr>
              <a:t>Defiled Primary and Foreign Keys.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2AD90C03-905E-3BE9-E510-A6055E89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19" r="18589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4C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64A620-76F8-510C-79E7-CDA644DD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0" y="643467"/>
            <a:ext cx="78742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1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D6A8F-D122-BFF3-B15C-88D399693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900" b="1">
                <a:solidFill>
                  <a:srgbClr val="FFFFFF"/>
                </a:solidFill>
              </a:rPr>
              <a:t>What is a JOIN?</a:t>
            </a:r>
            <a:br>
              <a:rPr lang="en-US" sz="3900" b="1">
                <a:solidFill>
                  <a:srgbClr val="FFFFFF"/>
                </a:solidFill>
              </a:rPr>
            </a:br>
            <a:r>
              <a:rPr lang="en-US" sz="3900">
                <a:solidFill>
                  <a:srgbClr val="FFFFFF"/>
                </a:solidFill>
              </a:rPr>
              <a:t>A JOIN is used to combine data from two or more tables based on a related column between them.</a:t>
            </a:r>
            <a:br>
              <a:rPr lang="en-US" sz="3900">
                <a:solidFill>
                  <a:srgbClr val="FFFFFF"/>
                </a:solidFill>
              </a:rPr>
            </a:br>
            <a:endParaRPr lang="en-US" sz="39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A21E9-EC13-DCD1-F110-58790C0FB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marL="457200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000"/>
              <a:t>Helps retrieve meaningful combined data</a:t>
            </a:r>
          </a:p>
          <a:p>
            <a:pPr marL="457200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3000"/>
              <a:t>Based on Primary Key and Foreign Key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86346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7A38A54-4033-EC53-385B-1754EA692A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/>
              <a:t>Types of JOINs</a:t>
            </a:r>
            <a:endParaRPr lang="en-US" b="1" dirty="0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1736F5D-2E35-2367-7E00-516CF5122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89629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b="1" dirty="0"/>
              <a:t>INNER JOIN vs LEFT JOIN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356BCE-5A10-09DE-149C-979DDF17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13" r="48072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415300" y="2409831"/>
            <a:ext cx="5372084" cy="1675624"/>
          </a:xfrm>
        </p:spPr>
        <p:txBody>
          <a:bodyPr>
            <a:normAutofit/>
          </a:bodyPr>
          <a:lstStyle/>
          <a:p>
            <a:r>
              <a:rPr sz="1700" b="1" dirty="0"/>
              <a:t>INNER JOIN returns only matched rows</a:t>
            </a:r>
            <a:endParaRPr lang="en-US" sz="1700" b="1" dirty="0"/>
          </a:p>
          <a:p>
            <a:r>
              <a:rPr sz="1700" b="1" dirty="0"/>
              <a:t>LEFT JOIN returns all left rows + matched right rows</a:t>
            </a:r>
            <a:endParaRPr lang="en-US" sz="1700" b="1" dirty="0"/>
          </a:p>
          <a:p>
            <a:r>
              <a:rPr sz="1700" b="1" dirty="0"/>
              <a:t>Unmatched right rows appear as NULL</a:t>
            </a:r>
            <a:endParaRPr lang="en-US" sz="1700" b="1" dirty="0"/>
          </a:p>
          <a:p>
            <a:r>
              <a:rPr sz="1700" b="1" dirty="0"/>
              <a:t>Choice depends on business requirement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74164C0-9C30-0BFE-5CF0-18A4EE5480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95030" y="2767106"/>
            <a:ext cx="216062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EMP Table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4C373-9163-5300-E584-4795768D2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031" y="806824"/>
            <a:ext cx="2189804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Employee Information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E66588-5698-2050-98D9-E419EF659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1710"/>
              </p:ext>
            </p:extLst>
          </p:nvPr>
        </p:nvGraphicFramePr>
        <p:xfrm>
          <a:off x="3376821" y="2204639"/>
          <a:ext cx="5419312" cy="244872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97308">
                  <a:extLst>
                    <a:ext uri="{9D8B030D-6E8A-4147-A177-3AD203B41FA5}">
                      <a16:colId xmlns:a16="http://schemas.microsoft.com/office/drawing/2014/main" val="1306257668"/>
                    </a:ext>
                  </a:extLst>
                </a:gridCol>
                <a:gridCol w="1651503">
                  <a:extLst>
                    <a:ext uri="{9D8B030D-6E8A-4147-A177-3AD203B41FA5}">
                      <a16:colId xmlns:a16="http://schemas.microsoft.com/office/drawing/2014/main" val="1079721640"/>
                    </a:ext>
                  </a:extLst>
                </a:gridCol>
                <a:gridCol w="1318358">
                  <a:extLst>
                    <a:ext uri="{9D8B030D-6E8A-4147-A177-3AD203B41FA5}">
                      <a16:colId xmlns:a16="http://schemas.microsoft.com/office/drawing/2014/main" val="2129452355"/>
                    </a:ext>
                  </a:extLst>
                </a:gridCol>
                <a:gridCol w="1252143">
                  <a:extLst>
                    <a:ext uri="{9D8B030D-6E8A-4147-A177-3AD203B41FA5}">
                      <a16:colId xmlns:a16="http://schemas.microsoft.com/office/drawing/2014/main" val="3881160809"/>
                    </a:ext>
                  </a:extLst>
                </a:gridCol>
              </a:tblGrid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EMP_ID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EMP_NAME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DEPT_ID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SALARY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398855859"/>
                  </a:ext>
                </a:extLst>
              </a:tr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1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John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10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50000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1867843634"/>
                  </a:ext>
                </a:extLst>
              </a:tr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2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Smith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20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60000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2623634258"/>
                  </a:ext>
                </a:extLst>
              </a:tr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3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David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10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55000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1565288869"/>
                  </a:ext>
                </a:extLst>
              </a:tr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4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Chris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30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45000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484549248"/>
                  </a:ext>
                </a:extLst>
              </a:tr>
              <a:tr h="4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5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Alex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NULL</a:t>
                      </a:r>
                    </a:p>
                  </a:txBody>
                  <a:tcPr marL="96246" marR="96246" marT="48123" marB="48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40000</a:t>
                      </a:r>
                    </a:p>
                  </a:txBody>
                  <a:tcPr marL="96246" marR="96246" marT="48123" marB="48123" anchor="ctr"/>
                </a:tc>
                <a:extLst>
                  <a:ext uri="{0D108BD9-81ED-4DB2-BD59-A6C34878D82A}">
                    <a16:rowId xmlns:a16="http://schemas.microsoft.com/office/drawing/2014/main" val="152242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46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D35F52E-0D0A-F791-21A8-A3AD53D91B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95030" y="2767106"/>
            <a:ext cx="216062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DEPT Table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8CEE7-6033-59FF-AF60-DEAC239B1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031" y="806824"/>
            <a:ext cx="2189804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Department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4C4253-171B-854F-1654-C39833C9C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267501"/>
              </p:ext>
            </p:extLst>
          </p:nvPr>
        </p:nvGraphicFramePr>
        <p:xfrm>
          <a:off x="3376821" y="1120841"/>
          <a:ext cx="5419312" cy="461632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2333280">
                  <a:extLst>
                    <a:ext uri="{9D8B030D-6E8A-4147-A177-3AD203B41FA5}">
                      <a16:colId xmlns:a16="http://schemas.microsoft.com/office/drawing/2014/main" val="1951628783"/>
                    </a:ext>
                  </a:extLst>
                </a:gridCol>
                <a:gridCol w="3086032">
                  <a:extLst>
                    <a:ext uri="{9D8B030D-6E8A-4147-A177-3AD203B41FA5}">
                      <a16:colId xmlns:a16="http://schemas.microsoft.com/office/drawing/2014/main" val="894285546"/>
                    </a:ext>
                  </a:extLst>
                </a:gridCol>
              </a:tblGrid>
              <a:tr h="92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0" cap="none" spc="0">
                          <a:solidFill>
                            <a:schemeClr val="bg1"/>
                          </a:solidFill>
                        </a:rPr>
                        <a:t>DEPT_ID</a:t>
                      </a:r>
                    </a:p>
                  </a:txBody>
                  <a:tcPr marL="264150" marR="203192" marT="203192" marB="203192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0" cap="none" spc="0">
                          <a:solidFill>
                            <a:schemeClr val="bg1"/>
                          </a:solidFill>
                        </a:rPr>
                        <a:t>DEPT_NAME</a:t>
                      </a:r>
                    </a:p>
                  </a:txBody>
                  <a:tcPr marL="264150" marR="203192" marT="203192" marB="20319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056859"/>
                  </a:ext>
                </a:extLst>
              </a:tr>
              <a:tr h="92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264150" marR="203192" marT="203192" marB="2031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HR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448430"/>
                  </a:ext>
                </a:extLst>
              </a:tr>
              <a:tr h="92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IT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477905"/>
                  </a:ext>
                </a:extLst>
              </a:tr>
              <a:tr h="92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64150" marR="203192" marT="203192" marB="2031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Finance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38793"/>
                  </a:ext>
                </a:extLst>
              </a:tr>
              <a:tr h="923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Marketing</a:t>
                      </a:r>
                    </a:p>
                  </a:txBody>
                  <a:tcPr marL="264150" marR="203192" marT="203192" marB="20319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368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11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316D490E-09C3-DC36-33AE-B1EAD106CE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24784" y="248038"/>
            <a:ext cx="5297791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500" b="1" dirty="0">
                <a:solidFill>
                  <a:srgbClr val="FFFFFF"/>
                </a:solidFill>
                <a:latin typeface="Arial" panose="020B0604020202020204" pitchFamily="34" charset="0"/>
              </a:rPr>
              <a:t>Join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Comparison Slide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8068A-58AF-E1FB-8998-AB3E30AE9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74" y="390832"/>
            <a:ext cx="2425189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OUTPUT REPORT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BFAEF98-A826-663B-7669-969017A75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09985"/>
              </p:ext>
            </p:extLst>
          </p:nvPr>
        </p:nvGraphicFramePr>
        <p:xfrm>
          <a:off x="324168" y="2259536"/>
          <a:ext cx="8495662" cy="3865679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3950344">
                  <a:extLst>
                    <a:ext uri="{9D8B030D-6E8A-4147-A177-3AD203B41FA5}">
                      <a16:colId xmlns:a16="http://schemas.microsoft.com/office/drawing/2014/main" val="2452184328"/>
                    </a:ext>
                  </a:extLst>
                </a:gridCol>
                <a:gridCol w="4545318">
                  <a:extLst>
                    <a:ext uri="{9D8B030D-6E8A-4147-A177-3AD203B41FA5}">
                      <a16:colId xmlns:a16="http://schemas.microsoft.com/office/drawing/2014/main" val="2813859450"/>
                    </a:ext>
                  </a:extLst>
                </a:gridCol>
              </a:tblGrid>
              <a:tr h="689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cap="none" spc="0">
                          <a:solidFill>
                            <a:schemeClr val="bg1"/>
                          </a:solidFill>
                        </a:rPr>
                        <a:t>Join Type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cap="none" spc="0">
                          <a:solidFill>
                            <a:schemeClr val="bg1"/>
                          </a:solidFill>
                        </a:rPr>
                        <a:t>Records Returned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328546"/>
                  </a:ext>
                </a:extLst>
              </a:tr>
              <a:tr h="6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INNER JOIN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75939"/>
                  </a:ext>
                </a:extLst>
              </a:tr>
              <a:tr h="6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LEFT JOIN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32308"/>
                  </a:ext>
                </a:extLst>
              </a:tr>
              <a:tr h="6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RIGHT JOIN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392177"/>
                  </a:ext>
                </a:extLst>
              </a:tr>
              <a:tr h="6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FULL OUTER JOIN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656559"/>
                  </a:ext>
                </a:extLst>
              </a:tr>
              <a:tr h="635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CROSS JOIN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162880" marR="162880" marT="162880" marB="8144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465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5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EAF3A-E891-D76C-173A-FD7B6A52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490472"/>
          </a:xfrm>
        </p:spPr>
        <p:txBody>
          <a:bodyPr anchor="b">
            <a:normAutofit/>
          </a:bodyPr>
          <a:lstStyle/>
          <a:p>
            <a:r>
              <a:rPr lang="en-US" sz="4700" b="1" dirty="0"/>
              <a:t>Subquery</a:t>
            </a:r>
          </a:p>
        </p:txBody>
      </p:sp>
      <p:pic>
        <p:nvPicPr>
          <p:cNvPr id="14" name="Picture 13" descr="Question marks in a line and one question mark is lit">
            <a:extLst>
              <a:ext uri="{FF2B5EF4-FFF2-40B4-BE49-F238E27FC236}">
                <a16:creationId xmlns:a16="http://schemas.microsoft.com/office/drawing/2014/main" id="{D7FDC70D-E008-1A56-C4ED-ABD663C664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44" r="55458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A29C9-6232-3610-BC3A-C2A8042CE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A query inside another query that returns intermediate results.</a:t>
            </a:r>
            <a:br>
              <a:rPr lang="en-US" sz="1900" dirty="0"/>
            </a:br>
            <a:r>
              <a:rPr lang="en-US" sz="1900" b="1" dirty="0"/>
              <a:t>It is also called:</a:t>
            </a:r>
            <a:br>
              <a:rPr lang="en-US" sz="1900" dirty="0"/>
            </a:br>
            <a:r>
              <a:rPr lang="en-US" sz="1900" dirty="0"/>
              <a:t>	Inner query OR Nested query</a:t>
            </a:r>
            <a:br>
              <a:rPr lang="en-US" sz="1900" dirty="0"/>
            </a:br>
            <a:r>
              <a:rPr lang="en-US" sz="1900" b="1" dirty="0"/>
              <a:t>Subqueries help when:</a:t>
            </a:r>
            <a:br>
              <a:rPr lang="en-US" sz="1900" dirty="0"/>
            </a:br>
            <a:r>
              <a:rPr lang="en-US" sz="1900" dirty="0"/>
              <a:t>	You need intermediate results. 			You want to filter dynamically. 			You want to avoid temporary tables. 		You want readable SQL logic.</a:t>
            </a:r>
          </a:p>
        </p:txBody>
      </p:sp>
    </p:spTree>
    <p:extLst>
      <p:ext uri="{BB962C8B-B14F-4D97-AF65-F5344CB8AC3E}">
        <p14:creationId xmlns:p14="http://schemas.microsoft.com/office/powerpoint/2010/main" val="182971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E5903-360A-B322-BAF7-8878F5F3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7F6F8-AF11-F722-AE2E-E0752EF5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Type of Subquery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5259-70C6-D223-E0E5-32EC75AF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1. Single Row Subquery: </a:t>
            </a:r>
            <a:r>
              <a:rPr lang="en-US" sz="1200" dirty="0"/>
              <a:t>Returns only one value</a:t>
            </a:r>
            <a:br>
              <a:rPr lang="en-US" sz="1200" dirty="0"/>
            </a:br>
            <a:r>
              <a:rPr lang="en-US" sz="1200" dirty="0"/>
              <a:t>SELECT </a:t>
            </a:r>
            <a:r>
              <a:rPr lang="en-US" sz="1200" dirty="0" err="1"/>
              <a:t>employee_name</a:t>
            </a:r>
            <a:br>
              <a:rPr lang="en-US" sz="1200" dirty="0"/>
            </a:br>
            <a:r>
              <a:rPr lang="en-US" sz="1200" dirty="0"/>
              <a:t>	FROM employees</a:t>
            </a:r>
            <a:br>
              <a:rPr lang="en-US" sz="1200" dirty="0"/>
            </a:br>
            <a:r>
              <a:rPr lang="en-US" sz="1200" dirty="0"/>
              <a:t>		WHERE salary &gt; (SELECT AVG(salary) FROM employees);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2. Multiple Row Subquery: </a:t>
            </a:r>
            <a:r>
              <a:rPr lang="en-US" sz="1200" dirty="0"/>
              <a:t>Returns multiple values</a:t>
            </a:r>
            <a:br>
              <a:rPr lang="en-US" sz="1200" dirty="0"/>
            </a:br>
            <a:r>
              <a:rPr lang="en-US" sz="1200" dirty="0"/>
              <a:t>SELECT </a:t>
            </a:r>
            <a:r>
              <a:rPr lang="en-US" sz="1200" dirty="0" err="1"/>
              <a:t>employee_name</a:t>
            </a:r>
            <a:r>
              <a:rPr lang="en-US" sz="1200" dirty="0"/>
              <a:t> FROM employees</a:t>
            </a:r>
            <a:br>
              <a:rPr lang="en-US" sz="1200" dirty="0"/>
            </a:br>
            <a:r>
              <a:rPr lang="en-US" sz="1200" dirty="0"/>
              <a:t>	WHERE </a:t>
            </a:r>
            <a:r>
              <a:rPr lang="en-US" sz="1200" dirty="0" err="1"/>
              <a:t>department_id</a:t>
            </a:r>
            <a:r>
              <a:rPr lang="en-US" sz="1200" dirty="0"/>
              <a:t> IN (SELECT </a:t>
            </a:r>
            <a:r>
              <a:rPr lang="en-US" sz="1200" dirty="0" err="1"/>
              <a:t>department_id</a:t>
            </a:r>
            <a:br>
              <a:rPr lang="en-US" sz="1200" dirty="0"/>
            </a:br>
            <a:r>
              <a:rPr lang="en-US" sz="1200" dirty="0"/>
              <a:t>		FROM departments WHERE location = 'Dubai’);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3. Multiple Column Subquery: </a:t>
            </a:r>
            <a:r>
              <a:rPr lang="en-US" sz="1200" dirty="0"/>
              <a:t>Returns multiple columns</a:t>
            </a:r>
            <a:br>
              <a:rPr lang="en-US" sz="1200" dirty="0"/>
            </a:br>
            <a:r>
              <a:rPr lang="en-US" sz="1200" dirty="0"/>
              <a:t>SELECT * FROM employees</a:t>
            </a:r>
            <a:br>
              <a:rPr lang="en-US" sz="1200" dirty="0"/>
            </a:br>
            <a:r>
              <a:rPr lang="en-US" sz="1200" dirty="0"/>
              <a:t>	WHERE (</a:t>
            </a:r>
            <a:r>
              <a:rPr lang="en-US" sz="1200" dirty="0" err="1"/>
              <a:t>department_id</a:t>
            </a:r>
            <a:r>
              <a:rPr lang="en-US" sz="1200" dirty="0"/>
              <a:t>, </a:t>
            </a:r>
            <a:r>
              <a:rPr lang="en-US" sz="1200" dirty="0" err="1"/>
              <a:t>job_id</a:t>
            </a:r>
            <a:r>
              <a:rPr lang="en-US" sz="1200" dirty="0"/>
              <a:t>) IN (</a:t>
            </a:r>
            <a:br>
              <a:rPr lang="en-US" sz="1200" dirty="0"/>
            </a:br>
            <a:r>
              <a:rPr lang="en-US" sz="1200" dirty="0"/>
              <a:t>		SELECT </a:t>
            </a:r>
            <a:r>
              <a:rPr lang="en-US" sz="1200" dirty="0" err="1"/>
              <a:t>department_id</a:t>
            </a:r>
            <a:r>
              <a:rPr lang="en-US" sz="1200" dirty="0"/>
              <a:t>, </a:t>
            </a:r>
            <a:r>
              <a:rPr lang="en-US" sz="1200" dirty="0" err="1"/>
              <a:t>job_id</a:t>
            </a:r>
            <a:r>
              <a:rPr lang="en-US" sz="1200" dirty="0"/>
              <a:t> FROM </a:t>
            </a:r>
            <a:r>
              <a:rPr lang="en-US" sz="1200" dirty="0" err="1"/>
              <a:t>job_rules</a:t>
            </a:r>
            <a:r>
              <a:rPr lang="en-US" sz="1200" dirty="0"/>
              <a:t>);</a:t>
            </a:r>
            <a:br>
              <a:rPr lang="en-US" sz="1200" dirty="0"/>
            </a:b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4. Correlated Subquery (VERY IMPORTANT)</a:t>
            </a:r>
            <a:br>
              <a:rPr lang="en-US" sz="1200" b="1" dirty="0"/>
            </a:br>
            <a:r>
              <a:rPr lang="en-US" sz="1200" dirty="0"/>
              <a:t>Inner query depends on outer query</a:t>
            </a:r>
            <a:br>
              <a:rPr lang="en-US" sz="1200" b="1" dirty="0"/>
            </a:br>
            <a:r>
              <a:rPr lang="en-US" sz="1200" b="1" dirty="0"/>
              <a:t>	</a:t>
            </a:r>
            <a:r>
              <a:rPr lang="en-US" sz="1200" dirty="0"/>
              <a:t>SELECT e1.employee_name, e1.salary</a:t>
            </a:r>
            <a:br>
              <a:rPr lang="en-US" sz="1200" dirty="0"/>
            </a:br>
            <a:r>
              <a:rPr lang="en-US" sz="1200" dirty="0"/>
              <a:t>		FROM employees e1 WHERE e1.salary &gt; (</a:t>
            </a:r>
            <a:br>
              <a:rPr lang="en-US" sz="1200" dirty="0"/>
            </a:br>
            <a:r>
              <a:rPr lang="en-US" sz="1200" dirty="0"/>
              <a:t>			SELECT AVG(e2.salary) FROM employees e2</a:t>
            </a:r>
            <a:br>
              <a:rPr lang="en-US" sz="1200" dirty="0"/>
            </a:br>
            <a:r>
              <a:rPr lang="en-US" sz="1200" dirty="0"/>
              <a:t>				WHERE e2.department_id = e1.department_id);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r>
              <a:rPr lang="en-US" sz="1200" b="1" dirty="0"/>
              <a:t>Runs once per row</a:t>
            </a:r>
            <a:br>
              <a:rPr lang="en-US" sz="1200" b="1" dirty="0"/>
            </a:br>
            <a:r>
              <a:rPr lang="en-US" sz="1200" b="1" dirty="0"/>
              <a:t>	Slower but powerful</a:t>
            </a:r>
          </a:p>
        </p:txBody>
      </p:sp>
      <p:pic>
        <p:nvPicPr>
          <p:cNvPr id="14" name="Picture 13" descr="Question marks in a line and one question mark is lit">
            <a:extLst>
              <a:ext uri="{FF2B5EF4-FFF2-40B4-BE49-F238E27FC236}">
                <a16:creationId xmlns:a16="http://schemas.microsoft.com/office/drawing/2014/main" id="{64F7B343-D3C5-B3E4-0A92-F5AB27F7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8" r="48080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4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3AB9-E076-04DC-738D-E38EB284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4828-405D-799A-0798-59F0F30E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Type of Subquery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B881A-4015-C82D-29DC-DD138FFC2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5. Nested Subquery (Subquery inside subquery):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SELECT </a:t>
            </a:r>
            <a:r>
              <a:rPr lang="en-US" sz="1200" dirty="0" err="1"/>
              <a:t>employee_name</a:t>
            </a:r>
            <a:r>
              <a:rPr lang="en-US" sz="1200" dirty="0"/>
              <a:t> FROM employees WHERE </a:t>
            </a:r>
            <a:r>
              <a:rPr lang="en-US" sz="1200" dirty="0" err="1"/>
              <a:t>department_id</a:t>
            </a:r>
            <a:r>
              <a:rPr lang="en-US" sz="1200" dirty="0"/>
              <a:t> IN (</a:t>
            </a:r>
            <a:br>
              <a:rPr lang="en-US" sz="1200" dirty="0"/>
            </a:br>
            <a:r>
              <a:rPr lang="en-US" sz="1200" dirty="0"/>
              <a:t>     SELECT </a:t>
            </a:r>
            <a:r>
              <a:rPr lang="en-US" sz="1200" dirty="0" err="1"/>
              <a:t>department_id</a:t>
            </a:r>
            <a:r>
              <a:rPr lang="en-US" sz="1200" dirty="0"/>
              <a:t> FROM departments WHERE </a:t>
            </a:r>
            <a:r>
              <a:rPr lang="en-US" sz="1200" dirty="0" err="1"/>
              <a:t>manager_id</a:t>
            </a:r>
            <a:r>
              <a:rPr lang="en-US" sz="1200" dirty="0"/>
              <a:t> IN (</a:t>
            </a:r>
            <a:br>
              <a:rPr lang="en-US" sz="1200" dirty="0"/>
            </a:br>
            <a:r>
              <a:rPr lang="en-US" sz="1200" dirty="0"/>
              <a:t>          SELECT </a:t>
            </a:r>
            <a:r>
              <a:rPr lang="en-US" sz="1200" dirty="0" err="1"/>
              <a:t>employee_id</a:t>
            </a:r>
            <a:r>
              <a:rPr lang="en-US" sz="1200" dirty="0"/>
              <a:t> FROM employees WHERE salary &gt; 10000));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6. Subquery in SELECT clause:</a:t>
            </a:r>
            <a:br>
              <a:rPr lang="en-US" sz="1200" b="1" dirty="0"/>
            </a:br>
            <a:br>
              <a:rPr lang="en-US" sz="1200" dirty="0"/>
            </a:br>
            <a:r>
              <a:rPr lang="en-US" sz="1200" dirty="0"/>
              <a:t>SELECT </a:t>
            </a:r>
            <a:r>
              <a:rPr lang="en-US" sz="1200" dirty="0" err="1"/>
              <a:t>employee_name</a:t>
            </a:r>
            <a:r>
              <a:rPr lang="en-US" sz="1200" dirty="0"/>
              <a:t>, salary,</a:t>
            </a:r>
            <a:br>
              <a:rPr lang="en-US" sz="1200" dirty="0"/>
            </a:br>
            <a:r>
              <a:rPr lang="en-US" sz="1200" dirty="0"/>
              <a:t>	(SELECT AVG(salary) FROM employees) AS </a:t>
            </a:r>
            <a:r>
              <a:rPr lang="en-US" sz="1200" dirty="0" err="1"/>
              <a:t>avg_salary</a:t>
            </a:r>
            <a:br>
              <a:rPr lang="en-US" sz="1200" dirty="0"/>
            </a:br>
            <a:r>
              <a:rPr lang="en-US" sz="1200" dirty="0"/>
              <a:t>		FROM employees;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7. Subquery in FROM clause (Derived Table):</a:t>
            </a:r>
            <a:br>
              <a:rPr lang="en-US" sz="1200" b="1" dirty="0"/>
            </a:br>
            <a:br>
              <a:rPr lang="en-US" sz="1200" dirty="0"/>
            </a:br>
            <a:r>
              <a:rPr lang="en-US" sz="1200" dirty="0"/>
              <a:t>SELECT </a:t>
            </a:r>
            <a:r>
              <a:rPr lang="en-US" sz="1200" dirty="0" err="1"/>
              <a:t>dept_id</a:t>
            </a:r>
            <a:r>
              <a:rPr lang="en-US" sz="1200" dirty="0"/>
              <a:t>, </a:t>
            </a:r>
            <a:r>
              <a:rPr lang="en-US" sz="1200" dirty="0" err="1"/>
              <a:t>avg_salary</a:t>
            </a:r>
            <a:r>
              <a:rPr lang="en-US" sz="1200" dirty="0"/>
              <a:t> FROM (</a:t>
            </a:r>
            <a:br>
              <a:rPr lang="en-US" sz="1200" dirty="0"/>
            </a:br>
            <a:r>
              <a:rPr lang="en-US" sz="1200" dirty="0"/>
              <a:t>	SELECT </a:t>
            </a:r>
            <a:r>
              <a:rPr lang="en-US" sz="1200" dirty="0" err="1"/>
              <a:t>department_id</a:t>
            </a:r>
            <a:r>
              <a:rPr lang="en-US" sz="1200" dirty="0"/>
              <a:t> AS </a:t>
            </a:r>
            <a:r>
              <a:rPr lang="en-US" sz="1200" dirty="0" err="1"/>
              <a:t>dept_id,AVG</a:t>
            </a:r>
            <a:r>
              <a:rPr lang="en-US" sz="1200" dirty="0"/>
              <a:t>(salary) AS </a:t>
            </a:r>
            <a:r>
              <a:rPr lang="en-US" sz="1200" dirty="0" err="1"/>
              <a:t>avg_salary</a:t>
            </a:r>
            <a:br>
              <a:rPr lang="en-US" sz="1200" dirty="0"/>
            </a:br>
            <a:r>
              <a:rPr lang="en-US" sz="1200" dirty="0"/>
              <a:t>		FROM employees GROUP BY </a:t>
            </a:r>
            <a:r>
              <a:rPr lang="en-US" sz="1200" dirty="0" err="1"/>
              <a:t>department_id</a:t>
            </a:r>
            <a:r>
              <a:rPr lang="en-US" sz="1200" dirty="0"/>
              <a:t>);</a:t>
            </a:r>
            <a:br>
              <a:rPr lang="en-US" sz="1200" dirty="0"/>
            </a:br>
            <a:endParaRPr lang="en-US" sz="1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/>
              <a:t>8. Subquery in UPDATE &amp; DELETE: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UPDATE employees SET salary = salary * 1.1</a:t>
            </a:r>
            <a:br>
              <a:rPr lang="en-US" sz="1200" dirty="0"/>
            </a:br>
            <a:r>
              <a:rPr lang="en-US" sz="1200" dirty="0"/>
              <a:t>	WHERE </a:t>
            </a:r>
            <a:r>
              <a:rPr lang="en-US" sz="1200" dirty="0" err="1"/>
              <a:t>department_id</a:t>
            </a:r>
            <a:r>
              <a:rPr lang="en-US" sz="1200" dirty="0"/>
              <a:t> IN (SELECT </a:t>
            </a:r>
            <a:r>
              <a:rPr lang="en-US" sz="1200" dirty="0" err="1"/>
              <a:t>department_id</a:t>
            </a:r>
            <a:r>
              <a:rPr lang="en-US" sz="1200" dirty="0"/>
              <a:t> FROM departments</a:t>
            </a:r>
            <a:br>
              <a:rPr lang="en-US" sz="1200" dirty="0"/>
            </a:br>
            <a:r>
              <a:rPr lang="en-US" sz="1200" dirty="0"/>
              <a:t>		WHERE location = 'Dubai');</a:t>
            </a:r>
            <a:br>
              <a:rPr lang="en-US" sz="1200" dirty="0"/>
            </a:br>
            <a:endParaRPr lang="en-US" sz="1200" b="1" dirty="0"/>
          </a:p>
        </p:txBody>
      </p:sp>
      <p:pic>
        <p:nvPicPr>
          <p:cNvPr id="14" name="Picture 13" descr="Question marks in a line and one question mark is lit">
            <a:extLst>
              <a:ext uri="{FF2B5EF4-FFF2-40B4-BE49-F238E27FC236}">
                <a16:creationId xmlns:a16="http://schemas.microsoft.com/office/drawing/2014/main" id="{2AAC9E49-F7A8-6035-397F-965686B4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8" r="48080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5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300" b="1"/>
              <a:t>Common Table Expression (CTE)</a:t>
            </a:r>
          </a:p>
        </p:txBody>
      </p:sp>
      <p:sp>
        <p:nvSpPr>
          <p:cNvPr id="5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A </a:t>
            </a:r>
            <a:r>
              <a:rPr lang="en-US" sz="1900" b="1" dirty="0"/>
              <a:t>Common Table Expression (CTE)</a:t>
            </a:r>
            <a:r>
              <a:rPr lang="en-US" sz="1900" dirty="0"/>
              <a:t> is a temporary named result set that exists only for the duration of a single SQL statement.</a:t>
            </a:r>
            <a:br>
              <a:rPr lang="en-US" sz="1900" dirty="0"/>
            </a:br>
            <a:br>
              <a:rPr lang="en-US" sz="1900" dirty="0"/>
            </a:br>
            <a:r>
              <a:rPr lang="en-US" sz="1900" dirty="0"/>
              <a:t>Temporary result set defined using WITH clause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 Improves readability and maintainability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 Can replace complex subqueries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 Avoids repeating the same query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dirty="0"/>
              <a:t> Supports recursive queries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-48705"/>
            <a:ext cx="4316022" cy="886905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tx2"/>
                </a:solidFill>
              </a:rPr>
              <a:t>CTE Syntax and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4287"/>
            <a:ext cx="9285514" cy="6318829"/>
          </a:xfrm>
        </p:spPr>
        <p:txBody>
          <a:bodyPr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solidFill>
                  <a:schemeClr val="tx2"/>
                </a:solidFill>
              </a:rPr>
              <a:t>WITH </a:t>
            </a:r>
            <a:r>
              <a:rPr lang="en-US" sz="1900" dirty="0" err="1">
                <a:solidFill>
                  <a:schemeClr val="tx2"/>
                </a:solidFill>
              </a:rPr>
              <a:t>cte_name</a:t>
            </a:r>
            <a:r>
              <a:rPr lang="en-US" sz="1900" dirty="0">
                <a:solidFill>
                  <a:schemeClr val="tx2"/>
                </a:solidFill>
              </a:rPr>
              <a:t> AS (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... )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* FROM </a:t>
            </a:r>
            <a:r>
              <a:rPr lang="en-US" sz="1900" dirty="0" err="1">
                <a:solidFill>
                  <a:schemeClr val="tx2"/>
                </a:solidFill>
              </a:rPr>
              <a:t>cte_name</a:t>
            </a:r>
            <a:r>
              <a:rPr lang="en-US" sz="1900" dirty="0">
                <a:solidFill>
                  <a:schemeClr val="tx2"/>
                </a:solidFill>
              </a:rPr>
              <a:t>;</a:t>
            </a:r>
            <a:endParaRPr lang="en-US" sz="1900" b="1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>
                <a:solidFill>
                  <a:schemeClr val="tx2"/>
                </a:solidFill>
              </a:rPr>
              <a:t>Basic CTE Example:  </a:t>
            </a:r>
            <a:r>
              <a:rPr lang="en-US" sz="1900" dirty="0">
                <a:solidFill>
                  <a:schemeClr val="tx2"/>
                </a:solidFill>
              </a:rPr>
              <a:t>Calculate average salary per department.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WITH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 AS (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, AVG(salary) </a:t>
            </a:r>
            <a:r>
              <a:rPr lang="en-US" sz="1900" dirty="0" err="1">
                <a:solidFill>
                  <a:schemeClr val="tx2"/>
                </a:solidFill>
              </a:rPr>
              <a:t>avg_salary</a:t>
            </a:r>
            <a:r>
              <a:rPr lang="en-US" sz="1900" dirty="0">
                <a:solidFill>
                  <a:schemeClr val="tx2"/>
                </a:solidFill>
              </a:rPr>
              <a:t> FROM employees GROUP BY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)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* FROM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; 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b="1" dirty="0">
                <a:solidFill>
                  <a:schemeClr val="tx2"/>
                </a:solidFill>
              </a:rPr>
              <a:t>CTE with JOIN: </a:t>
            </a:r>
            <a:r>
              <a:rPr lang="en-US" sz="1900" dirty="0">
                <a:solidFill>
                  <a:schemeClr val="tx2"/>
                </a:solidFill>
              </a:rPr>
              <a:t>Find employees earning more than department average.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WITH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 AS (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, AVG(salary) </a:t>
            </a:r>
            <a:r>
              <a:rPr lang="en-US" sz="1900" dirty="0" err="1">
                <a:solidFill>
                  <a:schemeClr val="tx2"/>
                </a:solidFill>
              </a:rPr>
              <a:t>avg_salary</a:t>
            </a:r>
            <a:r>
              <a:rPr lang="en-US" sz="1900" dirty="0">
                <a:solidFill>
                  <a:schemeClr val="tx2"/>
                </a:solidFill>
              </a:rPr>
              <a:t> FROM employees GROUP BY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 )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SELECT </a:t>
            </a:r>
            <a:r>
              <a:rPr lang="en-US" sz="1900" dirty="0" err="1">
                <a:solidFill>
                  <a:schemeClr val="tx2"/>
                </a:solidFill>
              </a:rPr>
              <a:t>e.employee_name</a:t>
            </a:r>
            <a:r>
              <a:rPr lang="en-US" sz="1900" dirty="0">
                <a:solidFill>
                  <a:schemeClr val="tx2"/>
                </a:solidFill>
              </a:rPr>
              <a:t>, </a:t>
            </a:r>
            <a:r>
              <a:rPr lang="en-US" sz="1900" dirty="0" err="1">
                <a:solidFill>
                  <a:schemeClr val="tx2"/>
                </a:solidFill>
              </a:rPr>
              <a:t>e.salary</a:t>
            </a:r>
            <a:r>
              <a:rPr lang="en-US" sz="1900" dirty="0">
                <a:solidFill>
                  <a:schemeClr val="tx2"/>
                </a:solidFill>
              </a:rPr>
              <a:t>, </a:t>
            </a:r>
            <a:r>
              <a:rPr lang="en-US" sz="1900" dirty="0" err="1">
                <a:solidFill>
                  <a:schemeClr val="tx2"/>
                </a:solidFill>
              </a:rPr>
              <a:t>d.avg_salary</a:t>
            </a:r>
            <a:r>
              <a:rPr lang="en-US" sz="1900" dirty="0">
                <a:solidFill>
                  <a:schemeClr val="tx2"/>
                </a:solidFill>
              </a:rPr>
              <a:t> FROM employees e JOIN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 d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ON </a:t>
            </a:r>
            <a:r>
              <a:rPr lang="en-US" sz="1900" dirty="0" err="1">
                <a:solidFill>
                  <a:schemeClr val="tx2"/>
                </a:solidFill>
              </a:rPr>
              <a:t>e.department_id</a:t>
            </a:r>
            <a:r>
              <a:rPr lang="en-US" sz="1900" dirty="0">
                <a:solidFill>
                  <a:schemeClr val="tx2"/>
                </a:solidFill>
              </a:rPr>
              <a:t> = </a:t>
            </a:r>
            <a:r>
              <a:rPr lang="en-US" sz="1900" dirty="0" err="1">
                <a:solidFill>
                  <a:schemeClr val="tx2"/>
                </a:solidFill>
              </a:rPr>
              <a:t>d.department_id</a:t>
            </a:r>
            <a:r>
              <a:rPr lang="en-US" sz="1900" dirty="0">
                <a:solidFill>
                  <a:schemeClr val="tx2"/>
                </a:solidFill>
              </a:rPr>
              <a:t> WHERE </a:t>
            </a:r>
            <a:r>
              <a:rPr lang="en-US" sz="1900" dirty="0" err="1">
                <a:solidFill>
                  <a:schemeClr val="tx2"/>
                </a:solidFill>
              </a:rPr>
              <a:t>e.salary</a:t>
            </a:r>
            <a:r>
              <a:rPr lang="en-US" sz="1900" dirty="0">
                <a:solidFill>
                  <a:schemeClr val="tx2"/>
                </a:solidFill>
              </a:rPr>
              <a:t> &gt; </a:t>
            </a:r>
            <a:r>
              <a:rPr lang="en-US" sz="1900" dirty="0" err="1">
                <a:solidFill>
                  <a:schemeClr val="tx2"/>
                </a:solidFill>
              </a:rPr>
              <a:t>d.avg_salary</a:t>
            </a:r>
            <a:r>
              <a:rPr lang="en-US" sz="1900" dirty="0">
                <a:solidFill>
                  <a:schemeClr val="tx2"/>
                </a:solidFill>
              </a:rPr>
              <a:t>;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b="1" dirty="0">
                <a:solidFill>
                  <a:schemeClr val="tx2"/>
                </a:solidFill>
              </a:rPr>
              <a:t>Multiple CTEs: </a:t>
            </a:r>
            <a:r>
              <a:rPr lang="en-US" sz="1900" dirty="0">
                <a:solidFill>
                  <a:schemeClr val="tx2"/>
                </a:solidFill>
              </a:rPr>
              <a:t>We can define multiple temporary result sets.</a:t>
            </a:r>
            <a:br>
              <a:rPr lang="en-US" sz="1900" dirty="0">
                <a:solidFill>
                  <a:schemeClr val="tx2"/>
                </a:solidFill>
              </a:rPr>
            </a:br>
            <a:r>
              <a:rPr lang="en-US" sz="1900" dirty="0">
                <a:solidFill>
                  <a:schemeClr val="tx2"/>
                </a:solidFill>
              </a:rPr>
              <a:t>WITH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 AS (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solidFill>
                  <a:schemeClr val="tx2"/>
                </a:solidFill>
              </a:rPr>
              <a:t>    SELECT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, AVG(salary) </a:t>
            </a:r>
            <a:r>
              <a:rPr lang="en-US" sz="1900" dirty="0" err="1">
                <a:solidFill>
                  <a:schemeClr val="tx2"/>
                </a:solidFill>
              </a:rPr>
              <a:t>avg_salary</a:t>
            </a:r>
            <a:r>
              <a:rPr lang="en-US" sz="1900" dirty="0">
                <a:solidFill>
                  <a:schemeClr val="tx2"/>
                </a:solidFill>
              </a:rPr>
              <a:t> FROM employees GROUP BY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),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 err="1">
                <a:solidFill>
                  <a:schemeClr val="tx2"/>
                </a:solidFill>
              </a:rPr>
              <a:t>dept_max</a:t>
            </a:r>
            <a:r>
              <a:rPr lang="en-US" sz="1900" dirty="0">
                <a:solidFill>
                  <a:schemeClr val="tx2"/>
                </a:solidFill>
              </a:rPr>
              <a:t> AS (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solidFill>
                  <a:schemeClr val="tx2"/>
                </a:solidFill>
              </a:rPr>
              <a:t>    SELECT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, MAX(salary) </a:t>
            </a:r>
            <a:r>
              <a:rPr lang="en-US" sz="1900" dirty="0" err="1">
                <a:solidFill>
                  <a:schemeClr val="tx2"/>
                </a:solidFill>
              </a:rPr>
              <a:t>max_salary</a:t>
            </a:r>
            <a:r>
              <a:rPr lang="en-US" sz="1900" dirty="0">
                <a:solidFill>
                  <a:schemeClr val="tx2"/>
                </a:solidFill>
              </a:rPr>
              <a:t> FROM employees GROUP BY </a:t>
            </a:r>
            <a:r>
              <a:rPr lang="en-US" sz="1900" dirty="0" err="1">
                <a:solidFill>
                  <a:schemeClr val="tx2"/>
                </a:solidFill>
              </a:rPr>
              <a:t>department_id</a:t>
            </a:r>
            <a:r>
              <a:rPr lang="en-US" sz="1900" dirty="0">
                <a:solidFill>
                  <a:schemeClr val="tx2"/>
                </a:solidFill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solidFill>
                  <a:schemeClr val="tx2"/>
                </a:solidFill>
              </a:rPr>
              <a:t>SELECT * FROM </a:t>
            </a:r>
            <a:r>
              <a:rPr lang="en-US" sz="1900" dirty="0" err="1">
                <a:solidFill>
                  <a:schemeClr val="tx2"/>
                </a:solidFill>
              </a:rPr>
              <a:t>dept_avg</a:t>
            </a:r>
            <a:r>
              <a:rPr lang="en-US" sz="1900" dirty="0">
                <a:solidFill>
                  <a:schemeClr val="tx2"/>
                </a:solidFill>
              </a:rPr>
              <a:t> a JOIN </a:t>
            </a:r>
            <a:r>
              <a:rPr lang="en-US" sz="1900" dirty="0" err="1">
                <a:solidFill>
                  <a:schemeClr val="tx2"/>
                </a:solidFill>
              </a:rPr>
              <a:t>dept_max</a:t>
            </a:r>
            <a:r>
              <a:rPr lang="en-US" sz="1900" dirty="0">
                <a:solidFill>
                  <a:schemeClr val="tx2"/>
                </a:solidFill>
              </a:rPr>
              <a:t> m ON </a:t>
            </a:r>
            <a:r>
              <a:rPr lang="en-US" sz="1900" dirty="0" err="1">
                <a:solidFill>
                  <a:schemeClr val="tx2"/>
                </a:solidFill>
              </a:rPr>
              <a:t>a.department_id</a:t>
            </a:r>
            <a:r>
              <a:rPr lang="en-US" sz="1900" dirty="0">
                <a:solidFill>
                  <a:schemeClr val="tx2"/>
                </a:solidFill>
              </a:rPr>
              <a:t> = </a:t>
            </a:r>
            <a:r>
              <a:rPr lang="en-US" sz="1900" dirty="0" err="1">
                <a:solidFill>
                  <a:schemeClr val="tx2"/>
                </a:solidFill>
              </a:rPr>
              <a:t>m.department_id</a:t>
            </a:r>
            <a:r>
              <a:rPr lang="en-US" sz="1900" dirty="0">
                <a:solidFill>
                  <a:schemeClr val="tx2"/>
                </a:solidFill>
              </a:rPr>
              <a:t>;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AC9E1-1621-8242-2E8F-526C5642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CDCD9-E5C2-18E2-46C8-4D4027EA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832977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CTE vs Subquery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5CB213E-4CDC-D9D1-24B6-29467FC3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b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7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B15EEF-77A5-EC77-FCD0-57A017B15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280895"/>
              </p:ext>
            </p:extLst>
          </p:nvPr>
        </p:nvGraphicFramePr>
        <p:xfrm>
          <a:off x="739864" y="1966293"/>
          <a:ext cx="7664271" cy="4452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24642">
                  <a:extLst>
                    <a:ext uri="{9D8B030D-6E8A-4147-A177-3AD203B41FA5}">
                      <a16:colId xmlns:a16="http://schemas.microsoft.com/office/drawing/2014/main" val="101598340"/>
                    </a:ext>
                  </a:extLst>
                </a:gridCol>
                <a:gridCol w="2443341">
                  <a:extLst>
                    <a:ext uri="{9D8B030D-6E8A-4147-A177-3AD203B41FA5}">
                      <a16:colId xmlns:a16="http://schemas.microsoft.com/office/drawing/2014/main" val="525804749"/>
                    </a:ext>
                  </a:extLst>
                </a:gridCol>
                <a:gridCol w="1996288">
                  <a:extLst>
                    <a:ext uri="{9D8B030D-6E8A-4147-A177-3AD203B41FA5}">
                      <a16:colId xmlns:a16="http://schemas.microsoft.com/office/drawing/2014/main" val="802105083"/>
                    </a:ext>
                  </a:extLst>
                </a:gridCol>
              </a:tblGrid>
              <a:tr h="890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>
                          <a:solidFill>
                            <a:schemeClr val="tx1"/>
                          </a:solidFill>
                        </a:rPr>
                        <a:t>Subquery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cap="none" spc="0" dirty="0">
                          <a:solidFill>
                            <a:schemeClr val="tx1"/>
                          </a:solidFill>
                        </a:rPr>
                        <a:t>CTE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16195"/>
                  </a:ext>
                </a:extLst>
              </a:tr>
              <a:tr h="890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Readability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Lower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Higher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92736"/>
                  </a:ext>
                </a:extLst>
              </a:tr>
              <a:tr h="890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Reusability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Difficult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Easy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438510"/>
                  </a:ext>
                </a:extLst>
              </a:tr>
              <a:tr h="890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Debugging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Harder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Easier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4344"/>
                  </a:ext>
                </a:extLst>
              </a:tr>
              <a:tr h="890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Complex SQL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>
                          <a:solidFill>
                            <a:schemeClr val="tx1"/>
                          </a:solidFill>
                        </a:rPr>
                        <a:t>Messy</a:t>
                      </a: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Cleane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441205" marT="72197" marB="2406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9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0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A354-DB11-61D1-CD6F-FC41DFCC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9319C-F3E3-E0ED-117E-14FC2308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248038"/>
            <a:ext cx="914400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dirty="0">
                <a:solidFill>
                  <a:schemeClr val="bg2"/>
                </a:solidFill>
              </a:rPr>
              <a:t>Difference between CTE and Temporary Table</a:t>
            </a:r>
            <a:endParaRPr lang="en-US" sz="3500" b="1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1FAD994-CBCC-EB29-3C6B-14BC89A82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b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47D056-35D7-0843-BA66-33CCF9A67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034016"/>
              </p:ext>
            </p:extLst>
          </p:nvPr>
        </p:nvGraphicFramePr>
        <p:xfrm>
          <a:off x="324168" y="2246648"/>
          <a:ext cx="8495663" cy="389145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97849">
                  <a:extLst>
                    <a:ext uri="{9D8B030D-6E8A-4147-A177-3AD203B41FA5}">
                      <a16:colId xmlns:a16="http://schemas.microsoft.com/office/drawing/2014/main" val="101598340"/>
                    </a:ext>
                  </a:extLst>
                </a:gridCol>
                <a:gridCol w="3158334">
                  <a:extLst>
                    <a:ext uri="{9D8B030D-6E8A-4147-A177-3AD203B41FA5}">
                      <a16:colId xmlns:a16="http://schemas.microsoft.com/office/drawing/2014/main" val="525804749"/>
                    </a:ext>
                  </a:extLst>
                </a:gridCol>
                <a:gridCol w="1239480">
                  <a:extLst>
                    <a:ext uri="{9D8B030D-6E8A-4147-A177-3AD203B41FA5}">
                      <a16:colId xmlns:a16="http://schemas.microsoft.com/office/drawing/2014/main" val="802105083"/>
                    </a:ext>
                  </a:extLst>
                </a:gridCol>
              </a:tblGrid>
              <a:tr h="704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CTE</a:t>
                      </a:r>
                    </a:p>
                  </a:txBody>
                  <a:tcPr marL="290503" marR="174302" marT="174302" marB="17430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Temporary Table</a:t>
                      </a: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016195"/>
                  </a:ext>
                </a:extLst>
              </a:tr>
              <a:tr h="704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Exists for query only</a:t>
                      </a:r>
                    </a:p>
                  </a:txBody>
                  <a:tcPr marL="290503" marR="174302" marT="174302" marB="17430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Exists for session</a:t>
                      </a: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92736"/>
                  </a:ext>
                </a:extLst>
              </a:tr>
              <a:tr h="704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storage</a:t>
                      </a:r>
                    </a:p>
                  </a:txBody>
                  <a:tcPr marL="290503" marR="174302" marT="174302" marB="17430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Physical storage</a:t>
                      </a: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38510"/>
                  </a:ext>
                </a:extLst>
              </a:tr>
              <a:tr h="1014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Faster for simple logic</a:t>
                      </a:r>
                    </a:p>
                  </a:txBody>
                  <a:tcPr marL="290503" marR="174302" marT="174302" marB="17430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Better for large reusable datasets</a:t>
                      </a: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4344"/>
                  </a:ext>
                </a:extLst>
              </a:tr>
              <a:tr h="76176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cap="non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0503" marR="174302" marT="174302" marB="17430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69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228600"/>
            <a:ext cx="5605629" cy="1016324"/>
          </a:xfrm>
        </p:spPr>
        <p:txBody>
          <a:bodyPr>
            <a:normAutofit/>
          </a:bodyPr>
          <a:lstStyle/>
          <a:p>
            <a:r>
              <a:rPr lang="en-US" sz="3850"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2486"/>
            <a:ext cx="6977743" cy="2362200"/>
          </a:xfrm>
        </p:spPr>
        <p:txBody>
          <a:bodyPr anchor="ctr"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100" b="1" dirty="0"/>
              <a:t>Understand JOIN and differences between JOIN types.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100" b="1" dirty="0"/>
              <a:t>Sub Queries and their Types.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100" b="1" dirty="0"/>
              <a:t>CTE improves structure and readability.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9" name="Graphic 38" descr="Magnifying glass">
            <a:extLst>
              <a:ext uri="{FF2B5EF4-FFF2-40B4-BE49-F238E27FC236}">
                <a16:creationId xmlns:a16="http://schemas.microsoft.com/office/drawing/2014/main" id="{5AFC662B-4A05-25CC-D118-620BCBCFC6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9D57-7E30-896B-421B-1DE14321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E8B38-9F28-0166-0875-28E1BF3AD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5" y="1536193"/>
            <a:ext cx="5937542" cy="447997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JOINS:</a:t>
            </a:r>
            <a:br>
              <a:rPr lang="en-US" sz="1300" b="1" dirty="0"/>
            </a:br>
            <a:r>
              <a:rPr lang="en-US" sz="1300" b="1" dirty="0"/>
              <a:t>1. Which JOIN returns only the matching records from both tables?</a:t>
            </a:r>
            <a:br>
              <a:rPr lang="en-US" sz="1300" dirty="0"/>
            </a:br>
            <a:r>
              <a:rPr lang="en-US" sz="1300" dirty="0"/>
              <a:t>A. LEFT JOIN</a:t>
            </a:r>
            <a:br>
              <a:rPr lang="en-US" sz="1300" dirty="0"/>
            </a:br>
            <a:r>
              <a:rPr lang="en-US" sz="1300" dirty="0"/>
              <a:t>B. RIGHT JOIN</a:t>
            </a:r>
            <a:br>
              <a:rPr lang="en-US" sz="1300" dirty="0"/>
            </a:br>
            <a:r>
              <a:rPr lang="en-US" sz="1300" dirty="0"/>
              <a:t>C. INNER JOIN</a:t>
            </a:r>
            <a:br>
              <a:rPr lang="en-US" sz="1300" dirty="0"/>
            </a:br>
            <a:r>
              <a:rPr lang="en-US" sz="1300" dirty="0"/>
              <a:t>D. FULL OUTER JOIN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2. What is returned by a LEFT JOIN?</a:t>
            </a:r>
            <a:br>
              <a:rPr lang="en-US" sz="1300" dirty="0"/>
            </a:br>
            <a:r>
              <a:rPr lang="en-US" sz="1300" dirty="0"/>
              <a:t>A. Only matching records</a:t>
            </a:r>
            <a:br>
              <a:rPr lang="en-US" sz="1300" dirty="0"/>
            </a:br>
            <a:r>
              <a:rPr lang="en-US" sz="1300" dirty="0"/>
              <a:t>B. All records from the left table and matching records from the right table.</a:t>
            </a:r>
            <a:br>
              <a:rPr lang="en-US" sz="1300" dirty="0"/>
            </a:br>
            <a:r>
              <a:rPr lang="en-US" sz="1300" dirty="0"/>
              <a:t>C. All records from the right table only</a:t>
            </a:r>
            <a:br>
              <a:rPr lang="en-US" sz="1300" dirty="0"/>
            </a:br>
            <a:r>
              <a:rPr lang="en-US" sz="1300" dirty="0"/>
              <a:t>D. Only unmatched records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 dirty="0"/>
            </a:br>
            <a:r>
              <a:rPr lang="en-US" sz="1300" b="1" dirty="0"/>
              <a:t>Sub Query:</a:t>
            </a:r>
            <a:br>
              <a:rPr lang="en-US" sz="1300" b="1" dirty="0"/>
            </a:br>
            <a:r>
              <a:rPr lang="en-US" sz="1300" b="1" dirty="0"/>
              <a:t>3. A subquery is:</a:t>
            </a:r>
            <a:br>
              <a:rPr lang="en-US" sz="1300" dirty="0"/>
            </a:br>
            <a:r>
              <a:rPr lang="en-US" sz="1300" dirty="0"/>
              <a:t>A. A temporary table</a:t>
            </a:r>
            <a:br>
              <a:rPr lang="en-US" sz="1300" dirty="0"/>
            </a:br>
            <a:r>
              <a:rPr lang="en-US" sz="1300" dirty="0"/>
              <a:t>B. A query written inside another SQL query</a:t>
            </a:r>
            <a:br>
              <a:rPr lang="en-US" sz="1300" dirty="0"/>
            </a:br>
            <a:r>
              <a:rPr lang="en-US" sz="1300" dirty="0"/>
              <a:t>C. A database view</a:t>
            </a:r>
            <a:br>
              <a:rPr lang="en-US" sz="1300" dirty="0"/>
            </a:br>
            <a:r>
              <a:rPr lang="en-US" sz="1300" dirty="0"/>
              <a:t>D. A query Join with another SQL query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 b="1" dirty="0"/>
            </a:br>
            <a:r>
              <a:rPr lang="en-US" sz="1300" b="1" dirty="0"/>
              <a:t>4. Which operator is commonly used with a single-row subquery?</a:t>
            </a:r>
            <a:br>
              <a:rPr lang="en-US" sz="1300" dirty="0"/>
            </a:br>
            <a:r>
              <a:rPr lang="en-US" sz="1300" dirty="0"/>
              <a:t>A. IN</a:t>
            </a:r>
            <a:br>
              <a:rPr lang="en-US" sz="1300" dirty="0"/>
            </a:br>
            <a:r>
              <a:rPr lang="en-US" sz="1300" dirty="0"/>
              <a:t>B. EXISTS</a:t>
            </a:r>
            <a:br>
              <a:rPr lang="en-US" sz="1300" dirty="0"/>
            </a:br>
            <a:r>
              <a:rPr lang="en-US" sz="1300" dirty="0"/>
              <a:t>C. =</a:t>
            </a:r>
            <a:br>
              <a:rPr lang="en-US" sz="1300" dirty="0"/>
            </a:br>
            <a:r>
              <a:rPr lang="en-US" sz="1300" dirty="0"/>
              <a:t>D. ANY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 b="1" dirty="0"/>
            </a:br>
            <a:r>
              <a:rPr lang="en-US" sz="1300" b="1" dirty="0"/>
              <a:t>5. What is unique about a correlated subquery?</a:t>
            </a:r>
            <a:br>
              <a:rPr lang="en-US" sz="1300" dirty="0"/>
            </a:br>
            <a:r>
              <a:rPr lang="en-US" sz="1300" dirty="0"/>
              <a:t>A. It executes only once.</a:t>
            </a:r>
            <a:br>
              <a:rPr lang="en-US" sz="1300" dirty="0"/>
            </a:br>
            <a:r>
              <a:rPr lang="en-US" sz="1300" dirty="0"/>
              <a:t>B. It references columns from the outer query and executes for each row.</a:t>
            </a:r>
            <a:br>
              <a:rPr lang="en-US" sz="1300" dirty="0"/>
            </a:br>
            <a:r>
              <a:rPr lang="en-US" sz="1300" dirty="0"/>
              <a:t>C. It cannot use WHERE clause.</a:t>
            </a:r>
            <a:br>
              <a:rPr lang="en-US" sz="1300" dirty="0"/>
            </a:br>
            <a:r>
              <a:rPr lang="en-US" sz="1300" dirty="0"/>
              <a:t>D. It always returns one row.</a:t>
            </a:r>
            <a:br>
              <a:rPr lang="en-US" sz="1000" dirty="0"/>
            </a:br>
            <a:endParaRPr lang="en-US" sz="1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AAF79D4A-6C9B-2DCF-82B1-84BCBAA4AF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00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E81EC-2D4C-C42C-A922-BEA742ED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QUIZ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1B06-4521-7FC1-38FF-4E99EA79F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563624"/>
            <a:ext cx="8421624" cy="418817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Common Table Expression (CTE)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6. Which of the following is NOT a benefit of using a CTE?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A. Improves query readability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B. Breaks complex queries into logical parts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C. Can be referenced multiple times in the same query.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 Permanently stores data in the database.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7. Which option is generally best for improving the readability of a complex SQL query with multiple transformations?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A. Nested Subqueries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B. Multiple Temporary Tables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C. Common Table Expression (CTE)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 CROSS JOIN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8. Which keyword is used to define a CTE?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A. TEMP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B. VIEW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C. WITH</a:t>
            </a:r>
            <a:b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 CREATE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43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8A436-B63E-A143-4CA0-71DC5C91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91440"/>
            <a:ext cx="3992787" cy="521208"/>
          </a:xfrm>
        </p:spPr>
        <p:txBody>
          <a:bodyPr anchor="b">
            <a:normAutofit fontScale="90000"/>
          </a:bodyPr>
          <a:lstStyle/>
          <a:p>
            <a:r>
              <a:rPr lang="en-US" sz="3500" b="1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AA7F9-53D4-614A-DDA0-8A73D7974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658368"/>
            <a:ext cx="4668012" cy="566928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Assignment 1: </a:t>
            </a:r>
            <a:r>
              <a:rPr lang="en-US" sz="1600" b="1" dirty="0"/>
              <a:t>Customers with Above Average Sales. </a:t>
            </a:r>
            <a:br>
              <a:rPr lang="en-US" sz="1700" dirty="0"/>
            </a:br>
            <a:r>
              <a:rPr lang="en-US" sz="1700" b="1" dirty="0"/>
              <a:t>Details: </a:t>
            </a:r>
            <a:r>
              <a:rPr lang="en-US" sz="1700" dirty="0"/>
              <a:t>Find customers whose total sales amount is greater than the average sales amount of all customers.  </a:t>
            </a:r>
            <a:r>
              <a:rPr lang="en-US" sz="1700" b="1" dirty="0"/>
              <a:t>Expected Output: </a:t>
            </a:r>
            <a:endParaRPr lang="en-US" sz="1700" dirty="0"/>
          </a:p>
          <a:p>
            <a:pPr marL="0" indent="0">
              <a:buNone/>
            </a:pPr>
            <a:r>
              <a:rPr lang="en-US" sz="1800" b="1" dirty="0"/>
              <a:t>Assignment 2: </a:t>
            </a:r>
            <a:r>
              <a:rPr lang="en-US" sz="1600" b="1" dirty="0"/>
              <a:t>Top-Selling Product</a:t>
            </a:r>
            <a:br>
              <a:rPr lang="en-US" sz="1800" b="1" dirty="0"/>
            </a:br>
            <a:r>
              <a:rPr lang="en-US" sz="1800" b="1" dirty="0"/>
              <a:t>Detail: </a:t>
            </a:r>
            <a:r>
              <a:rPr lang="en-US" sz="1800" dirty="0"/>
              <a:t>Find the product with the highest total sales amount.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Assignment 3: </a:t>
            </a:r>
            <a:r>
              <a:rPr lang="en-US" sz="1500" b="1" dirty="0"/>
              <a:t>Country-wise Sales Summary Using CTE</a:t>
            </a:r>
            <a:br>
              <a:rPr lang="en-US" sz="1600" b="1" dirty="0"/>
            </a:br>
            <a:r>
              <a:rPr lang="en-US" sz="1600" b="1" dirty="0"/>
              <a:t>Detail: </a:t>
            </a:r>
            <a:r>
              <a:rPr lang="en-US" sz="1600" dirty="0"/>
              <a:t>Display total sales for each country.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Hint: </a:t>
            </a:r>
            <a:r>
              <a:rPr lang="en-US" sz="1600" dirty="0"/>
              <a:t>Create a CTE to join customer and sales data, then aggregate by country.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Assignment 4: </a:t>
            </a:r>
            <a:r>
              <a:rPr lang="en-US" sz="1500" b="1" dirty="0"/>
              <a:t>Customers Who Bought More Than 5 Products</a:t>
            </a:r>
            <a:br>
              <a:rPr lang="en-US" sz="1500" b="1" dirty="0"/>
            </a:br>
            <a:r>
              <a:rPr lang="en-US" sz="1500" b="1" dirty="0"/>
              <a:t>Detail: </a:t>
            </a:r>
            <a:r>
              <a:rPr lang="en-US" sz="1600" dirty="0"/>
              <a:t>Find customers who purchased more than 5 products (transactions).</a:t>
            </a:r>
            <a:br>
              <a:rPr lang="en-US" sz="1600" dirty="0"/>
            </a:br>
            <a:endParaRPr lang="en-US" sz="15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C28132-9378-723C-CD7A-453C89D0A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343531"/>
              </p:ext>
            </p:extLst>
          </p:nvPr>
        </p:nvGraphicFramePr>
        <p:xfrm>
          <a:off x="3051502" y="1435608"/>
          <a:ext cx="3040997" cy="3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6530">
                  <a:extLst>
                    <a:ext uri="{9D8B030D-6E8A-4147-A177-3AD203B41FA5}">
                      <a16:colId xmlns:a16="http://schemas.microsoft.com/office/drawing/2014/main" val="202291224"/>
                    </a:ext>
                  </a:extLst>
                </a:gridCol>
                <a:gridCol w="1264467">
                  <a:extLst>
                    <a:ext uri="{9D8B030D-6E8A-4147-A177-3AD203B41FA5}">
                      <a16:colId xmlns:a16="http://schemas.microsoft.com/office/drawing/2014/main" val="9587543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Customer Name</a:t>
                      </a:r>
                    </a:p>
                  </a:txBody>
                  <a:tcPr marL="130480" marR="130480" marT="65240" marB="65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Total Sales</a:t>
                      </a:r>
                    </a:p>
                  </a:txBody>
                  <a:tcPr marL="130480" marR="130480" marT="65240" marB="65240" anchor="ctr"/>
                </a:tc>
                <a:extLst>
                  <a:ext uri="{0D108BD9-81ED-4DB2-BD59-A6C34878D82A}">
                    <a16:rowId xmlns:a16="http://schemas.microsoft.com/office/drawing/2014/main" val="4562128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1840D9-1673-1116-01D9-68D4B17B1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22006"/>
              </p:ext>
            </p:extLst>
          </p:nvPr>
        </p:nvGraphicFramePr>
        <p:xfrm>
          <a:off x="3465576" y="2601517"/>
          <a:ext cx="2779776" cy="365760"/>
        </p:xfrm>
        <a:graphic>
          <a:graphicData uri="http://schemas.openxmlformats.org/drawingml/2006/table">
            <a:tbl>
              <a:tblPr/>
              <a:tblGrid>
                <a:gridCol w="1517904">
                  <a:extLst>
                    <a:ext uri="{9D8B030D-6E8A-4147-A177-3AD203B41FA5}">
                      <a16:colId xmlns:a16="http://schemas.microsoft.com/office/drawing/2014/main" val="237759747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598367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61515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5F0D1E-3651-A5BE-8142-0CA879CFF630}"/>
              </a:ext>
            </a:extLst>
          </p:cNvPr>
          <p:cNvSpPr txBox="1"/>
          <p:nvPr/>
        </p:nvSpPr>
        <p:spPr>
          <a:xfrm>
            <a:off x="1655064" y="2602676"/>
            <a:ext cx="1993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Expected Output 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BC56B0-B290-11A6-5D67-EB9F3663C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62209"/>
              </p:ext>
            </p:extLst>
          </p:nvPr>
        </p:nvGraphicFramePr>
        <p:xfrm>
          <a:off x="3325368" y="3576877"/>
          <a:ext cx="2779776" cy="365760"/>
        </p:xfrm>
        <a:graphic>
          <a:graphicData uri="http://schemas.openxmlformats.org/drawingml/2006/table">
            <a:tbl>
              <a:tblPr/>
              <a:tblGrid>
                <a:gridCol w="1517904">
                  <a:extLst>
                    <a:ext uri="{9D8B030D-6E8A-4147-A177-3AD203B41FA5}">
                      <a16:colId xmlns:a16="http://schemas.microsoft.com/office/drawing/2014/main" val="237759747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598367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CountryName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61515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188ECB1-1D2D-DD6F-742A-FDF0AC38B587}"/>
              </a:ext>
            </a:extLst>
          </p:cNvPr>
          <p:cNvSpPr txBox="1"/>
          <p:nvPr/>
        </p:nvSpPr>
        <p:spPr>
          <a:xfrm>
            <a:off x="1514856" y="3605468"/>
            <a:ext cx="19933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/>
              <a:t>Expected Output :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16E650F-C524-0B29-EAB1-2BC576CB1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380478"/>
              </p:ext>
            </p:extLst>
          </p:nvPr>
        </p:nvGraphicFramePr>
        <p:xfrm>
          <a:off x="2029966" y="5914377"/>
          <a:ext cx="4361689" cy="413270"/>
        </p:xfrm>
        <a:graphic>
          <a:graphicData uri="http://schemas.openxmlformats.org/drawingml/2006/table">
            <a:tbl>
              <a:tblPr/>
              <a:tblGrid>
                <a:gridCol w="1785688">
                  <a:extLst>
                    <a:ext uri="{9D8B030D-6E8A-4147-A177-3AD203B41FA5}">
                      <a16:colId xmlns:a16="http://schemas.microsoft.com/office/drawing/2014/main" val="2377597475"/>
                    </a:ext>
                  </a:extLst>
                </a:gridCol>
                <a:gridCol w="2576001">
                  <a:extLst>
                    <a:ext uri="{9D8B030D-6E8A-4147-A177-3AD203B41FA5}">
                      <a16:colId xmlns:a16="http://schemas.microsoft.com/office/drawing/2014/main" val="2598367323"/>
                    </a:ext>
                  </a:extLst>
                </a:gridCol>
              </a:tblGrid>
              <a:tr h="413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Number Of Purchase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61515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27D8543-1A54-50FE-87FD-BB93066908C3}"/>
              </a:ext>
            </a:extLst>
          </p:cNvPr>
          <p:cNvSpPr txBox="1"/>
          <p:nvPr/>
        </p:nvSpPr>
        <p:spPr>
          <a:xfrm>
            <a:off x="342900" y="5934140"/>
            <a:ext cx="18973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1" dirty="0"/>
              <a:t>Expected Output :</a:t>
            </a:r>
          </a:p>
        </p:txBody>
      </p:sp>
    </p:spTree>
    <p:extLst>
      <p:ext uri="{BB962C8B-B14F-4D97-AF65-F5344CB8AC3E}">
        <p14:creationId xmlns:p14="http://schemas.microsoft.com/office/powerpoint/2010/main" val="789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5796A-DC77-8434-8936-A82FC9AD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/>
              <a:t>Next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6BEE9-7DD9-21CB-D64A-EE4F4D83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" y="2743200"/>
            <a:ext cx="4740406" cy="2928257"/>
          </a:xfrm>
        </p:spPr>
        <p:txBody>
          <a:bodyPr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Database Stored Procedure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b="1" dirty="0"/>
              <a:t>Merge Statement with example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0E763DF8-07AF-0B0C-F97F-BD699C94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46" r="1986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4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3F4B-AD2B-960F-96C0-FB5D66250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97407"/>
          </a:xfrm>
        </p:spPr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7CD67-A7D7-B5E8-89A4-CCB3C354C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0169"/>
            <a:ext cx="6400800" cy="1709927"/>
          </a:xfrm>
        </p:spPr>
        <p:txBody>
          <a:bodyPr/>
          <a:lstStyle/>
          <a:p>
            <a:r>
              <a:rPr lang="en-US" b="1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30948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16886A-42D9-4A73-8416-A54E6919744C}">
  <we:reference id="WA200005669" version="2.0.0.0" store="Ome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7862</TotalTime>
  <Words>1598</Words>
  <Application>Microsoft Office PowerPoint</Application>
  <PresentationFormat>On-screen Show (4:3)</PresentationFormat>
  <Paragraphs>168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Wingdings</vt:lpstr>
      <vt:lpstr>Office Theme</vt:lpstr>
      <vt:lpstr>Session 3: Advanced SQL Concepts</vt:lpstr>
      <vt:lpstr>Recap – Session 2</vt:lpstr>
      <vt:lpstr>PowerPoint Presentation</vt:lpstr>
      <vt:lpstr>PowerPoint Presentation</vt:lpstr>
      <vt:lpstr>What is a JOIN? A JOIN is used to combine data from two or more tables based on a related column between them. </vt:lpstr>
      <vt:lpstr>Types of JOINs</vt:lpstr>
      <vt:lpstr>INNER JOIN vs LEFT JOIN</vt:lpstr>
      <vt:lpstr>EMP Table </vt:lpstr>
      <vt:lpstr>DEPT Table </vt:lpstr>
      <vt:lpstr>Join Comparison Slide </vt:lpstr>
      <vt:lpstr>Subquery</vt:lpstr>
      <vt:lpstr>Type of Subquery</vt:lpstr>
      <vt:lpstr>Type of Subquery</vt:lpstr>
      <vt:lpstr>Common Table Expression (CTE)</vt:lpstr>
      <vt:lpstr>CTE Syntax and Example</vt:lpstr>
      <vt:lpstr>CTE vs Subquery</vt:lpstr>
      <vt:lpstr>Difference between CTE and Temporary Table</vt:lpstr>
      <vt:lpstr>Key Takeaways</vt:lpstr>
      <vt:lpstr>QUIZ</vt:lpstr>
      <vt:lpstr>QUIZ</vt:lpstr>
      <vt:lpstr>Assignment</vt:lpstr>
      <vt:lpstr>Next Session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Ahad</dc:creator>
  <cp:keywords/>
  <dc:description>generated using python-pptx</dc:description>
  <cp:lastModifiedBy>Abdul Ahad</cp:lastModifiedBy>
  <cp:revision>60</cp:revision>
  <dcterms:created xsi:type="dcterms:W3CDTF">2013-01-27T09:14:16Z</dcterms:created>
  <dcterms:modified xsi:type="dcterms:W3CDTF">2026-07-25T09:39:06Z</dcterms:modified>
  <cp:category/>
</cp:coreProperties>
</file>