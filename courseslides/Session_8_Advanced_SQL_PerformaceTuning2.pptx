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2" r:id="rId4"/>
    <p:sldId id="294" r:id="rId5"/>
    <p:sldId id="273" r:id="rId6"/>
    <p:sldId id="276" r:id="rId7"/>
    <p:sldId id="297" r:id="rId8"/>
    <p:sldId id="296" r:id="rId9"/>
    <p:sldId id="298" r:id="rId10"/>
    <p:sldId id="299" r:id="rId11"/>
    <p:sldId id="30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74AB6-DA81-4A46-A64A-EE86C0B11AD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645E1-108A-409C-86E6-EBE2B8E90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00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645E1-108A-409C-86E6-EBE2B8E905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39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990601"/>
            <a:ext cx="8376556" cy="772885"/>
          </a:xfrm>
        </p:spPr>
        <p:txBody>
          <a:bodyPr anchor="t">
            <a:normAutofit/>
          </a:bodyPr>
          <a:lstStyle/>
          <a:p>
            <a:pPr algn="l"/>
            <a:r>
              <a:rPr lang="en-US" sz="3500" b="1" dirty="0"/>
              <a:t>Session 8: </a:t>
            </a:r>
            <a:r>
              <a:rPr lang="en-US" sz="3600" b="1" dirty="0"/>
              <a:t>Performance Tuning </a:t>
            </a:r>
            <a:endParaRPr lang="en-US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543" y="1763486"/>
            <a:ext cx="8294914" cy="3167743"/>
          </a:xfrm>
        </p:spPr>
        <p:txBody>
          <a:bodyPr>
            <a:normAutofit/>
          </a:bodyPr>
          <a:lstStyle/>
          <a:p>
            <a:pPr marL="285750" indent="0" defTabSz="914400">
              <a:lnSpc>
                <a:spcPct val="90000"/>
              </a:lnSpc>
              <a:buNone/>
            </a:pPr>
            <a:endParaRPr lang="en-US" sz="2400" b="1" dirty="0"/>
          </a:p>
          <a:p>
            <a:pPr marL="5143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Query Execution Order.</a:t>
            </a:r>
          </a:p>
          <a:p>
            <a:pPr marL="5143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Performance Tuning Best Practice .</a:t>
            </a:r>
          </a:p>
          <a:p>
            <a:pPr marL="5143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Real-word Example.</a:t>
            </a:r>
          </a:p>
          <a:p>
            <a:pPr marL="5143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Quiz.</a:t>
            </a:r>
          </a:p>
          <a:p>
            <a:pPr marL="5143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E0918-2DCB-CD3B-2134-6D9B400E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Session 7- Recap</a:t>
            </a:r>
            <a:endParaRPr lang="en-US" sz="35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D07E0-471F-08AE-2A07-E07E057C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807029"/>
            <a:ext cx="8799485" cy="4194526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What is performance tuning.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Detail about Indexing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Type of Index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Details about Execution Plan</a:t>
            </a:r>
          </a:p>
        </p:txBody>
      </p:sp>
    </p:spTree>
    <p:extLst>
      <p:ext uri="{BB962C8B-B14F-4D97-AF65-F5344CB8AC3E}">
        <p14:creationId xmlns:p14="http://schemas.microsoft.com/office/powerpoint/2010/main" val="187999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507757-86B3-20DE-BBDD-FBAA0298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" y="1243013"/>
            <a:ext cx="3371622" cy="4371974"/>
          </a:xfrm>
        </p:spPr>
        <p:txBody>
          <a:bodyPr>
            <a:normAutofit/>
          </a:bodyPr>
          <a:lstStyle/>
          <a:p>
            <a:r>
              <a:rPr lang="en-US" sz="3100" b="1" i="1" dirty="0">
                <a:solidFill>
                  <a:schemeClr val="tx2"/>
                </a:solidFill>
              </a:rPr>
              <a:t>Query Execution Order:</a:t>
            </a:r>
            <a:endParaRPr lang="en-US" sz="31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0A07B-F570-555E-A7DB-CE1526D58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857" y="804672"/>
            <a:ext cx="5231913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SELECT </a:t>
            </a:r>
            <a:r>
              <a:rPr lang="en-US" sz="1600" b="1" i="1" dirty="0" err="1">
                <a:solidFill>
                  <a:schemeClr val="tx2"/>
                </a:solidFill>
              </a:rPr>
              <a:t>c.country</a:t>
            </a:r>
            <a:r>
              <a:rPr lang="en-US" sz="1600" b="1" i="1" dirty="0">
                <a:solidFill>
                  <a:schemeClr val="tx2"/>
                </a:solidFill>
              </a:rPr>
              <a:t>, SUM(</a:t>
            </a:r>
            <a:r>
              <a:rPr lang="en-US" sz="1600" b="1" i="1" dirty="0" err="1">
                <a:solidFill>
                  <a:schemeClr val="tx2"/>
                </a:solidFill>
              </a:rPr>
              <a:t>s.amount</a:t>
            </a:r>
            <a:r>
              <a:rPr lang="en-US" sz="1600" b="1" i="1" dirty="0">
                <a:solidFill>
                  <a:schemeClr val="tx2"/>
                </a:solidFill>
              </a:rPr>
              <a:t>) AS </a:t>
            </a:r>
            <a:r>
              <a:rPr lang="en-US" sz="1600" b="1" i="1" dirty="0" err="1">
                <a:solidFill>
                  <a:schemeClr val="tx2"/>
                </a:solidFill>
              </a:rPr>
              <a:t>total_sales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FROM customers c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INNER JOIN </a:t>
            </a:r>
            <a:r>
              <a:rPr lang="en-US" sz="1600" b="1" i="1" dirty="0" err="1">
                <a:solidFill>
                  <a:schemeClr val="tx2"/>
                </a:solidFill>
              </a:rPr>
              <a:t>sales_transactions</a:t>
            </a:r>
            <a:r>
              <a:rPr lang="en-US" sz="1600" b="1" i="1" dirty="0">
                <a:solidFill>
                  <a:schemeClr val="tx2"/>
                </a:solidFill>
              </a:rPr>
              <a:t> s ON </a:t>
            </a:r>
            <a:r>
              <a:rPr lang="en-US" sz="1600" b="1" i="1" dirty="0" err="1">
                <a:solidFill>
                  <a:schemeClr val="tx2"/>
                </a:solidFill>
              </a:rPr>
              <a:t>c.customer_id</a:t>
            </a:r>
            <a:r>
              <a:rPr lang="en-US" sz="1600" b="1" i="1" dirty="0">
                <a:solidFill>
                  <a:schemeClr val="tx2"/>
                </a:solidFill>
              </a:rPr>
              <a:t> = </a:t>
            </a:r>
            <a:r>
              <a:rPr lang="en-US" sz="1600" b="1" i="1" dirty="0" err="1">
                <a:solidFill>
                  <a:schemeClr val="tx2"/>
                </a:solidFill>
              </a:rPr>
              <a:t>s.customer_id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WHERE </a:t>
            </a:r>
            <a:r>
              <a:rPr lang="en-US" sz="1600" b="1" i="1" dirty="0" err="1">
                <a:solidFill>
                  <a:schemeClr val="tx2"/>
                </a:solidFill>
              </a:rPr>
              <a:t>s.amount</a:t>
            </a:r>
            <a:r>
              <a:rPr lang="en-US" sz="1600" b="1" i="1" dirty="0">
                <a:solidFill>
                  <a:schemeClr val="tx2"/>
                </a:solidFill>
              </a:rPr>
              <a:t> &gt; 1000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GROUP BY </a:t>
            </a:r>
            <a:r>
              <a:rPr lang="en-US" sz="1600" b="1" i="1" dirty="0" err="1">
                <a:solidFill>
                  <a:schemeClr val="tx2"/>
                </a:solidFill>
              </a:rPr>
              <a:t>c.country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HAVING SUM(</a:t>
            </a:r>
            <a:r>
              <a:rPr lang="en-US" sz="1600" b="1" i="1" dirty="0" err="1">
                <a:solidFill>
                  <a:schemeClr val="tx2"/>
                </a:solidFill>
              </a:rPr>
              <a:t>s.amount</a:t>
            </a:r>
            <a:r>
              <a:rPr lang="en-US" sz="1600" b="1" i="1" dirty="0">
                <a:solidFill>
                  <a:schemeClr val="tx2"/>
                </a:solidFill>
              </a:rPr>
              <a:t>) &gt; 5000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ORDER BY </a:t>
            </a:r>
            <a:r>
              <a:rPr lang="en-US" sz="1600" b="1" i="1" dirty="0" err="1">
                <a:solidFill>
                  <a:schemeClr val="tx2"/>
                </a:solidFill>
              </a:rPr>
              <a:t>total_sales</a:t>
            </a:r>
            <a:r>
              <a:rPr lang="en-US" sz="1600" b="1" i="1" dirty="0">
                <a:solidFill>
                  <a:schemeClr val="tx2"/>
                </a:solidFill>
              </a:rPr>
              <a:t> DESC</a:t>
            </a:r>
            <a:br>
              <a:rPr lang="en-US" sz="1600" b="1" i="1" dirty="0">
                <a:solidFill>
                  <a:schemeClr val="tx2"/>
                </a:solidFill>
              </a:rPr>
            </a:br>
            <a:r>
              <a:rPr lang="en-US" sz="1600" b="1" i="1" dirty="0">
                <a:solidFill>
                  <a:schemeClr val="tx2"/>
                </a:solidFill>
              </a:rPr>
              <a:t>FETCH FIRST 5 ROWS ONLY;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72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371E5-D082-AA5E-4EAC-F74FB305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31" y="643467"/>
            <a:ext cx="702973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8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BC3EA-5B9C-041B-172F-5F2B6D94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548640"/>
            <a:ext cx="7437474" cy="11887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Performance Tuning Best Practices: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0BC9B-7904-F502-12AA-41F9E9FCF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8056"/>
            <a:ext cx="7630886" cy="552994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Best Practices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Avoid SELECT *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Use proper joins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Filter data early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Review execution plans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 Best Practices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Maintain statistics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Create appropriate indexes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Partition large tables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Archive historical data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ETL Best Practices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Use incremental loads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Implement parallel processing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✔ Monitor ETL execution time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37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7439A-4D63-212B-24E0-9FF74500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0196"/>
            <a:ext cx="4572000" cy="1624520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Real-World Example (Telecom Data Platform)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90DC-42F8-AF1B-07AF-74A0771D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0" y="1861458"/>
            <a:ext cx="4550700" cy="499654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Scenario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Telecom operator has: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5 Million Subscribers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Daily Usage:</a:t>
            </a:r>
            <a:br>
              <a:rPr lang="en-US" sz="1500" dirty="0"/>
            </a:br>
            <a:r>
              <a:rPr lang="en-US" sz="1500" dirty="0"/>
              <a:t>500 Million Records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Problem: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Monthly usage report takes: 1 Hours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Investigation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Found: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Full table scan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Missing index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No partitioning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Solution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Implemented: Index Created and table partitioned by monthly </a:t>
            </a:r>
            <a:br>
              <a:rPr lang="en-US" sz="1500" dirty="0"/>
            </a:b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Before 1 hours . Now: 5 minutes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</p:txBody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F655700C-339A-FB82-5973-2507E7DC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5" r="342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8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30F31-71A9-6C74-28BE-898147A2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277574"/>
          </a:xfrm>
        </p:spPr>
        <p:txBody>
          <a:bodyPr anchor="b">
            <a:normAutofit/>
          </a:bodyPr>
          <a:lstStyle/>
          <a:p>
            <a:pPr algn="r"/>
            <a:r>
              <a:rPr lang="en-US" sz="8000" b="1" dirty="0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9FB27-D86F-FB62-1552-3B7442A9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370" y="-10142"/>
            <a:ext cx="6113344" cy="687828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br>
              <a:rPr lang="en-US" sz="1400" b="1" dirty="0"/>
            </a:br>
            <a:r>
              <a:rPr lang="en-US" sz="1400" b="1" dirty="0"/>
              <a:t>SQL Query Execution Order Quiz</a:t>
            </a: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1. In the logical execution of a SQL query, which clause is processed first?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SELECT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WHERE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FROM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ORDER BY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2. Given FROM customers c JOIN </a:t>
            </a:r>
            <a:r>
              <a:rPr lang="en-US" sz="1500" dirty="0" err="1"/>
              <a:t>sales_transactions</a:t>
            </a:r>
            <a:r>
              <a:rPr lang="en-US" sz="1500" dirty="0"/>
              <a:t> s ON </a:t>
            </a:r>
            <a:r>
              <a:rPr lang="en-US" sz="1500" dirty="0" err="1"/>
              <a:t>c.customer_id</a:t>
            </a:r>
            <a:r>
              <a:rPr lang="en-US" sz="1500" dirty="0"/>
              <a:t> = </a:t>
            </a:r>
            <a:r>
              <a:rPr lang="en-US" sz="1500" dirty="0" err="1"/>
              <a:t>s.customer_id</a:t>
            </a:r>
            <a:r>
              <a:rPr lang="en-US" sz="1500" dirty="0"/>
              <a:t>, what is the purpose of the ON condition?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Define how rows from the tables are matched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Sort the joined rows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Choose the final output columns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Filter the final grouped result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3. Why is GROUP BY logically processed before HAVING?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HAVING creates the groups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HAVING sorts the groups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HAVING filters groups created by GROUP BY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HAVING selects individual rows before grouping</a:t>
            </a:r>
            <a:br>
              <a:rPr lang="en-US" sz="1500" dirty="0"/>
            </a:b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4. Consider GROUP BY </a:t>
            </a:r>
            <a:r>
              <a:rPr lang="en-US" sz="1500" dirty="0" err="1"/>
              <a:t>c.country</a:t>
            </a:r>
            <a:r>
              <a:rPr lang="en-US" sz="1500" dirty="0"/>
              <a:t> HAVING SUM(</a:t>
            </a:r>
            <a:r>
              <a:rPr lang="en-US" sz="1500" dirty="0" err="1"/>
              <a:t>s.amount</a:t>
            </a:r>
            <a:r>
              <a:rPr lang="en-US" sz="1500" dirty="0"/>
              <a:t>) &gt; 5000. What does HAVING evaluate?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The customer table before the join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Each country group based on its aggregate amount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Each transaction before grouping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The final rows after ORDER BY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01874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40355-64C5-9F45-E5BB-A0892D7E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8000" b="1" dirty="0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5072-096E-AC32-0A95-3C054FB56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0384" y="10139"/>
            <a:ext cx="6071330" cy="683772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5. Which clause is logically processed after HAVING in the simplified execution order discussed in the session?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WHERE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SELECT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FROM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JOIN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6. Why does ORDER BY logically occur before FETCH FIRST or LIMIT?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LIMIT creates the sort order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FETCH FIRST creates the SELECT list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ORDER BY filters groups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Rows must be sorted before selecting the requested top rows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7. What is the logical execution order of these clauses: WHERE, FROM, SELECT, ORDER BY?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FROM → WHERE → SELECT → ORDER BY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WHERE → FROM → ORDER BY → SELECT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SELECT → FROM → WHERE → ORDER BY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FROM → SELECT → WHERE → ORDER BY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8. Which condition is best placed in WHERE rather than HAVING when the condition is </a:t>
            </a:r>
            <a:r>
              <a:rPr lang="en-US" sz="1500" dirty="0" err="1"/>
              <a:t>s.amount</a:t>
            </a:r>
            <a:r>
              <a:rPr lang="en-US" sz="1500" dirty="0"/>
              <a:t> &gt; 1000 for individual transactions?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A. WHERE </a:t>
            </a:r>
            <a:r>
              <a:rPr lang="en-US" sz="1500" dirty="0" err="1"/>
              <a:t>s.amount</a:t>
            </a:r>
            <a:r>
              <a:rPr lang="en-US" sz="1500" dirty="0"/>
              <a:t> &gt; 1000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B. GROUP BY </a:t>
            </a:r>
            <a:r>
              <a:rPr lang="en-US" sz="1500" dirty="0" err="1"/>
              <a:t>s.amount</a:t>
            </a:r>
            <a:r>
              <a:rPr lang="en-US" sz="1500" dirty="0"/>
              <a:t> &gt; 1000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C. ORDER BY </a:t>
            </a:r>
            <a:r>
              <a:rPr lang="en-US" sz="1500" dirty="0" err="1"/>
              <a:t>s.amount</a:t>
            </a:r>
            <a:r>
              <a:rPr lang="en-US" sz="1500" dirty="0"/>
              <a:t> &gt; 1000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D. HAVING </a:t>
            </a:r>
            <a:r>
              <a:rPr lang="en-US" sz="1500" dirty="0" err="1"/>
              <a:t>s.amount</a:t>
            </a:r>
            <a:r>
              <a:rPr lang="en-US" sz="1500" dirty="0"/>
              <a:t> &gt; 1000</a:t>
            </a:r>
          </a:p>
          <a:p>
            <a:pPr>
              <a:lnSpc>
                <a:spcPct val="90000"/>
              </a:lnSpc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6983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E4880-D817-7FAD-CC0A-023E8AC0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b="1"/>
              <a:t>End-to-End Oracle Database &amp; ETL Project Assignment</a:t>
            </a:r>
            <a:endParaRPr lang="en-US" sz="42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53B2EB-196B-08A7-A69C-4F12766EC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/>
              <a:t>Project Overview</a:t>
            </a:r>
            <a:endParaRPr lang="en-US" sz="2100" dirty="0"/>
          </a:p>
          <a:p>
            <a:pPr lvl="0">
              <a:lnSpc>
                <a:spcPct val="90000"/>
              </a:lnSpc>
            </a:pPr>
            <a:r>
              <a:rPr lang="en-US" sz="2100" dirty="0"/>
              <a:t>Complete an end-to-end Oracle database and ETL project using a publicly available dataset.</a:t>
            </a:r>
          </a:p>
          <a:p>
            <a:pPr lvl="0">
              <a:lnSpc>
                <a:spcPct val="90000"/>
              </a:lnSpc>
            </a:pPr>
            <a:r>
              <a:rPr lang="en-US" sz="2100" dirty="0"/>
              <a:t>Apply concepts covered in the training sessions: database fundamentals, keys, joins, subqueries, CTEs, MERGE, procedures, packages, exception handling, analytical functions, transactions, and performance tuning.</a:t>
            </a:r>
          </a:p>
          <a:p>
            <a:pPr lvl="0">
              <a:lnSpc>
                <a:spcPct val="90000"/>
              </a:lnSpc>
            </a:pPr>
            <a:r>
              <a:rPr lang="en-US" sz="2100" dirty="0"/>
              <a:t>Build the solution as a realistic data integration/data warehouse project.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2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CEDA5-97B2-3120-701C-A4623E4F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5000" b="1" dirty="0"/>
              <a:t>Project Objective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38C38-17D8-2D46-FFB8-DEDCEFCC8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704013"/>
            <a:ext cx="7455989" cy="3958041"/>
          </a:xfrm>
        </p:spPr>
        <p:txBody>
          <a:bodyPr anchor="ctr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1700" dirty="0"/>
              <a:t>Select and analyze a dataset.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Load raw data into a staging layer.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Identify and handle data-quality issues.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Perform data cleansing and transformation.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Use SQL and PL/SQL to implement the ETL process.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Create Dimension and Fact tables where appropriate.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Implement stored procedures and an Oracle package.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Implement exception handling and error logging.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Use MERGE for appropriate target loading.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Use analytical functions for data processing or validation.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Apply performance-tuning techniques.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Validate and reconcile the final target data.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21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ABF61-ED03-F63E-43A3-419ED2A9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6795B-1F65-7A43-63E9-C5763AC69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5514052"/>
            <a:ext cx="6858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55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854</Words>
  <Application>Microsoft Office PowerPoint</Application>
  <PresentationFormat>On-screen Show (4:3)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Session 8: Performance Tuning </vt:lpstr>
      <vt:lpstr>Session 7- Recap</vt:lpstr>
      <vt:lpstr>Query Execution Order:</vt:lpstr>
      <vt:lpstr>PowerPoint Presentation</vt:lpstr>
      <vt:lpstr>Performance Tuning Best Practices:</vt:lpstr>
      <vt:lpstr>Real-World Example (Telecom Data Platform)</vt:lpstr>
      <vt:lpstr>Quiz</vt:lpstr>
      <vt:lpstr>Quiz</vt:lpstr>
      <vt:lpstr>End-to-End Oracle Database &amp; ETL Project Assignment</vt:lpstr>
      <vt:lpstr>Project Objective </vt:lpstr>
      <vt:lpstr>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Ahad</cp:lastModifiedBy>
  <cp:revision>67</cp:revision>
  <dcterms:created xsi:type="dcterms:W3CDTF">2013-01-27T09:14:16Z</dcterms:created>
  <dcterms:modified xsi:type="dcterms:W3CDTF">2026-09-03T10:23:46Z</dcterms:modified>
  <cp:category/>
</cp:coreProperties>
</file>